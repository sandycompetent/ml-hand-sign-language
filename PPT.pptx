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75" r:id="rId4"/>
    <p:sldId id="277" r:id="rId5"/>
    <p:sldId id="276" r:id="rId6"/>
    <p:sldId id="278" r:id="rId7"/>
    <p:sldId id="279" r:id="rId8"/>
    <p:sldId id="281" r:id="rId9"/>
    <p:sldId id="282" r:id="rId10"/>
    <p:sldId id="296" r:id="rId11"/>
    <p:sldId id="283" r:id="rId12"/>
    <p:sldId id="284" r:id="rId13"/>
    <p:sldId id="297" r:id="rId14"/>
    <p:sldId id="285" r:id="rId15"/>
    <p:sldId id="287" r:id="rId16"/>
    <p:sldId id="286" r:id="rId17"/>
    <p:sldId id="288" r:id="rId18"/>
    <p:sldId id="289" r:id="rId19"/>
    <p:sldId id="290" r:id="rId20"/>
    <p:sldId id="291" r:id="rId21"/>
    <p:sldId id="292" r:id="rId22"/>
    <p:sldId id="293" r:id="rId23"/>
    <p:sldId id="294" r:id="rId24"/>
    <p:sldId id="295"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6792FA-9638-4D61-B534-CBED8F422AF7}">
  <a:tblStyle styleId="{CF6792FA-9638-4D61-B534-CBED8F422AF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78"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8372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3031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6038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3351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4704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0588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2393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7523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029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7980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4835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478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197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4966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162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6778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0488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232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60189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8989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80737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4356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914400" y="1122363"/>
            <a:ext cx="103632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7"/>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drive.google.com/file/d/1_R082VMYsuyGt-lAJCjs_74atfZJ5Qp5/view"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0"/>
            <a:ext cx="12192000"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rot="2700000">
            <a:off x="82782" y="-1386168"/>
            <a:ext cx="2424873" cy="3611191"/>
          </a:xfrm>
          <a:custGeom>
            <a:avLst/>
            <a:gdLst/>
            <a:ahLst/>
            <a:cxnLst/>
            <a:rect l="l" t="t" r="r" b="b"/>
            <a:pathLst>
              <a:path w="2424873" h="3611191" extrusionOk="0">
                <a:moveTo>
                  <a:pt x="0" y="2424874"/>
                </a:moveTo>
                <a:lnTo>
                  <a:pt x="2424873" y="0"/>
                </a:lnTo>
                <a:lnTo>
                  <a:pt x="2424873" y="3611191"/>
                </a:lnTo>
                <a:lnTo>
                  <a:pt x="1186317" y="3611191"/>
                </a:lnTo>
                <a:close/>
              </a:path>
            </a:pathLst>
          </a:cu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3"/>
          <p:cNvSpPr/>
          <p:nvPr/>
        </p:nvSpPr>
        <p:spPr>
          <a:xfrm rot="2700000">
            <a:off x="1571000" y="-338582"/>
            <a:ext cx="1635955" cy="1635955"/>
          </a:xfrm>
          <a:custGeom>
            <a:avLst/>
            <a:gdLst/>
            <a:ahLst/>
            <a:cxnLst/>
            <a:rect l="l" t="t" r="r" b="b"/>
            <a:pathLst>
              <a:path w="1635955" h="1635955" extrusionOk="0">
                <a:moveTo>
                  <a:pt x="0" y="957987"/>
                </a:moveTo>
                <a:lnTo>
                  <a:pt x="957987" y="0"/>
                </a:lnTo>
                <a:lnTo>
                  <a:pt x="1635955" y="0"/>
                </a:lnTo>
                <a:lnTo>
                  <a:pt x="1635955" y="1635955"/>
                </a:lnTo>
                <a:lnTo>
                  <a:pt x="0" y="1635955"/>
                </a:lnTo>
                <a:close/>
              </a:path>
            </a:pathLst>
          </a:cu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7" name="Google Shape;87;p13"/>
          <p:cNvSpPr/>
          <p:nvPr/>
        </p:nvSpPr>
        <p:spPr>
          <a:xfrm rot="2700000">
            <a:off x="9627985" y="-6588"/>
            <a:ext cx="4059393" cy="2548110"/>
          </a:xfrm>
          <a:custGeom>
            <a:avLst/>
            <a:gdLst/>
            <a:ahLst/>
            <a:cxnLst/>
            <a:rect l="l" t="t" r="r" b="b"/>
            <a:pathLst>
              <a:path w="4059393" h="2548110" extrusionOk="0">
                <a:moveTo>
                  <a:pt x="0" y="1511282"/>
                </a:moveTo>
                <a:lnTo>
                  <a:pt x="1511282" y="0"/>
                </a:lnTo>
                <a:lnTo>
                  <a:pt x="4059393" y="2548110"/>
                </a:lnTo>
                <a:lnTo>
                  <a:pt x="0" y="2548110"/>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8" name="Google Shape;88;p13"/>
          <p:cNvSpPr/>
          <p:nvPr/>
        </p:nvSpPr>
        <p:spPr>
          <a:xfrm rot="2700000">
            <a:off x="10262924" y="1465780"/>
            <a:ext cx="1185708" cy="1185708"/>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3"/>
          <p:cNvSpPr/>
          <p:nvPr/>
        </p:nvSpPr>
        <p:spPr>
          <a:xfrm rot="2700000">
            <a:off x="-29557" y="5198743"/>
            <a:ext cx="2444907" cy="2366116"/>
          </a:xfrm>
          <a:custGeom>
            <a:avLst/>
            <a:gdLst/>
            <a:ahLst/>
            <a:cxnLst/>
            <a:rect l="l" t="t" r="r" b="b"/>
            <a:pathLst>
              <a:path w="2203753" h="2132734" extrusionOk="0">
                <a:moveTo>
                  <a:pt x="0" y="0"/>
                </a:moveTo>
                <a:lnTo>
                  <a:pt x="2203753" y="0"/>
                </a:lnTo>
                <a:lnTo>
                  <a:pt x="2203753" y="576461"/>
                </a:lnTo>
                <a:lnTo>
                  <a:pt x="647480" y="2132734"/>
                </a:lnTo>
                <a:lnTo>
                  <a:pt x="0" y="1485255"/>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3"/>
          <p:cNvSpPr/>
          <p:nvPr/>
        </p:nvSpPr>
        <p:spPr>
          <a:xfrm rot="2700000">
            <a:off x="1769787" y="5439893"/>
            <a:ext cx="928467" cy="928467"/>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1" name="Google Shape;91;p13"/>
          <p:cNvSpPr/>
          <p:nvPr/>
        </p:nvSpPr>
        <p:spPr>
          <a:xfrm rot="2700000">
            <a:off x="3401311" y="734311"/>
            <a:ext cx="5389379" cy="5389379"/>
          </a:xfrm>
          <a:custGeom>
            <a:avLst/>
            <a:gdLst/>
            <a:ahLst/>
            <a:cxnLst/>
            <a:rect l="l" t="t" r="r" b="b"/>
            <a:pathLst>
              <a:path w="5389379" h="5389379" extrusionOk="0">
                <a:moveTo>
                  <a:pt x="0" y="540040"/>
                </a:moveTo>
                <a:lnTo>
                  <a:pt x="540040" y="0"/>
                </a:lnTo>
                <a:lnTo>
                  <a:pt x="5389379" y="0"/>
                </a:lnTo>
                <a:lnTo>
                  <a:pt x="5389379" y="4838655"/>
                </a:lnTo>
                <a:lnTo>
                  <a:pt x="4838655" y="5389379"/>
                </a:lnTo>
                <a:lnTo>
                  <a:pt x="0" y="5389379"/>
                </a:ln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13"/>
          <p:cNvSpPr/>
          <p:nvPr/>
        </p:nvSpPr>
        <p:spPr>
          <a:xfrm rot="2700000">
            <a:off x="2700283" y="33283"/>
            <a:ext cx="6791435" cy="6791435"/>
          </a:xfrm>
          <a:custGeom>
            <a:avLst/>
            <a:gdLst/>
            <a:ahLst/>
            <a:cxnLst/>
            <a:rect l="l" t="t" r="r" b="b"/>
            <a:pathLst>
              <a:path w="6791435" h="6791435" extrusionOk="0">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txBox="1">
            <a:spLocks noGrp="1"/>
          </p:cNvSpPr>
          <p:nvPr>
            <p:ph type="ctrTitle"/>
          </p:nvPr>
        </p:nvSpPr>
        <p:spPr>
          <a:xfrm>
            <a:off x="2141348" y="297348"/>
            <a:ext cx="9791483" cy="144091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80808"/>
              </a:buClr>
              <a:buSzPts val="3500"/>
              <a:buFont typeface="Calibri"/>
              <a:buNone/>
            </a:pPr>
            <a:r>
              <a:rPr lang="en-US" sz="3500" b="1" dirty="0">
                <a:solidFill>
                  <a:srgbClr val="080808"/>
                </a:solidFill>
              </a:rPr>
              <a:t>G. H. </a:t>
            </a:r>
            <a:r>
              <a:rPr lang="en-US" sz="3500" b="1" dirty="0" err="1">
                <a:solidFill>
                  <a:srgbClr val="080808"/>
                </a:solidFill>
              </a:rPr>
              <a:t>Raisoni</a:t>
            </a:r>
            <a:r>
              <a:rPr lang="en-US" sz="3500" b="1" dirty="0">
                <a:solidFill>
                  <a:srgbClr val="080808"/>
                </a:solidFill>
              </a:rPr>
              <a:t> Institute of Engineering and Technology, Wagholi, Pune</a:t>
            </a:r>
            <a:br>
              <a:rPr lang="en-US" sz="3500" b="1" dirty="0"/>
            </a:br>
            <a:r>
              <a:rPr lang="en-US" sz="3500" b="1" dirty="0">
                <a:solidFill>
                  <a:srgbClr val="080808"/>
                </a:solidFill>
              </a:rPr>
              <a:t>Department of Computer</a:t>
            </a:r>
            <a:endParaRPr sz="3600" dirty="0">
              <a:solidFill>
                <a:srgbClr val="080808"/>
              </a:solidFill>
            </a:endParaRPr>
          </a:p>
        </p:txBody>
      </p:sp>
      <p:sp>
        <p:nvSpPr>
          <p:cNvPr id="94" name="Google Shape;94;p13"/>
          <p:cNvSpPr/>
          <p:nvPr/>
        </p:nvSpPr>
        <p:spPr>
          <a:xfrm rot="2700000">
            <a:off x="9629823" y="5457591"/>
            <a:ext cx="2231794" cy="2568811"/>
          </a:xfrm>
          <a:custGeom>
            <a:avLst/>
            <a:gdLst/>
            <a:ahLst/>
            <a:cxnLst/>
            <a:rect l="l" t="t" r="r" b="b"/>
            <a:pathLst>
              <a:path w="2940086" h="3384061" extrusionOk="0">
                <a:moveTo>
                  <a:pt x="0" y="0"/>
                </a:moveTo>
                <a:lnTo>
                  <a:pt x="2496112" y="0"/>
                </a:lnTo>
                <a:lnTo>
                  <a:pt x="2940086" y="443975"/>
                </a:lnTo>
                <a:lnTo>
                  <a:pt x="0" y="3384061"/>
                </a:lnTo>
                <a:close/>
              </a:path>
            </a:pathLst>
          </a:cu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3"/>
          <p:cNvSpPr/>
          <p:nvPr/>
        </p:nvSpPr>
        <p:spPr>
          <a:xfrm rot="2700000">
            <a:off x="9720059" y="5243545"/>
            <a:ext cx="959985" cy="959985"/>
          </a:xfrm>
          <a:prstGeom prst="rect">
            <a:avLst/>
          </a:prstGeom>
          <a:solidFill>
            <a:schemeClr val="accent4">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3"/>
          <p:cNvSpPr txBox="1"/>
          <p:nvPr/>
        </p:nvSpPr>
        <p:spPr>
          <a:xfrm>
            <a:off x="259168" y="2243451"/>
            <a:ext cx="11673663" cy="4433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dirty="0">
                <a:solidFill>
                  <a:schemeClr val="dk1"/>
                </a:solidFill>
                <a:latin typeface="Times New Roman"/>
                <a:ea typeface="Times New Roman"/>
                <a:cs typeface="Times New Roman"/>
                <a:sym typeface="Times New Roman"/>
              </a:rPr>
              <a:t>PROJECT NAME</a:t>
            </a:r>
            <a:endParaRPr dirty="0"/>
          </a:p>
          <a:p>
            <a:pPr marL="0" marR="0" lvl="0" indent="0" algn="ctr" rtl="0">
              <a:spcBef>
                <a:spcPts val="0"/>
              </a:spcBef>
              <a:spcAft>
                <a:spcPts val="0"/>
              </a:spcAft>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Real-time Sign Language To English Language Conversion Using CNN For Disabled People</a:t>
            </a:r>
          </a:p>
          <a:p>
            <a:pPr marL="0" marR="0" lvl="0" indent="0" algn="ctr" rtl="0">
              <a:spcBef>
                <a:spcPts val="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0" i="0" u="none" strike="noStrike" cap="none" dirty="0">
                <a:solidFill>
                  <a:schemeClr val="dk1"/>
                </a:solidFill>
                <a:latin typeface="Times New Roman"/>
                <a:ea typeface="Times New Roman"/>
                <a:cs typeface="Times New Roman"/>
                <a:sym typeface="Times New Roman"/>
              </a:rPr>
              <a:t>GROUP MEMBERS</a:t>
            </a:r>
            <a:endParaRPr dirty="0"/>
          </a:p>
          <a:p>
            <a:pPr marL="0" marR="0" lvl="0" indent="0" algn="ctr" rtl="0">
              <a:spcBef>
                <a:spcPts val="0"/>
              </a:spcBef>
              <a:spcAft>
                <a:spcPts val="0"/>
              </a:spcAft>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000" b="1" i="0" u="none" strike="noStrike" cap="none" dirty="0" err="1">
                <a:solidFill>
                  <a:schemeClr val="dk1"/>
                </a:solidFill>
                <a:latin typeface="Times New Roman"/>
                <a:ea typeface="Times New Roman"/>
                <a:cs typeface="Times New Roman"/>
                <a:sym typeface="Times New Roman"/>
              </a:rPr>
              <a:t>Vaibhavi</a:t>
            </a:r>
            <a:r>
              <a:rPr lang="en-US" sz="2000" b="1" i="0" u="none" strike="noStrike" cap="none" dirty="0">
                <a:solidFill>
                  <a:schemeClr val="dk1"/>
                </a:solidFill>
                <a:latin typeface="Times New Roman"/>
                <a:ea typeface="Times New Roman"/>
                <a:cs typeface="Times New Roman"/>
                <a:sym typeface="Times New Roman"/>
              </a:rPr>
              <a:t> </a:t>
            </a:r>
            <a:r>
              <a:rPr lang="en-US" sz="2000" b="1" i="0" u="none" strike="noStrike" cap="none" dirty="0" err="1">
                <a:solidFill>
                  <a:schemeClr val="dk1"/>
                </a:solidFill>
                <a:latin typeface="Times New Roman"/>
                <a:ea typeface="Times New Roman"/>
                <a:cs typeface="Times New Roman"/>
                <a:sym typeface="Times New Roman"/>
              </a:rPr>
              <a:t>Padamwar</a:t>
            </a:r>
            <a:endParaRPr lang="en-US" dirty="0"/>
          </a:p>
          <a:p>
            <a:pPr marL="0" marR="0" lvl="0" indent="0" algn="ctr"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Sandeep Malviya</a:t>
            </a:r>
            <a:endParaRPr lang="en-US" dirty="0"/>
          </a:p>
          <a:p>
            <a:pPr marL="0" marR="0" lvl="0" indent="0" algn="ctr" rtl="0">
              <a:spcBef>
                <a:spcPts val="0"/>
              </a:spcBef>
              <a:spcAft>
                <a:spcPts val="0"/>
              </a:spcAft>
              <a:buNone/>
            </a:pPr>
            <a:r>
              <a:rPr lang="en-US" sz="2000" b="1" i="0" u="none" strike="noStrike" cap="none" dirty="0" err="1">
                <a:solidFill>
                  <a:schemeClr val="dk1"/>
                </a:solidFill>
                <a:latin typeface="Times New Roman"/>
                <a:ea typeface="Times New Roman"/>
                <a:cs typeface="Times New Roman"/>
                <a:sym typeface="Times New Roman"/>
              </a:rPr>
              <a:t>Harsh</a:t>
            </a:r>
            <a:r>
              <a:rPr lang="en-US" sz="2000" b="1" dirty="0" err="1">
                <a:solidFill>
                  <a:schemeClr val="dk1"/>
                </a:solidFill>
                <a:latin typeface="Times New Roman"/>
                <a:ea typeface="Times New Roman"/>
                <a:cs typeface="Times New Roman"/>
                <a:sym typeface="Times New Roman"/>
              </a:rPr>
              <a:t>a</a:t>
            </a:r>
            <a:r>
              <a:rPr lang="en-US" sz="2000" b="1" i="0" u="none" strike="noStrike" cap="none" dirty="0" err="1">
                <a:solidFill>
                  <a:schemeClr val="dk1"/>
                </a:solidFill>
                <a:latin typeface="Times New Roman"/>
                <a:ea typeface="Times New Roman"/>
                <a:cs typeface="Times New Roman"/>
                <a:sym typeface="Times New Roman"/>
              </a:rPr>
              <a:t>da</a:t>
            </a:r>
            <a:r>
              <a:rPr lang="en-US" sz="2000" b="1" i="0" u="none" strike="noStrike" cap="none" dirty="0">
                <a:solidFill>
                  <a:schemeClr val="dk1"/>
                </a:solidFill>
                <a:latin typeface="Times New Roman"/>
                <a:ea typeface="Times New Roman"/>
                <a:cs typeface="Times New Roman"/>
                <a:sym typeface="Times New Roman"/>
              </a:rPr>
              <a:t> Patil</a:t>
            </a:r>
            <a:endParaRPr lang="en-US" dirty="0"/>
          </a:p>
          <a:p>
            <a:pPr marL="0" marR="0" lvl="0" indent="0" algn="ctr" rtl="0">
              <a:spcBef>
                <a:spcPts val="0"/>
              </a:spcBef>
              <a:spcAft>
                <a:spcPts val="0"/>
              </a:spcAft>
              <a:buNone/>
            </a:pPr>
            <a:r>
              <a:rPr lang="en-US" sz="2000" b="1" i="0" u="none" strike="noStrike" cap="none" dirty="0" err="1">
                <a:solidFill>
                  <a:schemeClr val="dk1"/>
                </a:solidFill>
                <a:latin typeface="Times New Roman"/>
                <a:ea typeface="Times New Roman"/>
                <a:cs typeface="Times New Roman"/>
                <a:sym typeface="Times New Roman"/>
              </a:rPr>
              <a:t>Sanghavi</a:t>
            </a:r>
            <a:r>
              <a:rPr lang="en-US" sz="2000" b="1" i="0" u="none" strike="noStrike" cap="none" dirty="0">
                <a:solidFill>
                  <a:schemeClr val="dk1"/>
                </a:solidFill>
                <a:latin typeface="Times New Roman"/>
                <a:ea typeface="Times New Roman"/>
                <a:cs typeface="Times New Roman"/>
                <a:sym typeface="Times New Roman"/>
              </a:rPr>
              <a:t> Appam</a:t>
            </a:r>
            <a:endParaRPr lang="en-US" dirty="0"/>
          </a:p>
          <a:p>
            <a:pPr marL="0" marR="0" lvl="0" indent="0" algn="ctr" rtl="0">
              <a:spcBef>
                <a:spcPts val="0"/>
              </a:spcBef>
              <a:spcAft>
                <a:spcPts val="0"/>
              </a:spcAft>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0" i="0" u="none" strike="noStrike" cap="none" dirty="0">
                <a:solidFill>
                  <a:schemeClr val="dk1"/>
                </a:solidFill>
                <a:latin typeface="Times New Roman"/>
                <a:ea typeface="Times New Roman"/>
                <a:cs typeface="Times New Roman"/>
                <a:sym typeface="Times New Roman"/>
              </a:rPr>
              <a:t>GUIDE NAME</a:t>
            </a:r>
            <a:endParaRPr dirty="0"/>
          </a:p>
          <a:p>
            <a:pPr marL="0" marR="0" lvl="0" indent="0" algn="ctr" rtl="0">
              <a:spcBef>
                <a:spcPts val="0"/>
              </a:spcBef>
              <a:spcAft>
                <a:spcPts val="0"/>
              </a:spcAft>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Prof. Disha </a:t>
            </a:r>
            <a:r>
              <a:rPr lang="en-US" sz="2000" b="1" i="0" u="none" strike="noStrike" cap="none" dirty="0" err="1">
                <a:solidFill>
                  <a:schemeClr val="dk1"/>
                </a:solidFill>
                <a:latin typeface="Times New Roman"/>
                <a:ea typeface="Times New Roman"/>
                <a:cs typeface="Times New Roman"/>
                <a:sym typeface="Times New Roman"/>
              </a:rPr>
              <a:t>Deotale</a:t>
            </a:r>
            <a:endParaRPr lang="en-US" dirty="0"/>
          </a:p>
        </p:txBody>
      </p:sp>
      <p:pic>
        <p:nvPicPr>
          <p:cNvPr id="97" name="Google Shape;97;p13" descr="Logo&#10;&#10;Description automatically generated"/>
          <p:cNvPicPr preferRelativeResize="0"/>
          <p:nvPr/>
        </p:nvPicPr>
        <p:blipFill rotWithShape="1">
          <a:blip r:embed="rId3">
            <a:alphaModFix/>
          </a:blip>
          <a:srcRect/>
          <a:stretch/>
        </p:blipFill>
        <p:spPr>
          <a:xfrm>
            <a:off x="259168" y="241077"/>
            <a:ext cx="1733550" cy="1543050"/>
          </a:xfrm>
          <a:prstGeom prst="rect">
            <a:avLst/>
          </a:prstGeom>
          <a:noFill/>
          <a:ln>
            <a:noFill/>
          </a:ln>
        </p:spPr>
      </p:pic>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INTRODUCTION</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6" name="Google Shape;106;p14"/>
          <p:cNvSpPr txBox="1">
            <a:spLocks noGrp="1"/>
          </p:cNvSpPr>
          <p:nvPr>
            <p:ph type="body" idx="1"/>
          </p:nvPr>
        </p:nvSpPr>
        <p:spPr>
          <a:xfrm>
            <a:off x="1219200" y="1406012"/>
            <a:ext cx="10785987" cy="1117252"/>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200"/>
              <a:buChar char="•"/>
            </a:pPr>
            <a:r>
              <a:rPr lang="en-US" sz="2000" dirty="0">
                <a:latin typeface="Times New Roman"/>
                <a:ea typeface="Times New Roman"/>
                <a:cs typeface="Times New Roman"/>
                <a:sym typeface="Times New Roman"/>
              </a:rPr>
              <a:t>There are people who are facing illnesses such as deafness or dumbness. </a:t>
            </a:r>
            <a:r>
              <a:rPr lang="en-US" sz="2000" b="1" dirty="0">
                <a:latin typeface="Times New Roman"/>
                <a:ea typeface="Times New Roman"/>
                <a:cs typeface="Times New Roman"/>
                <a:sym typeface="Times New Roman"/>
              </a:rPr>
              <a:t>They face difficulty interacting with others</a:t>
            </a:r>
            <a:r>
              <a:rPr lang="en-US" sz="2000" dirty="0">
                <a:latin typeface="Times New Roman"/>
                <a:ea typeface="Times New Roman"/>
                <a:cs typeface="Times New Roman"/>
                <a:sym typeface="Times New Roman"/>
              </a:rPr>
              <a:t>. Previously developed techniques are all sensors based and they didn’t give the general solution. </a:t>
            </a:r>
            <a:endParaRPr sz="2000" dirty="0">
              <a:latin typeface="Times New Roman"/>
              <a:ea typeface="Times New Roman"/>
              <a:cs typeface="Times New Roman"/>
              <a:sym typeface="Times New Roman"/>
            </a:endParaRPr>
          </a:p>
        </p:txBody>
      </p:sp>
      <p:pic>
        <p:nvPicPr>
          <p:cNvPr id="107" name="Google Shape;107;p14"/>
          <p:cNvPicPr preferRelativeResize="0"/>
          <p:nvPr/>
        </p:nvPicPr>
        <p:blipFill>
          <a:blip r:embed="rId3">
            <a:alphaModFix/>
          </a:blip>
          <a:stretch>
            <a:fillRect/>
          </a:stretch>
        </p:blipFill>
        <p:spPr>
          <a:xfrm>
            <a:off x="8288326" y="2556392"/>
            <a:ext cx="3636883" cy="3655616"/>
          </a:xfrm>
          <a:prstGeom prst="rect">
            <a:avLst/>
          </a:prstGeom>
          <a:noFill/>
          <a:ln>
            <a:noFill/>
          </a:ln>
        </p:spPr>
      </p:pic>
      <p:sp>
        <p:nvSpPr>
          <p:cNvPr id="8" name="Google Shape;106;p14">
            <a:extLst>
              <a:ext uri="{FF2B5EF4-FFF2-40B4-BE49-F238E27FC236}">
                <a16:creationId xmlns:a16="http://schemas.microsoft.com/office/drawing/2014/main" id="{D083D83D-909A-480A-B0DE-64BDC51593E0}"/>
              </a:ext>
            </a:extLst>
          </p:cNvPr>
          <p:cNvSpPr txBox="1">
            <a:spLocks/>
          </p:cNvSpPr>
          <p:nvPr/>
        </p:nvSpPr>
        <p:spPr>
          <a:xfrm>
            <a:off x="1219200" y="2438399"/>
            <a:ext cx="6870741" cy="4168877"/>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228600" algn="just">
              <a:lnSpc>
                <a:spcPct val="110000"/>
              </a:lnSpc>
              <a:buSzPts val="2200"/>
            </a:pPr>
            <a:r>
              <a:rPr lang="en-US" sz="2200" dirty="0">
                <a:latin typeface="Times New Roman"/>
                <a:ea typeface="Times New Roman"/>
                <a:cs typeface="Times New Roman"/>
                <a:sym typeface="Times New Roman"/>
              </a:rPr>
              <a:t>This presentation explains a new technique of </a:t>
            </a:r>
            <a:r>
              <a:rPr lang="en-US" sz="2200" b="1" dirty="0">
                <a:latin typeface="Times New Roman"/>
                <a:ea typeface="Times New Roman"/>
                <a:cs typeface="Times New Roman"/>
                <a:sym typeface="Times New Roman"/>
              </a:rPr>
              <a:t>virtual talking without sensors</a:t>
            </a:r>
            <a:r>
              <a:rPr lang="en-US" sz="2200" dirty="0">
                <a:latin typeface="Times New Roman"/>
                <a:ea typeface="Times New Roman"/>
                <a:cs typeface="Times New Roman"/>
                <a:sym typeface="Times New Roman"/>
              </a:rPr>
              <a:t>. Convolutional Neural Network has been used to train the System. Web Camera is used to take the image of different gestures and that will be used as input to the </a:t>
            </a:r>
            <a:r>
              <a:rPr lang="en-US" sz="2200" b="1" dirty="0">
                <a:latin typeface="Times New Roman"/>
                <a:ea typeface="Times New Roman"/>
                <a:cs typeface="Times New Roman"/>
                <a:sym typeface="Times New Roman"/>
              </a:rPr>
              <a:t>MATLAB</a:t>
            </a:r>
            <a:r>
              <a:rPr lang="en-US" sz="2200" dirty="0">
                <a:latin typeface="Times New Roman"/>
                <a:ea typeface="Times New Roman"/>
                <a:cs typeface="Times New Roman"/>
                <a:sym typeface="Times New Roman"/>
              </a:rPr>
              <a:t>. </a:t>
            </a:r>
          </a:p>
          <a:p>
            <a:pPr marL="228600" indent="-228600" algn="just">
              <a:lnSpc>
                <a:spcPct val="110000"/>
              </a:lnSpc>
              <a:buSzPts val="2200"/>
            </a:pPr>
            <a:r>
              <a:rPr lang="en-US" sz="2200" dirty="0">
                <a:latin typeface="Times New Roman"/>
                <a:ea typeface="Times New Roman"/>
                <a:cs typeface="Times New Roman"/>
                <a:sym typeface="Times New Roman"/>
              </a:rPr>
              <a:t>The </a:t>
            </a:r>
            <a:r>
              <a:rPr lang="en-US" sz="2200" b="1" dirty="0">
                <a:latin typeface="Times New Roman"/>
                <a:ea typeface="Times New Roman"/>
                <a:cs typeface="Times New Roman"/>
                <a:sym typeface="Times New Roman"/>
              </a:rPr>
              <a:t>software will recognize the image </a:t>
            </a:r>
            <a:r>
              <a:rPr lang="en-US" sz="2200" dirty="0">
                <a:latin typeface="Times New Roman"/>
                <a:ea typeface="Times New Roman"/>
                <a:cs typeface="Times New Roman"/>
                <a:sym typeface="Times New Roman"/>
              </a:rPr>
              <a:t>and identify the cores sign language and convert them to English language and give voice output using a voice replay kit.</a:t>
            </a:r>
          </a:p>
          <a:p>
            <a:pPr marL="228600" indent="-228600" algn="just">
              <a:lnSpc>
                <a:spcPct val="110000"/>
              </a:lnSpc>
              <a:buSzPts val="2200"/>
            </a:pPr>
            <a:r>
              <a:rPr lang="en-US" sz="2200" dirty="0">
                <a:latin typeface="Times New Roman"/>
                <a:ea typeface="Times New Roman"/>
                <a:cs typeface="Times New Roman"/>
                <a:sym typeface="Times New Roman"/>
              </a:rPr>
              <a:t>Such as two-way communications between the dumb and normal people would be capable by converting the sign language to text and voice for various uses such as on video conference.</a:t>
            </a:r>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Video Demonstration</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 name="Demo video">
            <a:hlinkClick r:id="" action="ppaction://media"/>
            <a:extLst>
              <a:ext uri="{FF2B5EF4-FFF2-40B4-BE49-F238E27FC236}">
                <a16:creationId xmlns:a16="http://schemas.microsoft.com/office/drawing/2014/main" id="{CD5D5076-9A92-4311-BE7D-CDC987EB8E1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74825" y="1380961"/>
            <a:ext cx="9527253" cy="5241229"/>
          </a:xfrm>
          <a:prstGeom prst="rect">
            <a:avLst/>
          </a:prstGeom>
        </p:spPr>
      </p:pic>
    </p:spTree>
    <p:extLst>
      <p:ext uri="{BB962C8B-B14F-4D97-AF65-F5344CB8AC3E}">
        <p14:creationId xmlns:p14="http://schemas.microsoft.com/office/powerpoint/2010/main" val="1560295848"/>
      </p:ext>
    </p:extLst>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980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t>OBJECTIVE</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8;p16">
            <a:extLst>
              <a:ext uri="{FF2B5EF4-FFF2-40B4-BE49-F238E27FC236}">
                <a16:creationId xmlns:a16="http://schemas.microsoft.com/office/drawing/2014/main" id="{66AB203C-8C2D-4475-BE5B-983E92934C94}"/>
              </a:ext>
            </a:extLst>
          </p:cNvPr>
          <p:cNvSpPr txBox="1">
            <a:spLocks noGrp="1"/>
          </p:cNvSpPr>
          <p:nvPr>
            <p:ph type="body" idx="1"/>
          </p:nvPr>
        </p:nvSpPr>
        <p:spPr>
          <a:xfrm>
            <a:off x="1286999" y="1366684"/>
            <a:ext cx="10718188" cy="2317911"/>
          </a:xfrm>
          <a:prstGeom prst="rect">
            <a:avLst/>
          </a:prstGeom>
          <a:noFill/>
          <a:ln>
            <a:noFill/>
          </a:ln>
        </p:spPr>
        <p:txBody>
          <a:bodyPr spcFirstLastPara="1" wrap="square" lIns="91425" tIns="45700" rIns="91425" bIns="45700" anchor="t" anchorCtr="0">
            <a:normAutofit fontScale="92500"/>
          </a:bodyPr>
          <a:lstStyle/>
          <a:p>
            <a:pPr marL="228600" lvl="0" indent="-222250" algn="just" rtl="0">
              <a:lnSpc>
                <a:spcPct val="150000"/>
              </a:lnSpc>
              <a:spcBef>
                <a:spcPts val="1000"/>
              </a:spcBef>
              <a:spcAft>
                <a:spcPts val="0"/>
              </a:spcAft>
              <a:buClr>
                <a:schemeClr val="dk1"/>
              </a:buClr>
              <a:buSzPts val="1900"/>
              <a:buChar char="•"/>
            </a:pPr>
            <a:r>
              <a:rPr lang="en-US" sz="1800" dirty="0">
                <a:latin typeface="Times New Roman"/>
                <a:ea typeface="Times New Roman"/>
                <a:cs typeface="Times New Roman"/>
                <a:sym typeface="Times New Roman"/>
              </a:rPr>
              <a:t>To give dumb people  ability to be express their ideas and thoughts. </a:t>
            </a:r>
            <a:endParaRPr sz="1800" dirty="0">
              <a:latin typeface="Times New Roman"/>
              <a:ea typeface="Times New Roman"/>
              <a:cs typeface="Times New Roman"/>
              <a:sym typeface="Times New Roman"/>
            </a:endParaRPr>
          </a:p>
          <a:p>
            <a:pPr marL="228600" lvl="0" indent="-222250" algn="just" rtl="0">
              <a:lnSpc>
                <a:spcPct val="150000"/>
              </a:lnSpc>
              <a:spcBef>
                <a:spcPts val="1000"/>
              </a:spcBef>
              <a:spcAft>
                <a:spcPts val="0"/>
              </a:spcAft>
              <a:buClr>
                <a:schemeClr val="dk1"/>
              </a:buClr>
              <a:buSzPts val="1900"/>
              <a:buChar char="•"/>
            </a:pPr>
            <a:r>
              <a:rPr lang="en-US" sz="1800" dirty="0">
                <a:latin typeface="Times New Roman"/>
                <a:ea typeface="Times New Roman"/>
                <a:cs typeface="Times New Roman"/>
                <a:sym typeface="Times New Roman"/>
              </a:rPr>
              <a:t>Help them by increasing their motivation and confidence by making them think positively and to conquer that physical disability.</a:t>
            </a:r>
            <a:endParaRPr dirty="0"/>
          </a:p>
          <a:p>
            <a:pPr marL="228600" lvl="0" indent="-222250" algn="just" rtl="0">
              <a:lnSpc>
                <a:spcPct val="150000"/>
              </a:lnSpc>
              <a:spcBef>
                <a:spcPts val="1000"/>
              </a:spcBef>
              <a:spcAft>
                <a:spcPts val="0"/>
              </a:spcAft>
              <a:buClr>
                <a:schemeClr val="dk1"/>
              </a:buClr>
              <a:buSzPts val="1900"/>
              <a:buChar char="•"/>
            </a:pPr>
            <a:r>
              <a:rPr lang="en-US" sz="1800" dirty="0">
                <a:latin typeface="Times New Roman"/>
                <a:ea typeface="Times New Roman"/>
                <a:cs typeface="Times New Roman"/>
                <a:sym typeface="Times New Roman"/>
              </a:rPr>
              <a:t> By using latest technologies and tools we are keeping objective to overcome this problem at the global level scale. </a:t>
            </a:r>
            <a:endParaRPr sz="1800" dirty="0"/>
          </a:p>
        </p:txBody>
      </p:sp>
      <p:pic>
        <p:nvPicPr>
          <p:cNvPr id="12" name="Google Shape;123;p16">
            <a:extLst>
              <a:ext uri="{FF2B5EF4-FFF2-40B4-BE49-F238E27FC236}">
                <a16:creationId xmlns:a16="http://schemas.microsoft.com/office/drawing/2014/main" id="{A1418498-9039-47C9-B7CC-B407CC51B075}"/>
              </a:ext>
            </a:extLst>
          </p:cNvPr>
          <p:cNvPicPr preferRelativeResize="0"/>
          <p:nvPr/>
        </p:nvPicPr>
        <p:blipFill>
          <a:blip r:embed="rId3">
            <a:alphaModFix/>
          </a:blip>
          <a:stretch>
            <a:fillRect/>
          </a:stretch>
        </p:blipFill>
        <p:spPr>
          <a:xfrm>
            <a:off x="882050" y="3852235"/>
            <a:ext cx="4154552" cy="2703398"/>
          </a:xfrm>
          <a:prstGeom prst="rect">
            <a:avLst/>
          </a:prstGeom>
          <a:ln>
            <a:noFill/>
          </a:ln>
          <a:effectLst>
            <a:outerShdw blurRad="292100" dist="139700" dir="2700000" algn="tl" rotWithShape="0">
              <a:srgbClr val="333333">
                <a:alpha val="65000"/>
              </a:srgbClr>
            </a:outerShdw>
          </a:effectLst>
        </p:spPr>
      </p:pic>
      <p:sp>
        <p:nvSpPr>
          <p:cNvPr id="13" name="Google Shape;125;p16">
            <a:extLst>
              <a:ext uri="{FF2B5EF4-FFF2-40B4-BE49-F238E27FC236}">
                <a16:creationId xmlns:a16="http://schemas.microsoft.com/office/drawing/2014/main" id="{47578902-A162-4169-BD1E-6E9DD913DD9F}"/>
              </a:ext>
            </a:extLst>
          </p:cNvPr>
          <p:cNvSpPr/>
          <p:nvPr/>
        </p:nvSpPr>
        <p:spPr>
          <a:xfrm>
            <a:off x="5399567" y="4973468"/>
            <a:ext cx="1494000" cy="373800"/>
          </a:xfrm>
          <a:prstGeom prst="rightArrow">
            <a:avLst>
              <a:gd name="adj1" fmla="val 50000"/>
              <a:gd name="adj2" fmla="val 50000"/>
            </a:avLst>
          </a:prstGeom>
          <a:ln>
            <a:headEnd type="none" w="sm" len="sm"/>
            <a:tailEnd type="none" w="sm" len="sm"/>
          </a:ln>
        </p:spPr>
        <p:style>
          <a:lnRef idx="3">
            <a:schemeClr val="lt1"/>
          </a:lnRef>
          <a:fillRef idx="1">
            <a:schemeClr val="accent3"/>
          </a:fillRef>
          <a:effectRef idx="1">
            <a:schemeClr val="accent3"/>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24;p16">
            <a:extLst>
              <a:ext uri="{FF2B5EF4-FFF2-40B4-BE49-F238E27FC236}">
                <a16:creationId xmlns:a16="http://schemas.microsoft.com/office/drawing/2014/main" id="{6D9A2C56-8713-4088-ABFA-AFBE791563E6}"/>
              </a:ext>
            </a:extLst>
          </p:cNvPr>
          <p:cNvPicPr preferRelativeResize="0"/>
          <p:nvPr/>
        </p:nvPicPr>
        <p:blipFill>
          <a:blip r:embed="rId4">
            <a:alphaModFix/>
          </a:blip>
          <a:stretch>
            <a:fillRect/>
          </a:stretch>
        </p:blipFill>
        <p:spPr>
          <a:xfrm>
            <a:off x="7256533" y="3726357"/>
            <a:ext cx="4154552" cy="27679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07474935"/>
      </p:ext>
    </p:extLst>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PROBLEM STATEMENT</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34;p17">
            <a:extLst>
              <a:ext uri="{FF2B5EF4-FFF2-40B4-BE49-F238E27FC236}">
                <a16:creationId xmlns:a16="http://schemas.microsoft.com/office/drawing/2014/main" id="{194F4C3D-35C4-46D4-AF17-4662B029C62B}"/>
              </a:ext>
            </a:extLst>
          </p:cNvPr>
          <p:cNvSpPr txBox="1">
            <a:spLocks noGrp="1"/>
          </p:cNvSpPr>
          <p:nvPr>
            <p:ph type="body" idx="1"/>
          </p:nvPr>
        </p:nvSpPr>
        <p:spPr>
          <a:xfrm>
            <a:off x="1337186" y="1445341"/>
            <a:ext cx="10609007" cy="5083277"/>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200"/>
              <a:buChar char="•"/>
            </a:pPr>
            <a:r>
              <a:rPr lang="en-US" sz="2000" dirty="0">
                <a:latin typeface="Times New Roman"/>
                <a:ea typeface="Times New Roman"/>
                <a:cs typeface="Times New Roman"/>
                <a:sym typeface="Times New Roman"/>
              </a:rPr>
              <a:t>Around 46 Million people in the world are handicap who can’t speak or listen properly.</a:t>
            </a:r>
            <a:endParaRPr sz="2400" dirty="0"/>
          </a:p>
          <a:p>
            <a:pPr marL="228600" lvl="0" indent="-228600" algn="just" rtl="0">
              <a:lnSpc>
                <a:spcPct val="150000"/>
              </a:lnSpc>
              <a:spcBef>
                <a:spcPts val="1000"/>
              </a:spcBef>
              <a:spcAft>
                <a:spcPts val="0"/>
              </a:spcAft>
              <a:buClr>
                <a:schemeClr val="dk1"/>
              </a:buClr>
              <a:buSzPts val="2200"/>
              <a:buChar char="•"/>
            </a:pPr>
            <a:r>
              <a:rPr lang="en-US" sz="2000" dirty="0">
                <a:latin typeface="Times New Roman"/>
                <a:ea typeface="Times New Roman"/>
                <a:cs typeface="Times New Roman"/>
                <a:sym typeface="Times New Roman"/>
              </a:rPr>
              <a:t>Dumb people use hand signs to communicate, hence normal people face problem in recognizing their language by signs made.</a:t>
            </a:r>
            <a:endParaRPr sz="2000" dirty="0">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200"/>
              <a:buChar char="•"/>
            </a:pPr>
            <a:r>
              <a:rPr lang="en-US" sz="2000" dirty="0">
                <a:latin typeface="Times New Roman"/>
                <a:ea typeface="Times New Roman"/>
                <a:cs typeface="Times New Roman"/>
                <a:sym typeface="Times New Roman"/>
              </a:rPr>
              <a:t>The hearing impaired people always have problem in communicating with normal people. </a:t>
            </a:r>
            <a:endParaRPr sz="2400" dirty="0"/>
          </a:p>
          <a:p>
            <a:pPr marL="228600" lvl="0" indent="-228600" algn="just" rtl="0">
              <a:lnSpc>
                <a:spcPct val="150000"/>
              </a:lnSpc>
              <a:spcBef>
                <a:spcPts val="1000"/>
              </a:spcBef>
              <a:spcAft>
                <a:spcPts val="0"/>
              </a:spcAft>
              <a:buClr>
                <a:schemeClr val="dk1"/>
              </a:buClr>
              <a:buSzPts val="2200"/>
              <a:buChar char="•"/>
            </a:pPr>
            <a:r>
              <a:rPr lang="en-US" sz="2000" dirty="0">
                <a:latin typeface="Times New Roman"/>
                <a:ea typeface="Times New Roman"/>
                <a:cs typeface="Times New Roman"/>
                <a:sym typeface="Times New Roman"/>
              </a:rPr>
              <a:t>They have problem in conveying their thoughts and ideas to normal people who have very limited or sometimes no knowledge in sign language. </a:t>
            </a:r>
            <a:endParaRPr sz="2000" dirty="0">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200"/>
              <a:buChar char="•"/>
            </a:pPr>
            <a:r>
              <a:rPr lang="en-US" sz="2000" dirty="0">
                <a:latin typeface="Times New Roman"/>
                <a:ea typeface="Times New Roman"/>
                <a:cs typeface="Times New Roman"/>
                <a:sym typeface="Times New Roman"/>
              </a:rPr>
              <a:t>This makes the hearing impaired community lose interest in common activities and they avoid communicating with normal people at times and live in isolation. </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115457545"/>
      </p:ext>
    </p:extLst>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t>PURPOSE</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8;p16">
            <a:extLst>
              <a:ext uri="{FF2B5EF4-FFF2-40B4-BE49-F238E27FC236}">
                <a16:creationId xmlns:a16="http://schemas.microsoft.com/office/drawing/2014/main" id="{66AB203C-8C2D-4475-BE5B-983E92934C94}"/>
              </a:ext>
            </a:extLst>
          </p:cNvPr>
          <p:cNvSpPr txBox="1">
            <a:spLocks noGrp="1"/>
          </p:cNvSpPr>
          <p:nvPr>
            <p:ph type="body" idx="1"/>
          </p:nvPr>
        </p:nvSpPr>
        <p:spPr>
          <a:xfrm>
            <a:off x="1286999" y="1366683"/>
            <a:ext cx="10718188" cy="2467898"/>
          </a:xfrm>
          <a:prstGeom prst="rect">
            <a:avLst/>
          </a:prstGeom>
          <a:noFill/>
          <a:ln>
            <a:noFill/>
          </a:ln>
        </p:spPr>
        <p:txBody>
          <a:bodyPr spcFirstLastPara="1" wrap="square" lIns="91425" tIns="45700" rIns="91425" bIns="45700" anchor="t" anchorCtr="0">
            <a:normAutofit/>
          </a:bodyPr>
          <a:lstStyle/>
          <a:p>
            <a:pPr marL="342900" algn="just">
              <a:lnSpc>
                <a:spcPct val="150000"/>
              </a:lnSpc>
              <a:spcBef>
                <a:spcPts val="0"/>
              </a:spcBef>
              <a:buSzPts val="2300"/>
            </a:pPr>
            <a:r>
              <a:rPr lang="en-US" sz="2000" dirty="0">
                <a:latin typeface="Times New Roman" panose="02020603050405020304" pitchFamily="18" charset="0"/>
                <a:ea typeface="Times New Roman"/>
                <a:cs typeface="Times New Roman" panose="02020603050405020304" pitchFamily="18" charset="0"/>
                <a:sym typeface="Times New Roman"/>
              </a:rPr>
              <a:t>We are keeping purpose of developing system that will make</a:t>
            </a:r>
            <a:r>
              <a:rPr lang="en-US" sz="2000" b="1" dirty="0">
                <a:latin typeface="Times New Roman" panose="02020603050405020304" pitchFamily="18" charset="0"/>
                <a:ea typeface="Times New Roman"/>
                <a:cs typeface="Times New Roman" panose="02020603050405020304" pitchFamily="18" charset="0"/>
                <a:sym typeface="Times New Roman"/>
              </a:rPr>
              <a:t> communication between Dumb and normal person</a:t>
            </a:r>
            <a:r>
              <a:rPr lang="en-US" sz="2000" dirty="0">
                <a:latin typeface="Times New Roman" panose="02020603050405020304" pitchFamily="18" charset="0"/>
                <a:ea typeface="Times New Roman"/>
                <a:cs typeface="Times New Roman" panose="02020603050405020304" pitchFamily="18" charset="0"/>
                <a:sym typeface="Times New Roman"/>
              </a:rPr>
              <a:t> </a:t>
            </a:r>
            <a:r>
              <a:rPr lang="en-US" sz="2000" b="1" dirty="0">
                <a:latin typeface="Times New Roman" panose="02020603050405020304" pitchFamily="18" charset="0"/>
                <a:ea typeface="Times New Roman"/>
                <a:cs typeface="Times New Roman" panose="02020603050405020304" pitchFamily="18" charset="0"/>
                <a:sym typeface="Times New Roman"/>
              </a:rPr>
              <a:t>easy and convenient</a:t>
            </a:r>
            <a:r>
              <a:rPr lang="en-US" sz="2000" dirty="0">
                <a:latin typeface="Times New Roman" panose="02020603050405020304" pitchFamily="18" charset="0"/>
                <a:ea typeface="Times New Roman"/>
                <a:cs typeface="Times New Roman" panose="02020603050405020304" pitchFamily="18" charset="0"/>
                <a:sym typeface="Times New Roman"/>
              </a:rPr>
              <a:t>.</a:t>
            </a:r>
          </a:p>
          <a:p>
            <a:pPr marL="342900" algn="just">
              <a:lnSpc>
                <a:spcPct val="150000"/>
              </a:lnSpc>
              <a:spcBef>
                <a:spcPts val="0"/>
              </a:spcBef>
              <a:buSzPts val="2300"/>
            </a:pPr>
            <a:r>
              <a:rPr lang="en-US" sz="2000" dirty="0">
                <a:latin typeface="Times New Roman" panose="02020603050405020304" pitchFamily="18" charset="0"/>
                <a:ea typeface="Times New Roman"/>
                <a:cs typeface="Times New Roman" panose="02020603050405020304" pitchFamily="18" charset="0"/>
                <a:sym typeface="Times New Roman"/>
              </a:rPr>
              <a:t>To </a:t>
            </a:r>
            <a:r>
              <a:rPr lang="en-US" sz="2000" b="1" dirty="0">
                <a:latin typeface="Times New Roman" panose="02020603050405020304" pitchFamily="18" charset="0"/>
                <a:ea typeface="Times New Roman"/>
                <a:cs typeface="Times New Roman" panose="02020603050405020304" pitchFamily="18" charset="0"/>
                <a:sym typeface="Times New Roman"/>
              </a:rPr>
              <a:t>solve the miscommunication </a:t>
            </a:r>
            <a:r>
              <a:rPr lang="en-US" sz="2000" dirty="0">
                <a:latin typeface="Times New Roman" panose="02020603050405020304" pitchFamily="18" charset="0"/>
                <a:ea typeface="Times New Roman"/>
                <a:cs typeface="Times New Roman" panose="02020603050405020304" pitchFamily="18" charset="0"/>
                <a:sym typeface="Times New Roman"/>
              </a:rPr>
              <a:t>between such huge community and normal persons is our purpose with this proposed research.</a:t>
            </a:r>
            <a:endParaRPr lang="en-US" sz="2800" dirty="0">
              <a:latin typeface="Times New Roman" panose="02020603050405020304" pitchFamily="18" charset="0"/>
              <a:cs typeface="Times New Roman" panose="02020603050405020304" pitchFamily="18" charset="0"/>
            </a:endParaRPr>
          </a:p>
        </p:txBody>
      </p:sp>
      <p:sp>
        <p:nvSpPr>
          <p:cNvPr id="13" name="Google Shape;125;p16">
            <a:extLst>
              <a:ext uri="{FF2B5EF4-FFF2-40B4-BE49-F238E27FC236}">
                <a16:creationId xmlns:a16="http://schemas.microsoft.com/office/drawing/2014/main" id="{47578902-A162-4169-BD1E-6E9DD913DD9F}"/>
              </a:ext>
            </a:extLst>
          </p:cNvPr>
          <p:cNvSpPr/>
          <p:nvPr/>
        </p:nvSpPr>
        <p:spPr>
          <a:xfrm>
            <a:off x="6930561" y="5117517"/>
            <a:ext cx="1041544" cy="373800"/>
          </a:xfrm>
          <a:prstGeom prst="rightArrow">
            <a:avLst>
              <a:gd name="adj1" fmla="val 50000"/>
              <a:gd name="adj2" fmla="val 50000"/>
            </a:avLst>
          </a:prstGeom>
          <a:ln>
            <a:headEnd type="none" w="sm" len="sm"/>
            <a:tailEnd type="none" w="sm" len="sm"/>
          </a:ln>
        </p:spPr>
        <p:style>
          <a:lnRef idx="3">
            <a:schemeClr val="lt1"/>
          </a:lnRef>
          <a:fillRef idx="1">
            <a:schemeClr val="accent3"/>
          </a:fillRef>
          <a:effectRef idx="1">
            <a:schemeClr val="accent3"/>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Google Shape;146;p18">
            <a:extLst>
              <a:ext uri="{FF2B5EF4-FFF2-40B4-BE49-F238E27FC236}">
                <a16:creationId xmlns:a16="http://schemas.microsoft.com/office/drawing/2014/main" id="{6497BB44-577F-42CC-BFD5-528D4F4F52CA}"/>
              </a:ext>
            </a:extLst>
          </p:cNvPr>
          <p:cNvPicPr preferRelativeResize="0"/>
          <p:nvPr/>
        </p:nvPicPr>
        <p:blipFill rotWithShape="1">
          <a:blip r:embed="rId3">
            <a:alphaModFix/>
          </a:blip>
          <a:srcRect t="32092"/>
          <a:stretch/>
        </p:blipFill>
        <p:spPr>
          <a:xfrm>
            <a:off x="422200" y="4238865"/>
            <a:ext cx="6086162" cy="1928132"/>
          </a:xfrm>
          <a:prstGeom prst="rect">
            <a:avLst/>
          </a:prstGeom>
          <a:noFill/>
          <a:ln>
            <a:noFill/>
          </a:ln>
        </p:spPr>
      </p:pic>
      <p:sp>
        <p:nvSpPr>
          <p:cNvPr id="15" name="Google Shape;148;p18">
            <a:extLst>
              <a:ext uri="{FF2B5EF4-FFF2-40B4-BE49-F238E27FC236}">
                <a16:creationId xmlns:a16="http://schemas.microsoft.com/office/drawing/2014/main" id="{371C4514-22D8-4A47-8376-8F58D691940A}"/>
              </a:ext>
            </a:extLst>
          </p:cNvPr>
          <p:cNvSpPr txBox="1"/>
          <p:nvPr/>
        </p:nvSpPr>
        <p:spPr>
          <a:xfrm>
            <a:off x="8365902" y="4834308"/>
            <a:ext cx="3432300" cy="785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3900" b="1" dirty="0">
                <a:latin typeface="Calibri"/>
                <a:ea typeface="Calibri"/>
                <a:cs typeface="Calibri"/>
                <a:sym typeface="Calibri"/>
              </a:rPr>
              <a:t>Thank You</a:t>
            </a:r>
            <a:endParaRPr sz="3900" b="1" dirty="0">
              <a:latin typeface="Calibri"/>
              <a:ea typeface="Calibri"/>
              <a:cs typeface="Calibri"/>
              <a:sym typeface="Calibri"/>
            </a:endParaRPr>
          </a:p>
        </p:txBody>
      </p:sp>
      <p:pic>
        <p:nvPicPr>
          <p:cNvPr id="16" name="Google Shape;149;p18" title="7Q4LPZ9-female-saying-thank-you-[AudioTrimmer.com].mp3">
            <a:hlinkClick r:id="rId4"/>
            <a:extLst>
              <a:ext uri="{FF2B5EF4-FFF2-40B4-BE49-F238E27FC236}">
                <a16:creationId xmlns:a16="http://schemas.microsoft.com/office/drawing/2014/main" id="{AEE15A2E-2422-4258-A144-F0FB31DDB982}"/>
              </a:ext>
            </a:extLst>
          </p:cNvPr>
          <p:cNvPicPr preferRelativeResize="0"/>
          <p:nvPr/>
        </p:nvPicPr>
        <p:blipFill>
          <a:blip r:embed="rId5">
            <a:alphaModFix/>
          </a:blip>
          <a:stretch>
            <a:fillRect/>
          </a:stretch>
        </p:blipFill>
        <p:spPr>
          <a:xfrm>
            <a:off x="11076205" y="4974331"/>
            <a:ext cx="457200" cy="457200"/>
          </a:xfrm>
          <a:prstGeom prst="rect">
            <a:avLst/>
          </a:prstGeom>
          <a:noFill/>
          <a:ln>
            <a:noFill/>
          </a:ln>
        </p:spPr>
      </p:pic>
    </p:spTree>
    <p:extLst>
      <p:ext uri="{BB962C8B-B14F-4D97-AF65-F5344CB8AC3E}">
        <p14:creationId xmlns:p14="http://schemas.microsoft.com/office/powerpoint/2010/main" val="1714560137"/>
      </p:ext>
    </p:extLst>
  </p:cSld>
  <p:clrMapOvr>
    <a:masterClrMapping/>
  </p:clrMapOvr>
  <p:transition spd="med">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latin typeface="Calibri"/>
                <a:ea typeface="Calibri"/>
                <a:cs typeface="Calibri"/>
                <a:sym typeface="Calibri"/>
              </a:rPr>
              <a:t>Literature Survey</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aphicFrame>
        <p:nvGraphicFramePr>
          <p:cNvPr id="14" name="Google Shape;177;p19">
            <a:extLst>
              <a:ext uri="{FF2B5EF4-FFF2-40B4-BE49-F238E27FC236}">
                <a16:creationId xmlns:a16="http://schemas.microsoft.com/office/drawing/2014/main" id="{42B45B05-54B3-4313-A7E5-C46FD7A1C433}"/>
              </a:ext>
            </a:extLst>
          </p:cNvPr>
          <p:cNvGraphicFramePr/>
          <p:nvPr>
            <p:extLst>
              <p:ext uri="{D42A27DB-BD31-4B8C-83A1-F6EECF244321}">
                <p14:modId xmlns:p14="http://schemas.microsoft.com/office/powerpoint/2010/main" val="3303490790"/>
              </p:ext>
            </p:extLst>
          </p:nvPr>
        </p:nvGraphicFramePr>
        <p:xfrm>
          <a:off x="176980" y="1140542"/>
          <a:ext cx="11905542" cy="5652177"/>
        </p:xfrm>
        <a:graphic>
          <a:graphicData uri="http://schemas.openxmlformats.org/drawingml/2006/table">
            <a:tbl>
              <a:tblPr firstRow="1" bandRow="1">
                <a:noFill/>
                <a:tableStyleId>{CF6792FA-9638-4D61-B534-CBED8F422AF7}</a:tableStyleId>
              </a:tblPr>
              <a:tblGrid>
                <a:gridCol w="1261347">
                  <a:extLst>
                    <a:ext uri="{9D8B030D-6E8A-4147-A177-3AD203B41FA5}">
                      <a16:colId xmlns:a16="http://schemas.microsoft.com/office/drawing/2014/main" val="20000"/>
                    </a:ext>
                  </a:extLst>
                </a:gridCol>
                <a:gridCol w="498628">
                  <a:extLst>
                    <a:ext uri="{9D8B030D-6E8A-4147-A177-3AD203B41FA5}">
                      <a16:colId xmlns:a16="http://schemas.microsoft.com/office/drawing/2014/main" val="20001"/>
                    </a:ext>
                  </a:extLst>
                </a:gridCol>
                <a:gridCol w="1256166">
                  <a:extLst>
                    <a:ext uri="{9D8B030D-6E8A-4147-A177-3AD203B41FA5}">
                      <a16:colId xmlns:a16="http://schemas.microsoft.com/office/drawing/2014/main" val="20002"/>
                    </a:ext>
                  </a:extLst>
                </a:gridCol>
                <a:gridCol w="2805756">
                  <a:extLst>
                    <a:ext uri="{9D8B030D-6E8A-4147-A177-3AD203B41FA5}">
                      <a16:colId xmlns:a16="http://schemas.microsoft.com/office/drawing/2014/main" val="20003"/>
                    </a:ext>
                  </a:extLst>
                </a:gridCol>
                <a:gridCol w="1673983">
                  <a:extLst>
                    <a:ext uri="{9D8B030D-6E8A-4147-A177-3AD203B41FA5}">
                      <a16:colId xmlns:a16="http://schemas.microsoft.com/office/drawing/2014/main" val="20004"/>
                    </a:ext>
                  </a:extLst>
                </a:gridCol>
                <a:gridCol w="1717499">
                  <a:extLst>
                    <a:ext uri="{9D8B030D-6E8A-4147-A177-3AD203B41FA5}">
                      <a16:colId xmlns:a16="http://schemas.microsoft.com/office/drawing/2014/main" val="20005"/>
                    </a:ext>
                  </a:extLst>
                </a:gridCol>
                <a:gridCol w="2692163">
                  <a:extLst>
                    <a:ext uri="{9D8B030D-6E8A-4147-A177-3AD203B41FA5}">
                      <a16:colId xmlns:a16="http://schemas.microsoft.com/office/drawing/2014/main" val="20006"/>
                    </a:ext>
                  </a:extLst>
                </a:gridCol>
              </a:tblGrid>
              <a:tr h="463218">
                <a:tc>
                  <a:txBody>
                    <a:bodyPr/>
                    <a:lstStyle/>
                    <a:p>
                      <a:pPr marL="0" marR="0" lvl="0" indent="0" algn="l" rtl="0">
                        <a:spcBef>
                          <a:spcPts val="0"/>
                        </a:spcBef>
                        <a:spcAft>
                          <a:spcPts val="0"/>
                        </a:spcAft>
                        <a:buNone/>
                      </a:pPr>
                      <a:r>
                        <a:rPr lang="en-US" sz="1100" u="none" strike="noStrike" cap="none">
                          <a:solidFill>
                            <a:schemeClr val="lt1"/>
                          </a:solidFill>
                          <a:latin typeface="Times New Roman"/>
                          <a:ea typeface="Times New Roman"/>
                          <a:cs typeface="Times New Roman"/>
                          <a:sym typeface="Times New Roman"/>
                        </a:rPr>
                        <a:t>Title</a:t>
                      </a:r>
                      <a:endParaRPr sz="1100">
                        <a:latin typeface="Times New Roman"/>
                        <a:ea typeface="Times New Roman"/>
                        <a:cs typeface="Times New Roman"/>
                        <a:sym typeface="Times New Roman"/>
                      </a:endParaRPr>
                    </a:p>
                  </a:txBody>
                  <a:tcPr/>
                </a:tc>
                <a:tc>
                  <a:txBody>
                    <a:bodyPr/>
                    <a:lstStyle/>
                    <a:p>
                      <a:pPr marL="0" marR="0" lvl="0" indent="0" algn="l" rtl="0">
                        <a:spcBef>
                          <a:spcPts val="0"/>
                        </a:spcBef>
                        <a:spcAft>
                          <a:spcPts val="0"/>
                        </a:spcAft>
                        <a:buNone/>
                      </a:pPr>
                      <a:r>
                        <a:rPr lang="en-US" sz="1100">
                          <a:solidFill>
                            <a:schemeClr val="lt1"/>
                          </a:solidFill>
                        </a:rPr>
                        <a:t>Year</a:t>
                      </a:r>
                      <a:endParaRPr sz="1100"/>
                    </a:p>
                  </a:txBody>
                  <a:tcPr/>
                </a:tc>
                <a:tc>
                  <a:txBody>
                    <a:bodyPr/>
                    <a:lstStyle/>
                    <a:p>
                      <a:pPr marL="0" marR="0" lvl="0" indent="0" algn="l" rtl="0">
                        <a:spcBef>
                          <a:spcPts val="0"/>
                        </a:spcBef>
                        <a:spcAft>
                          <a:spcPts val="0"/>
                        </a:spcAft>
                        <a:buNone/>
                      </a:pPr>
                      <a:r>
                        <a:rPr lang="en-US" sz="1100">
                          <a:solidFill>
                            <a:schemeClr val="lt1"/>
                          </a:solidFill>
                        </a:rPr>
                        <a:t>Authors</a:t>
                      </a:r>
                      <a:endParaRPr sz="1100"/>
                    </a:p>
                  </a:txBody>
                  <a:tcPr/>
                </a:tc>
                <a:tc>
                  <a:txBody>
                    <a:bodyPr/>
                    <a:lstStyle/>
                    <a:p>
                      <a:pPr marL="0" marR="0" lvl="0" indent="0" algn="l" rtl="0">
                        <a:spcBef>
                          <a:spcPts val="0"/>
                        </a:spcBef>
                        <a:spcAft>
                          <a:spcPts val="0"/>
                        </a:spcAft>
                        <a:buNone/>
                      </a:pPr>
                      <a:r>
                        <a:rPr lang="en-US" sz="1100" dirty="0">
                          <a:solidFill>
                            <a:schemeClr val="lt1"/>
                          </a:solidFill>
                        </a:rPr>
                        <a:t>Methodology</a:t>
                      </a:r>
                      <a:endParaRPr sz="1100" dirty="0"/>
                    </a:p>
                  </a:txBody>
                  <a:tcPr/>
                </a:tc>
                <a:tc>
                  <a:txBody>
                    <a:bodyPr/>
                    <a:lstStyle/>
                    <a:p>
                      <a:pPr marL="0" marR="0" lvl="0" indent="0" algn="l" rtl="0">
                        <a:spcBef>
                          <a:spcPts val="0"/>
                        </a:spcBef>
                        <a:spcAft>
                          <a:spcPts val="0"/>
                        </a:spcAft>
                        <a:buNone/>
                      </a:pPr>
                      <a:r>
                        <a:rPr lang="en-US" sz="1100">
                          <a:solidFill>
                            <a:schemeClr val="lt1"/>
                          </a:solidFill>
                        </a:rPr>
                        <a:t>Disadvantages</a:t>
                      </a:r>
                      <a:endParaRPr sz="1100"/>
                    </a:p>
                  </a:txBody>
                  <a:tcPr/>
                </a:tc>
                <a:tc>
                  <a:txBody>
                    <a:bodyPr/>
                    <a:lstStyle/>
                    <a:p>
                      <a:pPr marL="0" marR="0" lvl="0" indent="0" algn="l" rtl="0">
                        <a:spcBef>
                          <a:spcPts val="0"/>
                        </a:spcBef>
                        <a:spcAft>
                          <a:spcPts val="0"/>
                        </a:spcAft>
                        <a:buNone/>
                      </a:pPr>
                      <a:r>
                        <a:rPr lang="en-US" sz="1100">
                          <a:solidFill>
                            <a:schemeClr val="lt1"/>
                          </a:solidFill>
                        </a:rPr>
                        <a:t>Advantages</a:t>
                      </a:r>
                      <a:endParaRPr sz="1100"/>
                    </a:p>
                  </a:txBody>
                  <a:tcPr/>
                </a:tc>
                <a:tc>
                  <a:txBody>
                    <a:bodyPr/>
                    <a:lstStyle/>
                    <a:p>
                      <a:pPr marL="0" marR="0" lvl="0" indent="0" algn="l" rtl="0">
                        <a:spcBef>
                          <a:spcPts val="0"/>
                        </a:spcBef>
                        <a:spcAft>
                          <a:spcPts val="0"/>
                        </a:spcAft>
                        <a:buNone/>
                      </a:pPr>
                      <a:r>
                        <a:rPr lang="en-US" sz="1100"/>
                        <a:t>Future Scope</a:t>
                      </a:r>
                      <a:endParaRPr sz="1100">
                        <a:solidFill>
                          <a:schemeClr val="lt1"/>
                        </a:solidFill>
                      </a:endParaRPr>
                    </a:p>
                  </a:txBody>
                  <a:tcPr/>
                </a:tc>
                <a:extLst>
                  <a:ext uri="{0D108BD9-81ED-4DB2-BD59-A6C34878D82A}">
                    <a16:rowId xmlns:a16="http://schemas.microsoft.com/office/drawing/2014/main" val="10000"/>
                  </a:ext>
                </a:extLst>
              </a:tr>
              <a:tr h="1458296">
                <a:tc>
                  <a:txBody>
                    <a:bodyPr/>
                    <a:lstStyle/>
                    <a:p>
                      <a:pPr marL="0" marR="0" lvl="0" indent="0" algn="l" rtl="0">
                        <a:spcBef>
                          <a:spcPts val="0"/>
                        </a:spcBef>
                        <a:spcAft>
                          <a:spcPts val="0"/>
                        </a:spcAft>
                        <a:buNone/>
                      </a:pPr>
                      <a:r>
                        <a:rPr lang="en-US" sz="1100" b="1" dirty="0">
                          <a:latin typeface="Times New Roman"/>
                          <a:ea typeface="Times New Roman"/>
                          <a:cs typeface="Times New Roman"/>
                          <a:sym typeface="Times New Roman"/>
                        </a:rPr>
                        <a:t>Glove Based American Sign Language Interpretation Using Convolutional Neural Network And Data Glass </a:t>
                      </a:r>
                      <a:endParaRPr lang="en-US" sz="1100" b="1" dirty="0">
                        <a:solidFill>
                          <a:schemeClr val="dk1"/>
                        </a:solidFill>
                        <a:latin typeface="Times New Roman"/>
                        <a:ea typeface="Times New Roman"/>
                        <a:cs typeface="Times New Roman"/>
                        <a:sym typeface="Times New Roman"/>
                      </a:endParaRPr>
                    </a:p>
                  </a:txBody>
                  <a:tcPr/>
                </a:tc>
                <a:tc>
                  <a:txBody>
                    <a:bodyPr/>
                    <a:lstStyle/>
                    <a:p>
                      <a:pPr marL="0" marR="0" lvl="0" indent="0" algn="l" rtl="0">
                        <a:spcBef>
                          <a:spcPts val="0"/>
                        </a:spcBef>
                        <a:spcAft>
                          <a:spcPts val="0"/>
                        </a:spcAft>
                        <a:buNone/>
                      </a:pPr>
                      <a:r>
                        <a:rPr lang="en-US" sz="1100" b="0" dirty="0">
                          <a:solidFill>
                            <a:schemeClr val="dk1"/>
                          </a:solidFill>
                        </a:rPr>
                        <a:t>2020</a:t>
                      </a:r>
                      <a:endParaRPr sz="1100" dirty="0"/>
                    </a:p>
                  </a:txBody>
                  <a:tcPr/>
                </a:tc>
                <a:tc>
                  <a:txBody>
                    <a:bodyPr/>
                    <a:lstStyle/>
                    <a:p>
                      <a:pPr marL="342900" marR="0" lvl="0" indent="-330200" algn="l" rtl="0">
                        <a:spcBef>
                          <a:spcPts val="0"/>
                        </a:spcBef>
                        <a:spcAft>
                          <a:spcPts val="0"/>
                        </a:spcAft>
                        <a:buClr>
                          <a:schemeClr val="dk1"/>
                        </a:buClr>
                        <a:buSzPts val="1100"/>
                        <a:buFont typeface="Times New Roman"/>
                        <a:buAutoNum type="arabicPeriod"/>
                      </a:pPr>
                      <a:r>
                        <a:rPr lang="en-US" sz="1100" dirty="0" err="1">
                          <a:latin typeface="Times New Roman"/>
                          <a:ea typeface="Times New Roman"/>
                          <a:cs typeface="Times New Roman"/>
                          <a:sym typeface="Times New Roman"/>
                        </a:rPr>
                        <a:t>Galib</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Ibne</a:t>
                      </a:r>
                      <a:r>
                        <a:rPr lang="en-US" sz="1100" dirty="0">
                          <a:latin typeface="Times New Roman"/>
                          <a:ea typeface="Times New Roman"/>
                          <a:cs typeface="Times New Roman"/>
                          <a:sym typeface="Times New Roman"/>
                        </a:rPr>
                        <a:t> Haidar</a:t>
                      </a:r>
                      <a:endParaRPr sz="1100" dirty="0">
                        <a:latin typeface="Times New Roman"/>
                        <a:ea typeface="Times New Roman"/>
                        <a:cs typeface="Times New Roman"/>
                        <a:sym typeface="Times New Roman"/>
                      </a:endParaRPr>
                    </a:p>
                    <a:p>
                      <a:pPr marL="342900" marR="0" lvl="0" indent="-330200" algn="l" rtl="0">
                        <a:spcBef>
                          <a:spcPts val="0"/>
                        </a:spcBef>
                        <a:spcAft>
                          <a:spcPts val="0"/>
                        </a:spcAft>
                        <a:buSzPts val="1100"/>
                        <a:buFont typeface="Times New Roman"/>
                        <a:buAutoNum type="arabicPeriod"/>
                      </a:pPr>
                      <a:r>
                        <a:rPr lang="en-US" sz="1100" dirty="0" err="1">
                          <a:latin typeface="Times New Roman"/>
                          <a:ea typeface="Times New Roman"/>
                          <a:cs typeface="Times New Roman"/>
                          <a:sym typeface="Times New Roman"/>
                        </a:rPr>
                        <a:t>Hasin</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Ishraq</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Reefat</a:t>
                      </a:r>
                      <a:endParaRPr sz="110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b="1" dirty="0">
                          <a:solidFill>
                            <a:schemeClr val="dk1"/>
                          </a:solidFill>
                          <a:latin typeface="Times New Roman"/>
                          <a:ea typeface="Times New Roman"/>
                          <a:cs typeface="Times New Roman"/>
                          <a:sym typeface="Times New Roman"/>
                        </a:rPr>
                        <a:t>Modeling Stage</a:t>
                      </a:r>
                    </a:p>
                    <a:p>
                      <a:pPr marL="158750" marR="0" lvl="0" indent="0" algn="l" rtl="0">
                        <a:spcBef>
                          <a:spcPts val="0"/>
                        </a:spcBef>
                        <a:spcAft>
                          <a:spcPts val="0"/>
                        </a:spcAft>
                        <a:buClr>
                          <a:schemeClr val="dk1"/>
                        </a:buClr>
                        <a:buSzPts val="1100"/>
                        <a:buFont typeface="Times New Roman"/>
                        <a:buNone/>
                      </a:pPr>
                      <a:r>
                        <a:rPr lang="en-US" sz="1000" b="0" dirty="0">
                          <a:solidFill>
                            <a:schemeClr val="dk1"/>
                          </a:solidFill>
                          <a:latin typeface="Times New Roman"/>
                          <a:ea typeface="Times New Roman"/>
                          <a:cs typeface="Times New Roman"/>
                          <a:sym typeface="Times New Roman"/>
                        </a:rPr>
                        <a:t>             Image extraction, color filtering,         cropping, scaling, greyscale conversion</a:t>
                      </a:r>
                    </a:p>
                    <a:p>
                      <a:pPr marL="457200" marR="0" lvl="0" indent="-298450" algn="l" rtl="0">
                        <a:spcBef>
                          <a:spcPts val="0"/>
                        </a:spcBef>
                        <a:spcAft>
                          <a:spcPts val="0"/>
                        </a:spcAft>
                        <a:buClr>
                          <a:schemeClr val="dk1"/>
                        </a:buClr>
                        <a:buSzPts val="1100"/>
                        <a:buFont typeface="Times New Roman"/>
                        <a:buChar char="●"/>
                      </a:pPr>
                      <a:r>
                        <a:rPr lang="en-US" sz="1100" b="1" dirty="0">
                          <a:solidFill>
                            <a:schemeClr val="dk1"/>
                          </a:solidFill>
                          <a:latin typeface="Times New Roman"/>
                          <a:ea typeface="Times New Roman"/>
                          <a:cs typeface="Times New Roman"/>
                          <a:sym typeface="Times New Roman"/>
                        </a:rPr>
                        <a:t>Predication Stage</a:t>
                      </a:r>
                    </a:p>
                    <a:p>
                      <a:pPr marL="158750" marR="0" lvl="0" indent="0" algn="l" rtl="0">
                        <a:spcBef>
                          <a:spcPts val="0"/>
                        </a:spcBef>
                        <a:spcAft>
                          <a:spcPts val="0"/>
                        </a:spcAft>
                        <a:buClr>
                          <a:schemeClr val="dk1"/>
                        </a:buClr>
                        <a:buSzPts val="1100"/>
                        <a:buFont typeface="Times New Roman"/>
                        <a:buNone/>
                      </a:pPr>
                      <a:r>
                        <a:rPr lang="en-US" sz="1000" dirty="0">
                          <a:solidFill>
                            <a:schemeClr val="dk1"/>
                          </a:solidFill>
                          <a:latin typeface="Times New Roman"/>
                          <a:ea typeface="Times New Roman"/>
                          <a:cs typeface="Times New Roman"/>
                          <a:sym typeface="Times New Roman"/>
                        </a:rPr>
                        <a:t>              Convolutional neural network</a:t>
                      </a:r>
                      <a:endParaRPr sz="1000" dirty="0">
                        <a:latin typeface="Times New Roman"/>
                        <a:ea typeface="Times New Roman"/>
                        <a:cs typeface="Times New Roman"/>
                        <a:sym typeface="Times New Roman"/>
                      </a:endParaRPr>
                    </a:p>
                    <a:p>
                      <a:pPr marL="457200" marR="0" lvl="0" indent="-298450" algn="l" rtl="0">
                        <a:spcBef>
                          <a:spcPts val="0"/>
                        </a:spcBef>
                        <a:spcAft>
                          <a:spcPts val="0"/>
                        </a:spcAft>
                        <a:buClr>
                          <a:schemeClr val="dk1"/>
                        </a:buClr>
                        <a:buSzPts val="1100"/>
                        <a:buFont typeface="Times New Roman"/>
                        <a:buChar char="●"/>
                      </a:pPr>
                      <a:r>
                        <a:rPr lang="en-IN" sz="1100" b="1" dirty="0">
                          <a:solidFill>
                            <a:schemeClr val="dk1"/>
                          </a:solidFill>
                          <a:latin typeface="Times New Roman"/>
                          <a:ea typeface="Times New Roman"/>
                          <a:cs typeface="Times New Roman"/>
                          <a:sym typeface="Times New Roman"/>
                        </a:rPr>
                        <a:t>Visual Stage</a:t>
                      </a:r>
                    </a:p>
                    <a:p>
                      <a:pPr marL="158750" marR="0" lvl="0" indent="0" algn="l" rtl="0">
                        <a:spcBef>
                          <a:spcPts val="0"/>
                        </a:spcBef>
                        <a:spcAft>
                          <a:spcPts val="0"/>
                        </a:spcAft>
                        <a:buClr>
                          <a:schemeClr val="dk1"/>
                        </a:buClr>
                        <a:buSzPts val="1100"/>
                        <a:buFont typeface="Times New Roman"/>
                        <a:buNone/>
                      </a:pPr>
                      <a:r>
                        <a:rPr lang="en-IN" sz="1000" dirty="0">
                          <a:solidFill>
                            <a:schemeClr val="dk1"/>
                          </a:solidFill>
                          <a:latin typeface="Times New Roman"/>
                          <a:ea typeface="Times New Roman"/>
                          <a:cs typeface="Times New Roman"/>
                          <a:sym typeface="Times New Roman"/>
                        </a:rPr>
                        <a:t>              OLED Display, Data Glass</a:t>
                      </a:r>
                      <a:endParaRPr sz="900" dirty="0">
                        <a:latin typeface="Times New Roman"/>
                        <a:ea typeface="Times New Roman"/>
                        <a:cs typeface="Times New Roman"/>
                        <a:sym typeface="Times New Roman"/>
                      </a:endParaRPr>
                    </a:p>
                    <a:p>
                      <a:pPr marL="457200" marR="0" lvl="0" indent="0" algn="l" rtl="0">
                        <a:spcBef>
                          <a:spcPts val="0"/>
                        </a:spcBef>
                        <a:spcAft>
                          <a:spcPts val="0"/>
                        </a:spcAft>
                        <a:buNone/>
                      </a:pPr>
                      <a:endParaRPr sz="1100" dirty="0">
                        <a:solidFill>
                          <a:schemeClr val="dk1"/>
                        </a:solidFill>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Just focused on identifying the features of sign language.</a:t>
                      </a:r>
                      <a:endParaRPr sz="1100" dirty="0">
                        <a:latin typeface="Times New Roman"/>
                        <a:ea typeface="Times New Roman"/>
                        <a:cs typeface="Times New Roman"/>
                        <a:sym typeface="Times New Roman"/>
                      </a:endParaRPr>
                    </a:p>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No conversion of hand</a:t>
                      </a:r>
                      <a:r>
                        <a:rPr lang="en-US" sz="1100" dirty="0">
                          <a:latin typeface="Times New Roman"/>
                          <a:ea typeface="Times New Roman"/>
                          <a:cs typeface="Times New Roman"/>
                          <a:sym typeface="Times New Roman"/>
                        </a:rPr>
                        <a:t> </a:t>
                      </a:r>
                      <a:r>
                        <a:rPr lang="en-US" sz="1100" dirty="0">
                          <a:solidFill>
                            <a:schemeClr val="dk1"/>
                          </a:solidFill>
                          <a:latin typeface="Times New Roman"/>
                          <a:ea typeface="Times New Roman"/>
                          <a:cs typeface="Times New Roman"/>
                          <a:sym typeface="Times New Roman"/>
                        </a:rPr>
                        <a:t>gest </a:t>
                      </a:r>
                      <a:r>
                        <a:rPr lang="en-US" sz="1100" dirty="0" err="1">
                          <a:solidFill>
                            <a:schemeClr val="dk1"/>
                          </a:solidFill>
                          <a:latin typeface="Times New Roman"/>
                          <a:ea typeface="Times New Roman"/>
                          <a:cs typeface="Times New Roman"/>
                          <a:sym typeface="Times New Roman"/>
                        </a:rPr>
                        <a:t>ures</a:t>
                      </a:r>
                      <a:r>
                        <a:rPr lang="en-US" sz="1100" dirty="0">
                          <a:solidFill>
                            <a:schemeClr val="dk1"/>
                          </a:solidFill>
                          <a:latin typeface="Times New Roman"/>
                          <a:ea typeface="Times New Roman"/>
                          <a:cs typeface="Times New Roman"/>
                          <a:sym typeface="Times New Roman"/>
                        </a:rPr>
                        <a:t> into text or voice</a:t>
                      </a:r>
                      <a:endParaRPr sz="110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Meaning of different hand gestures is accurately interpreted</a:t>
                      </a:r>
                    </a:p>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Accuracy is 99.8%</a:t>
                      </a:r>
                      <a:endParaRPr sz="110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SzPts val="1100"/>
                        <a:buFont typeface="Times New Roman"/>
                        <a:buChar char="●"/>
                      </a:pPr>
                      <a:r>
                        <a:rPr lang="en-US" sz="1100">
                          <a:latin typeface="Times New Roman"/>
                          <a:ea typeface="Times New Roman"/>
                          <a:cs typeface="Times New Roman"/>
                          <a:sym typeface="Times New Roman"/>
                        </a:rPr>
                        <a:t>    we have used a raspberry-pi 3 to process the images and match it against the neural network model and predict the signs.But it is bulky and heavy.</a:t>
                      </a:r>
                      <a:endParaRPr sz="1100">
                        <a:solidFill>
                          <a:schemeClr val="dk1"/>
                        </a:solidFill>
                        <a:latin typeface="Times New Roman"/>
                        <a:ea typeface="Times New Roman"/>
                        <a:cs typeface="Times New Roman"/>
                        <a:sym typeface="Times New Roman"/>
                      </a:endParaRPr>
                    </a:p>
                  </a:txBody>
                  <a:tcPr/>
                </a:tc>
                <a:extLst>
                  <a:ext uri="{0D108BD9-81ED-4DB2-BD59-A6C34878D82A}">
                    <a16:rowId xmlns:a16="http://schemas.microsoft.com/office/drawing/2014/main" val="10001"/>
                  </a:ext>
                </a:extLst>
              </a:tr>
              <a:tr h="1962823">
                <a:tc>
                  <a:txBody>
                    <a:bodyPr/>
                    <a:lstStyle/>
                    <a:p>
                      <a:pPr marL="0" marR="0" lvl="0" indent="0" algn="l" rtl="0">
                        <a:spcBef>
                          <a:spcPts val="0"/>
                        </a:spcBef>
                        <a:spcAft>
                          <a:spcPts val="0"/>
                        </a:spcAft>
                        <a:buNone/>
                      </a:pPr>
                      <a:r>
                        <a:rPr lang="en-US" sz="1100" b="1" dirty="0">
                          <a:latin typeface="Times New Roman"/>
                          <a:ea typeface="Times New Roman"/>
                          <a:cs typeface="Times New Roman"/>
                          <a:sym typeface="Times New Roman"/>
                        </a:rPr>
                        <a:t>Towards Multilingual Sign Language Recognition</a:t>
                      </a:r>
                      <a:endParaRPr lang="en-US" sz="1100" b="1" dirty="0">
                        <a:solidFill>
                          <a:schemeClr val="dk1"/>
                        </a:solidFill>
                        <a:latin typeface="Times New Roman"/>
                        <a:ea typeface="Times New Roman"/>
                        <a:cs typeface="Times New Roman"/>
                        <a:sym typeface="Times New Roman"/>
                      </a:endParaRPr>
                    </a:p>
                  </a:txBody>
                  <a:tcPr/>
                </a:tc>
                <a:tc>
                  <a:txBody>
                    <a:bodyPr/>
                    <a:lstStyle/>
                    <a:p>
                      <a:pPr marL="0" marR="0" lvl="0" indent="0" algn="l" rtl="0">
                        <a:lnSpc>
                          <a:spcPct val="100000"/>
                        </a:lnSpc>
                        <a:spcBef>
                          <a:spcPts val="0"/>
                        </a:spcBef>
                        <a:spcAft>
                          <a:spcPts val="0"/>
                        </a:spcAft>
                        <a:buClr>
                          <a:schemeClr val="dk1"/>
                        </a:buClr>
                        <a:buSzPts val="1300"/>
                        <a:buFont typeface="Calibri"/>
                        <a:buNone/>
                      </a:pPr>
                      <a:r>
                        <a:rPr lang="en-US" sz="1100">
                          <a:solidFill>
                            <a:schemeClr val="dk1"/>
                          </a:solidFill>
                        </a:rPr>
                        <a:t>2020</a:t>
                      </a:r>
                      <a:endParaRPr sz="1100"/>
                    </a:p>
                    <a:p>
                      <a:pPr marL="0" marR="0" lvl="0" indent="0" algn="l" rtl="0">
                        <a:spcBef>
                          <a:spcPts val="0"/>
                        </a:spcBef>
                        <a:spcAft>
                          <a:spcPts val="0"/>
                        </a:spcAft>
                        <a:buClr>
                          <a:schemeClr val="dk1"/>
                        </a:buClr>
                        <a:buSzPts val="1300"/>
                        <a:buFont typeface="Calibri"/>
                        <a:buNone/>
                      </a:pPr>
                      <a:endParaRPr sz="1100">
                        <a:solidFill>
                          <a:schemeClr val="dk1"/>
                        </a:solidFill>
                      </a:endParaRPr>
                    </a:p>
                  </a:txBody>
                  <a:tcPr/>
                </a:tc>
                <a:tc>
                  <a:txBody>
                    <a:bodyPr/>
                    <a:lstStyle/>
                    <a:p>
                      <a:pPr marL="342900" marR="0" lvl="0" indent="-330200" algn="l" rtl="0">
                        <a:spcBef>
                          <a:spcPts val="0"/>
                        </a:spcBef>
                        <a:spcAft>
                          <a:spcPts val="0"/>
                        </a:spcAft>
                        <a:buClr>
                          <a:schemeClr val="dk1"/>
                        </a:buClr>
                        <a:buSzPts val="1100"/>
                        <a:buFont typeface="Times New Roman"/>
                        <a:buAutoNum type="arabicPeriod"/>
                      </a:pPr>
                      <a:r>
                        <a:rPr lang="en-US" sz="1100">
                          <a:latin typeface="Times New Roman"/>
                          <a:ea typeface="Times New Roman"/>
                          <a:cs typeface="Times New Roman"/>
                          <a:sym typeface="Times New Roman"/>
                        </a:rPr>
                        <a:t>Sandrine Tornay</a:t>
                      </a:r>
                      <a:endParaRPr sz="1100">
                        <a:latin typeface="Times New Roman"/>
                        <a:ea typeface="Times New Roman"/>
                        <a:cs typeface="Times New Roman"/>
                        <a:sym typeface="Times New Roman"/>
                      </a:endParaRPr>
                    </a:p>
                    <a:p>
                      <a:pPr marL="342900" marR="0" lvl="0" indent="-330200" algn="l" rtl="0">
                        <a:spcBef>
                          <a:spcPts val="0"/>
                        </a:spcBef>
                        <a:spcAft>
                          <a:spcPts val="0"/>
                        </a:spcAft>
                        <a:buClr>
                          <a:schemeClr val="dk1"/>
                        </a:buClr>
                        <a:buSzPts val="1100"/>
                        <a:buFont typeface="Times New Roman"/>
                        <a:buAutoNum type="arabicPeriod"/>
                      </a:pPr>
                      <a:r>
                        <a:rPr lang="en-US" sz="1100">
                          <a:latin typeface="Times New Roman"/>
                          <a:ea typeface="Times New Roman"/>
                          <a:cs typeface="Times New Roman"/>
                          <a:sym typeface="Times New Roman"/>
                        </a:rPr>
                        <a:t>Marzieh Razavi</a:t>
                      </a:r>
                      <a:endParaRPr sz="1100" i="0" u="none" strike="noStrike">
                        <a:solidFill>
                          <a:schemeClr val="dk1"/>
                        </a:solidFill>
                        <a:latin typeface="Times New Roman"/>
                        <a:ea typeface="Times New Roman"/>
                        <a:cs typeface="Times New Roman"/>
                        <a:sym typeface="Times New Roman"/>
                      </a:endParaRPr>
                    </a:p>
                    <a:p>
                      <a:pPr marL="342900" marR="0" lvl="0" indent="-330200" algn="l" rtl="0">
                        <a:spcBef>
                          <a:spcPts val="0"/>
                        </a:spcBef>
                        <a:spcAft>
                          <a:spcPts val="0"/>
                        </a:spcAft>
                        <a:buClr>
                          <a:schemeClr val="dk1"/>
                        </a:buClr>
                        <a:buSzPts val="1100"/>
                        <a:buFont typeface="Times New Roman"/>
                        <a:buAutoNum type="arabicPeriod"/>
                      </a:pPr>
                      <a:r>
                        <a:rPr lang="en-US" sz="1100">
                          <a:latin typeface="Times New Roman"/>
                          <a:ea typeface="Times New Roman"/>
                          <a:cs typeface="Times New Roman"/>
                          <a:sym typeface="Times New Roman"/>
                        </a:rPr>
                        <a:t>Mathew Magimai.-Doss</a:t>
                      </a:r>
                      <a:endParaRPr sz="110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Calibri"/>
                        <a:buNone/>
                      </a:pPr>
                      <a:endParaRPr sz="11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Calibri"/>
                        <a:buNone/>
                      </a:pPr>
                      <a:endParaRPr sz="1100">
                        <a:solidFill>
                          <a:schemeClr val="dk1"/>
                        </a:solidFill>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SzPts val="1100"/>
                        <a:buFont typeface="Times New Roman"/>
                        <a:buChar char="●"/>
                      </a:pPr>
                      <a:r>
                        <a:rPr lang="en-US" sz="1100" b="1" dirty="0">
                          <a:latin typeface="Times New Roman"/>
                          <a:ea typeface="Times New Roman"/>
                          <a:cs typeface="Times New Roman"/>
                          <a:sym typeface="Times New Roman"/>
                        </a:rPr>
                        <a:t> </a:t>
                      </a:r>
                      <a:r>
                        <a:rPr lang="en-US" sz="1100" b="1" dirty="0" err="1">
                          <a:latin typeface="Times New Roman"/>
                          <a:ea typeface="Times New Roman"/>
                          <a:cs typeface="Times New Roman"/>
                          <a:sym typeface="Times New Roman"/>
                        </a:rPr>
                        <a:t>Kullback-Leibler</a:t>
                      </a:r>
                      <a:r>
                        <a:rPr lang="en-US" sz="1100" b="1" dirty="0">
                          <a:latin typeface="Times New Roman"/>
                          <a:ea typeface="Times New Roman"/>
                          <a:cs typeface="Times New Roman"/>
                          <a:sym typeface="Times New Roman"/>
                        </a:rPr>
                        <a:t> </a:t>
                      </a:r>
                      <a:r>
                        <a:rPr lang="en-US" sz="1100" b="1" dirty="0" err="1">
                          <a:latin typeface="Times New Roman"/>
                          <a:ea typeface="Times New Roman"/>
                          <a:cs typeface="Times New Roman"/>
                          <a:sym typeface="Times New Roman"/>
                        </a:rPr>
                        <a:t>Divergance</a:t>
                      </a:r>
                      <a:r>
                        <a:rPr lang="en-US" sz="1100" b="1" dirty="0">
                          <a:latin typeface="Times New Roman"/>
                          <a:ea typeface="Times New Roman"/>
                          <a:cs typeface="Times New Roman"/>
                          <a:sym typeface="Times New Roman"/>
                        </a:rPr>
                        <a:t> HMM</a:t>
                      </a:r>
                    </a:p>
                    <a:p>
                      <a:pPr marL="158750" marR="0" lvl="0" indent="0" algn="l" rtl="0">
                        <a:spcBef>
                          <a:spcPts val="0"/>
                        </a:spcBef>
                        <a:spcAft>
                          <a:spcPts val="0"/>
                        </a:spcAft>
                        <a:buSzPts val="1100"/>
                        <a:buFont typeface="Times New Roman"/>
                        <a:buNone/>
                      </a:pPr>
                      <a:endParaRPr lang="en-US" sz="1100" b="1" dirty="0">
                        <a:latin typeface="Times New Roman"/>
                        <a:ea typeface="Times New Roman"/>
                        <a:cs typeface="Times New Roman"/>
                        <a:sym typeface="Times New Roman"/>
                      </a:endParaRPr>
                    </a:p>
                    <a:p>
                      <a:pPr marL="158750" marR="0" lvl="0" indent="0" algn="l" rtl="0">
                        <a:spcBef>
                          <a:spcPts val="0"/>
                        </a:spcBef>
                        <a:spcAft>
                          <a:spcPts val="0"/>
                        </a:spcAft>
                        <a:buSzPts val="1100"/>
                        <a:buFont typeface="Times New Roman"/>
                        <a:buNone/>
                      </a:pPr>
                      <a:r>
                        <a:rPr lang="en-IN" sz="1050" b="0" dirty="0">
                          <a:latin typeface="Times New Roman"/>
                          <a:ea typeface="Times New Roman"/>
                          <a:cs typeface="Times New Roman"/>
                          <a:sym typeface="Times New Roman"/>
                        </a:rPr>
                        <a:t>In this approach, the feature observations are probabilistic (posterior distributions). Each HMM state is parameterized by a category distribution of the same dimension as the feature observation and there parameters are estimated though embedded Viterbi expectation maximization algorithm with cost function based ok K-L Divergence.</a:t>
                      </a:r>
                      <a:endParaRPr sz="1050" b="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The English language is converted into sign language.</a:t>
                      </a:r>
                      <a:endParaRPr sz="1100" dirty="0">
                        <a:latin typeface="Times New Roman"/>
                        <a:ea typeface="Times New Roman"/>
                        <a:cs typeface="Times New Roman"/>
                        <a:sym typeface="Times New Roman"/>
                      </a:endParaRPr>
                    </a:p>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Only normal people can understand the language not the disabled ones</a:t>
                      </a:r>
                      <a:endParaRPr sz="110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Using Mobile applications is easy and feasible to use.</a:t>
                      </a:r>
                      <a:endParaRPr sz="110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SzPts val="1100"/>
                        <a:buFont typeface="Times New Roman"/>
                        <a:buChar char="●"/>
                      </a:pPr>
                      <a:r>
                        <a:rPr lang="en-US" sz="1100">
                          <a:latin typeface="Times New Roman"/>
                          <a:ea typeface="Times New Roman"/>
                          <a:cs typeface="Times New Roman"/>
                          <a:sym typeface="Times New Roman"/>
                        </a:rPr>
                        <a:t>Our future work will build upon these finding to address resource constraint issues in sign language processing such as, developing systems with reduced number of signers and examples. </a:t>
                      </a:r>
                      <a:endParaRPr sz="1100">
                        <a:latin typeface="Times New Roman"/>
                        <a:ea typeface="Times New Roman"/>
                        <a:cs typeface="Times New Roman"/>
                        <a:sym typeface="Times New Roman"/>
                      </a:endParaRPr>
                    </a:p>
                    <a:p>
                      <a:pPr marL="457200" marR="0" lvl="0" indent="-298450" algn="l" rtl="0">
                        <a:spcBef>
                          <a:spcPts val="0"/>
                        </a:spcBef>
                        <a:spcAft>
                          <a:spcPts val="0"/>
                        </a:spcAft>
                        <a:buSzPts val="1100"/>
                        <a:buFont typeface="Times New Roman"/>
                        <a:buChar char="●"/>
                      </a:pPr>
                      <a:r>
                        <a:rPr lang="en-US" sz="1100">
                          <a:latin typeface="Times New Roman"/>
                          <a:ea typeface="Times New Roman"/>
                          <a:cs typeface="Times New Roman"/>
                          <a:sym typeface="Times New Roman"/>
                        </a:rPr>
                        <a:t>In addition, we will also investigate whether such a multilingual approach can be applied for sign language assessment. </a:t>
                      </a:r>
                      <a:endParaRPr sz="1100">
                        <a:solidFill>
                          <a:schemeClr val="dk1"/>
                        </a:solidFill>
                        <a:latin typeface="Times New Roman"/>
                        <a:ea typeface="Times New Roman"/>
                        <a:cs typeface="Times New Roman"/>
                        <a:sym typeface="Times New Roman"/>
                      </a:endParaRPr>
                    </a:p>
                  </a:txBody>
                  <a:tcPr/>
                </a:tc>
                <a:extLst>
                  <a:ext uri="{0D108BD9-81ED-4DB2-BD59-A6C34878D82A}">
                    <a16:rowId xmlns:a16="http://schemas.microsoft.com/office/drawing/2014/main" val="10002"/>
                  </a:ext>
                </a:extLst>
              </a:tr>
              <a:tr h="1759379">
                <a:tc>
                  <a:txBody>
                    <a:bodyPr/>
                    <a:lstStyle/>
                    <a:p>
                      <a:pPr marL="0" marR="0" lvl="0" indent="0" algn="l" rtl="0">
                        <a:spcBef>
                          <a:spcPts val="0"/>
                        </a:spcBef>
                        <a:spcAft>
                          <a:spcPts val="0"/>
                        </a:spcAft>
                        <a:buNone/>
                      </a:pPr>
                      <a:r>
                        <a:rPr lang="en-US" sz="1100" b="1" dirty="0">
                          <a:latin typeface="Times New Roman"/>
                          <a:ea typeface="Times New Roman"/>
                          <a:cs typeface="Times New Roman"/>
                          <a:sym typeface="Times New Roman"/>
                        </a:rPr>
                        <a:t>Sign Language Recognition Using Template Matching Technique </a:t>
                      </a:r>
                      <a:endParaRPr lang="en-US" sz="1100" b="1" dirty="0">
                        <a:solidFill>
                          <a:schemeClr val="dk1"/>
                        </a:solidFill>
                        <a:latin typeface="Times New Roman"/>
                        <a:ea typeface="Times New Roman"/>
                        <a:cs typeface="Times New Roman"/>
                        <a:sym typeface="Times New Roman"/>
                      </a:endParaRPr>
                    </a:p>
                  </a:txBody>
                  <a:tcPr/>
                </a:tc>
                <a:tc>
                  <a:txBody>
                    <a:bodyPr/>
                    <a:lstStyle/>
                    <a:p>
                      <a:pPr marL="0" marR="0" lvl="0" indent="0" algn="l" rtl="0">
                        <a:spcBef>
                          <a:spcPts val="0"/>
                        </a:spcBef>
                        <a:spcAft>
                          <a:spcPts val="0"/>
                        </a:spcAft>
                        <a:buNone/>
                      </a:pPr>
                      <a:r>
                        <a:rPr lang="en-US" sz="1100">
                          <a:solidFill>
                            <a:schemeClr val="dk1"/>
                          </a:solidFill>
                        </a:rPr>
                        <a:t>2020</a:t>
                      </a:r>
                      <a:endParaRPr sz="1100"/>
                    </a:p>
                  </a:txBody>
                  <a:tcPr/>
                </a:tc>
                <a:tc>
                  <a:txBody>
                    <a:bodyPr/>
                    <a:lstStyle/>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a:latin typeface="Times New Roman"/>
                          <a:ea typeface="Times New Roman"/>
                          <a:cs typeface="Times New Roman"/>
                          <a:sym typeface="Times New Roman"/>
                        </a:rPr>
                        <a:t>Soma Shrenika</a:t>
                      </a:r>
                      <a:endParaRPr sz="1100" i="0" u="none" strike="noStrike">
                        <a:solidFill>
                          <a:schemeClr val="dk1"/>
                        </a:solidFill>
                        <a:latin typeface="Times New Roman"/>
                        <a:ea typeface="Times New Roman"/>
                        <a:cs typeface="Times New Roman"/>
                        <a:sym typeface="Times New Roman"/>
                      </a:endParaRPr>
                    </a:p>
                    <a:p>
                      <a:pPr marL="342900" marR="0" lvl="0" indent="-330200" algn="l" rtl="0">
                        <a:lnSpc>
                          <a:spcPct val="100000"/>
                        </a:lnSpc>
                        <a:spcBef>
                          <a:spcPts val="0"/>
                        </a:spcBef>
                        <a:spcAft>
                          <a:spcPts val="0"/>
                        </a:spcAft>
                        <a:buClr>
                          <a:schemeClr val="dk1"/>
                        </a:buClr>
                        <a:buSzPts val="1100"/>
                        <a:buFont typeface="Times New Roman"/>
                        <a:buAutoNum type="arabicPeriod"/>
                      </a:pPr>
                      <a:r>
                        <a:rPr lang="en-US" sz="1100">
                          <a:latin typeface="Times New Roman"/>
                          <a:ea typeface="Times New Roman"/>
                          <a:cs typeface="Times New Roman"/>
                          <a:sym typeface="Times New Roman"/>
                        </a:rPr>
                        <a:t>Myneni Madhu Bala</a:t>
                      </a:r>
                      <a:endParaRPr sz="1100">
                        <a:solidFill>
                          <a:schemeClr val="dk1"/>
                        </a:solidFill>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SzPts val="1100"/>
                        <a:buFont typeface="Times New Roman"/>
                        <a:buChar char="●"/>
                      </a:pPr>
                      <a:r>
                        <a:rPr lang="en-US" sz="1100" b="1" dirty="0">
                          <a:latin typeface="Times New Roman"/>
                          <a:ea typeface="Times New Roman"/>
                          <a:cs typeface="Times New Roman"/>
                          <a:sym typeface="Times New Roman"/>
                        </a:rPr>
                        <a:t>Novel Transformer</a:t>
                      </a:r>
                    </a:p>
                    <a:p>
                      <a:pPr marL="158750" marR="0" lvl="0" indent="0" algn="l" rtl="0">
                        <a:spcBef>
                          <a:spcPts val="0"/>
                        </a:spcBef>
                        <a:spcAft>
                          <a:spcPts val="0"/>
                        </a:spcAft>
                        <a:buSzPts val="1100"/>
                        <a:buFont typeface="Times New Roman"/>
                        <a:buNone/>
                      </a:pPr>
                      <a:endParaRPr lang="en-US" sz="1100" b="1" dirty="0">
                        <a:latin typeface="Times New Roman"/>
                        <a:ea typeface="Times New Roman"/>
                        <a:cs typeface="Times New Roman"/>
                        <a:sym typeface="Times New Roman"/>
                      </a:endParaRPr>
                    </a:p>
                    <a:p>
                      <a:pPr marL="158750" marR="0" lvl="0" indent="0" algn="l" rtl="0">
                        <a:spcBef>
                          <a:spcPts val="0"/>
                        </a:spcBef>
                        <a:spcAft>
                          <a:spcPts val="0"/>
                        </a:spcAft>
                        <a:buSzPts val="1100"/>
                        <a:buFont typeface="Times New Roman"/>
                        <a:buNone/>
                      </a:pPr>
                      <a:r>
                        <a:rPr lang="en-US" sz="1100" b="0" dirty="0">
                          <a:latin typeface="Times New Roman"/>
                          <a:ea typeface="Times New Roman"/>
                          <a:cs typeface="Times New Roman"/>
                          <a:sym typeface="Times New Roman"/>
                        </a:rPr>
                        <a:t>This method jointly learn sign language recognition and translation in a end-to-end manner. They have utilized CTC loss to inject gloss level supervision into the transformer encoder. Training it to do sign language while learning meaningful representations for end goal of sign language translation.</a:t>
                      </a:r>
                      <a:endParaRPr sz="1050" b="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a:solidFill>
                            <a:schemeClr val="dk1"/>
                          </a:solidFill>
                          <a:latin typeface="Times New Roman"/>
                          <a:ea typeface="Times New Roman"/>
                          <a:cs typeface="Times New Roman"/>
                          <a:sym typeface="Times New Roman"/>
                        </a:rPr>
                        <a:t>Deals with sign language with limited vocabulary.</a:t>
                      </a:r>
                      <a:endParaRPr sz="1100">
                        <a:latin typeface="Times New Roman"/>
                        <a:ea typeface="Times New Roman"/>
                        <a:cs typeface="Times New Roman"/>
                        <a:sym typeface="Times New Roman"/>
                      </a:endParaRPr>
                    </a:p>
                    <a:p>
                      <a:pPr marL="457200" marR="0" lvl="0" indent="-298450" algn="l" rtl="0">
                        <a:spcBef>
                          <a:spcPts val="0"/>
                        </a:spcBef>
                        <a:spcAft>
                          <a:spcPts val="0"/>
                        </a:spcAft>
                        <a:buClr>
                          <a:schemeClr val="dk1"/>
                        </a:buClr>
                        <a:buSzPts val="1100"/>
                        <a:buFont typeface="Times New Roman"/>
                        <a:buChar char="●"/>
                      </a:pPr>
                      <a:r>
                        <a:rPr lang="en-US" sz="1100">
                          <a:solidFill>
                            <a:schemeClr val="dk1"/>
                          </a:solidFill>
                          <a:latin typeface="Times New Roman"/>
                          <a:ea typeface="Times New Roman"/>
                          <a:cs typeface="Times New Roman"/>
                          <a:sym typeface="Times New Roman"/>
                        </a:rPr>
                        <a:t>Works with static images, does not capture real-time video.</a:t>
                      </a:r>
                      <a:endParaRPr sz="110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Recognition of more than 2 human-understandable languages.</a:t>
                      </a:r>
                      <a:endParaRPr sz="1100" dirty="0">
                        <a:latin typeface="Times New Roman"/>
                        <a:ea typeface="Times New Roman"/>
                        <a:cs typeface="Times New Roman"/>
                        <a:sym typeface="Times New Roman"/>
                      </a:endParaRPr>
                    </a:p>
                    <a:p>
                      <a:pPr marL="457200" marR="0" lvl="0" indent="-298450" algn="l" rtl="0">
                        <a:spcBef>
                          <a:spcPts val="0"/>
                        </a:spcBef>
                        <a:spcAft>
                          <a:spcPts val="0"/>
                        </a:spcAft>
                        <a:buClr>
                          <a:schemeClr val="dk1"/>
                        </a:buClr>
                        <a:buSzPts val="1100"/>
                        <a:buFont typeface="Times New Roman"/>
                        <a:buChar char="●"/>
                      </a:pPr>
                      <a:r>
                        <a:rPr lang="en-US" sz="1100" dirty="0">
                          <a:solidFill>
                            <a:schemeClr val="dk1"/>
                          </a:solidFill>
                          <a:latin typeface="Times New Roman"/>
                          <a:ea typeface="Times New Roman"/>
                          <a:cs typeface="Times New Roman"/>
                          <a:sym typeface="Times New Roman"/>
                        </a:rPr>
                        <a:t>Does not require any kind of database and special instruments</a:t>
                      </a:r>
                      <a:endParaRPr sz="1100" dirty="0">
                        <a:latin typeface="Times New Roman"/>
                        <a:ea typeface="Times New Roman"/>
                        <a:cs typeface="Times New Roman"/>
                        <a:sym typeface="Times New Roman"/>
                      </a:endParaRPr>
                    </a:p>
                  </a:txBody>
                  <a:tcPr/>
                </a:tc>
                <a:tc>
                  <a:txBody>
                    <a:bodyPr/>
                    <a:lstStyle/>
                    <a:p>
                      <a:pPr marL="457200" marR="0" lvl="0" indent="-298450" algn="l" rtl="0">
                        <a:spcBef>
                          <a:spcPts val="0"/>
                        </a:spcBef>
                        <a:spcAft>
                          <a:spcPts val="0"/>
                        </a:spcAft>
                        <a:buSzPts val="1100"/>
                        <a:buFont typeface="Times New Roman"/>
                        <a:buChar char="●"/>
                      </a:pPr>
                      <a:r>
                        <a:rPr lang="en-US" sz="1100" dirty="0">
                          <a:latin typeface="Times New Roman"/>
                          <a:ea typeface="Times New Roman"/>
                          <a:cs typeface="Times New Roman"/>
                          <a:sym typeface="Times New Roman"/>
                        </a:rPr>
                        <a:t>The process includes removal of noise and other less important data and applying smoothing algorithm to image, finding gradient magnitude followed by tracking the edges by hysteresis. </a:t>
                      </a:r>
                      <a:endParaRPr sz="1100" dirty="0">
                        <a:solidFill>
                          <a:schemeClr val="dk1"/>
                        </a:solidFill>
                        <a:latin typeface="Times New Roman"/>
                        <a:ea typeface="Times New Roman"/>
                        <a:cs typeface="Times New Roman"/>
                        <a:sym typeface="Times New Roman"/>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0526732"/>
      </p:ext>
    </p:extLst>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solidFill>
                  <a:schemeClr val="dk1"/>
                </a:solidFill>
                <a:latin typeface="Calibri"/>
                <a:ea typeface="Calibri"/>
                <a:cs typeface="Calibri"/>
                <a:sym typeface="Calibri"/>
              </a:rPr>
              <a:t>System Architecture</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4" name="Google Shape;188;p20">
            <a:extLst>
              <a:ext uri="{FF2B5EF4-FFF2-40B4-BE49-F238E27FC236}">
                <a16:creationId xmlns:a16="http://schemas.microsoft.com/office/drawing/2014/main" id="{A24FFEEA-4895-4677-B486-884BC931F78B}"/>
              </a:ext>
            </a:extLst>
          </p:cNvPr>
          <p:cNvPicPr preferRelativeResize="0"/>
          <p:nvPr/>
        </p:nvPicPr>
        <p:blipFill rotWithShape="1">
          <a:blip r:embed="rId3">
            <a:alphaModFix/>
          </a:blip>
          <a:srcRect/>
          <a:stretch/>
        </p:blipFill>
        <p:spPr>
          <a:xfrm>
            <a:off x="1429337" y="1410166"/>
            <a:ext cx="10251383" cy="5335848"/>
          </a:xfrm>
          <a:prstGeom prst="rect">
            <a:avLst/>
          </a:prstGeom>
          <a:noFill/>
          <a:ln>
            <a:noFill/>
          </a:ln>
        </p:spPr>
      </p:pic>
    </p:spTree>
    <p:extLst>
      <p:ext uri="{BB962C8B-B14F-4D97-AF65-F5344CB8AC3E}">
        <p14:creationId xmlns:p14="http://schemas.microsoft.com/office/powerpoint/2010/main" val="2430045267"/>
      </p:ext>
    </p:extLst>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latin typeface="Calibri"/>
                <a:ea typeface="Calibri"/>
                <a:cs typeface="Calibri"/>
                <a:sym typeface="Calibri"/>
              </a:rPr>
              <a:t>Methodology</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225334" y="1431788"/>
            <a:ext cx="10712986" cy="2123628"/>
          </a:xfrm>
          <a:prstGeom prst="rect">
            <a:avLst/>
          </a:prstGeom>
          <a:noFill/>
          <a:ln>
            <a:noFill/>
          </a:ln>
        </p:spPr>
        <p:txBody>
          <a:bodyPr spcFirstLastPara="1" wrap="square" lIns="91425" tIns="91425" rIns="91425" bIns="91425" anchor="t" anchorCtr="0">
            <a:spAutoFit/>
          </a:bodyPr>
          <a:lstStyle/>
          <a:p>
            <a:pPr lvl="0" algn="just" rtl="0">
              <a:lnSpc>
                <a:spcPct val="150000"/>
              </a:lnSpc>
              <a:spcBef>
                <a:spcPts val="0"/>
              </a:spcBef>
              <a:spcAft>
                <a:spcPts val="0"/>
              </a:spcAft>
            </a:pPr>
            <a:r>
              <a:rPr lang="en-US" sz="2400" b="1" dirty="0">
                <a:solidFill>
                  <a:schemeClr val="tx1"/>
                </a:solidFill>
                <a:latin typeface="Times New Roman" panose="02020603050405020304" pitchFamily="18" charset="0"/>
                <a:cs typeface="Times New Roman" panose="02020603050405020304" pitchFamily="18" charset="0"/>
              </a:rPr>
              <a:t>Modeling Stage</a:t>
            </a:r>
          </a:p>
          <a:p>
            <a:pPr marL="342900" lvl="0" indent="-342900" algn="just" rtl="0">
              <a:lnSpc>
                <a:spcPct val="150000"/>
              </a:lnSpc>
              <a:spcBef>
                <a:spcPts val="0"/>
              </a:spcBef>
              <a:spcAft>
                <a:spcPts val="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System would take, video feed as input, from which </a:t>
            </a:r>
            <a:r>
              <a:rPr lang="en-US" sz="2000" b="1" dirty="0">
                <a:solidFill>
                  <a:schemeClr val="tx1"/>
                </a:solidFill>
                <a:latin typeface="Times New Roman" panose="02020603050405020304" pitchFamily="18" charset="0"/>
                <a:cs typeface="Times New Roman" panose="02020603050405020304" pitchFamily="18" charset="0"/>
              </a:rPr>
              <a:t>Image would be extracted.</a:t>
            </a:r>
          </a:p>
          <a:p>
            <a:pPr marL="342900" lvl="0" indent="-342900" algn="just" rtl="0">
              <a:lnSpc>
                <a:spcPct val="150000"/>
              </a:lnSpc>
              <a:spcBef>
                <a:spcPts val="0"/>
              </a:spcBef>
              <a:spcAft>
                <a:spcPts val="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Image would be cropped and scaled to fixed ratio.</a:t>
            </a:r>
          </a:p>
          <a:p>
            <a:pPr marL="342900" lvl="0" indent="-342900" algn="just" rtl="0">
              <a:lnSpc>
                <a:spcPct val="150000"/>
              </a:lnSpc>
              <a:spcBef>
                <a:spcPts val="0"/>
              </a:spcBef>
              <a:spcAft>
                <a:spcPts val="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Colored image would be converted to greyscale image</a:t>
            </a:r>
          </a:p>
        </p:txBody>
      </p:sp>
    </p:spTree>
    <p:extLst>
      <p:ext uri="{BB962C8B-B14F-4D97-AF65-F5344CB8AC3E}">
        <p14:creationId xmlns:p14="http://schemas.microsoft.com/office/powerpoint/2010/main" val="1411529312"/>
      </p:ext>
    </p:extLst>
  </p:cSld>
  <p:clrMapOvr>
    <a:masterClrMapping/>
  </p:clrMapOvr>
  <p:transition spd="med">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latin typeface="Calibri"/>
                <a:ea typeface="Calibri"/>
                <a:cs typeface="Calibri"/>
                <a:sym typeface="Calibri"/>
              </a:rPr>
              <a:t>… Methodology</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225334" y="1431788"/>
            <a:ext cx="10712986" cy="1661963"/>
          </a:xfrm>
          <a:prstGeom prst="rect">
            <a:avLst/>
          </a:prstGeom>
          <a:noFill/>
          <a:ln>
            <a:noFill/>
          </a:ln>
        </p:spPr>
        <p:txBody>
          <a:bodyPr spcFirstLastPara="1" wrap="square" lIns="91425" tIns="91425" rIns="91425" bIns="91425" anchor="t" anchorCtr="0">
            <a:spAutoFit/>
          </a:bodyPr>
          <a:lstStyle/>
          <a:p>
            <a:pPr lvl="0" algn="just" rtl="0">
              <a:lnSpc>
                <a:spcPct val="150000"/>
              </a:lnSpc>
              <a:spcBef>
                <a:spcPts val="0"/>
              </a:spcBef>
              <a:spcAft>
                <a:spcPts val="0"/>
              </a:spcAft>
            </a:pPr>
            <a:r>
              <a:rPr lang="en-US" sz="2400" b="1" dirty="0">
                <a:solidFill>
                  <a:schemeClr val="tx1"/>
                </a:solidFill>
                <a:latin typeface="Times New Roman" panose="02020603050405020304" pitchFamily="18" charset="0"/>
                <a:cs typeface="Times New Roman" panose="02020603050405020304" pitchFamily="18" charset="0"/>
              </a:rPr>
              <a:t>Convolutional Layer</a:t>
            </a:r>
          </a:p>
          <a:p>
            <a:pPr marL="342900" lvl="0" indent="-342900" algn="just" rtl="0">
              <a:lnSpc>
                <a:spcPct val="150000"/>
              </a:lnSpc>
              <a:spcBef>
                <a:spcPts val="0"/>
              </a:spcBef>
              <a:spcAft>
                <a:spcPts val="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In a typical neural network each input neuron is connected to the next hidden layer. </a:t>
            </a:r>
          </a:p>
          <a:p>
            <a:pPr marL="342900" lvl="0" indent="-342900" algn="just" rtl="0">
              <a:lnSpc>
                <a:spcPct val="150000"/>
              </a:lnSpc>
              <a:spcBef>
                <a:spcPts val="0"/>
              </a:spcBef>
              <a:spcAft>
                <a:spcPts val="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In CNN, only a small region of the input layer neurons connect to the neuron hidden layer.</a:t>
            </a:r>
            <a:endParaRPr sz="2000" dirty="0">
              <a:solidFill>
                <a:schemeClr val="tx1"/>
              </a:solidFill>
              <a:latin typeface="Times New Roman" panose="02020603050405020304" pitchFamily="18" charset="0"/>
              <a:cs typeface="Times New Roman" panose="02020603050405020304" pitchFamily="18" charset="0"/>
            </a:endParaRPr>
          </a:p>
        </p:txBody>
      </p:sp>
      <p:sp>
        <p:nvSpPr>
          <p:cNvPr id="25" name="Google Shape;198;p21">
            <a:extLst>
              <a:ext uri="{FF2B5EF4-FFF2-40B4-BE49-F238E27FC236}">
                <a16:creationId xmlns:a16="http://schemas.microsoft.com/office/drawing/2014/main" id="{0EA6BE64-EE0B-48BB-912F-BA2B12FA7A07}"/>
              </a:ext>
            </a:extLst>
          </p:cNvPr>
          <p:cNvSpPr/>
          <p:nvPr/>
        </p:nvSpPr>
        <p:spPr>
          <a:xfrm>
            <a:off x="3202564" y="5060657"/>
            <a:ext cx="1668600" cy="1081500"/>
          </a:xfrm>
          <a:prstGeom prst="ellipse">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300" b="1"/>
              <a:t>Collection Of Data</a:t>
            </a:r>
            <a:endParaRPr sz="1300" b="1"/>
          </a:p>
        </p:txBody>
      </p:sp>
      <p:sp>
        <p:nvSpPr>
          <p:cNvPr id="26" name="Google Shape;199;p21">
            <a:extLst>
              <a:ext uri="{FF2B5EF4-FFF2-40B4-BE49-F238E27FC236}">
                <a16:creationId xmlns:a16="http://schemas.microsoft.com/office/drawing/2014/main" id="{EDF5B443-1A7A-44E6-9EFF-187DF8C7CE73}"/>
              </a:ext>
            </a:extLst>
          </p:cNvPr>
          <p:cNvSpPr/>
          <p:nvPr/>
        </p:nvSpPr>
        <p:spPr>
          <a:xfrm>
            <a:off x="5207615" y="5060657"/>
            <a:ext cx="1527300" cy="1081500"/>
          </a:xfrm>
          <a:prstGeom prst="ellipse">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Training Model</a:t>
            </a:r>
            <a:endParaRPr sz="1300" b="1"/>
          </a:p>
          <a:p>
            <a:pPr marL="0" lvl="0" indent="0" algn="ctr" rtl="0">
              <a:spcBef>
                <a:spcPts val="0"/>
              </a:spcBef>
              <a:spcAft>
                <a:spcPts val="0"/>
              </a:spcAft>
              <a:buNone/>
            </a:pPr>
            <a:r>
              <a:rPr lang="en-US" sz="1300" b="1"/>
              <a:t>(CNN Algorithm)</a:t>
            </a:r>
            <a:endParaRPr sz="1300" b="1"/>
          </a:p>
        </p:txBody>
      </p:sp>
      <p:sp>
        <p:nvSpPr>
          <p:cNvPr id="27" name="Google Shape;200;p21">
            <a:extLst>
              <a:ext uri="{FF2B5EF4-FFF2-40B4-BE49-F238E27FC236}">
                <a16:creationId xmlns:a16="http://schemas.microsoft.com/office/drawing/2014/main" id="{F9E08B49-9D9A-44D0-8BAE-E8CCDF21E47F}"/>
              </a:ext>
            </a:extLst>
          </p:cNvPr>
          <p:cNvSpPr/>
          <p:nvPr/>
        </p:nvSpPr>
        <p:spPr>
          <a:xfrm>
            <a:off x="7228370" y="5124008"/>
            <a:ext cx="1668600" cy="1018200"/>
          </a:xfrm>
          <a:prstGeom prst="ellipse">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Real Time Application</a:t>
            </a:r>
            <a:endParaRPr sz="1300" b="1"/>
          </a:p>
        </p:txBody>
      </p:sp>
      <p:cxnSp>
        <p:nvCxnSpPr>
          <p:cNvPr id="28" name="Google Shape;201;p21">
            <a:extLst>
              <a:ext uri="{FF2B5EF4-FFF2-40B4-BE49-F238E27FC236}">
                <a16:creationId xmlns:a16="http://schemas.microsoft.com/office/drawing/2014/main" id="{7DD093EA-8BC2-4D3E-978A-75AA1DEB2C2C}"/>
              </a:ext>
            </a:extLst>
          </p:cNvPr>
          <p:cNvCxnSpPr>
            <a:stCxn id="25" idx="0"/>
            <a:endCxn id="26" idx="0"/>
          </p:cNvCxnSpPr>
          <p:nvPr/>
        </p:nvCxnSpPr>
        <p:spPr>
          <a:xfrm rot="-5400000" flipH="1">
            <a:off x="5003764" y="4093757"/>
            <a:ext cx="600" cy="1934400"/>
          </a:xfrm>
          <a:prstGeom prst="curvedConnector3">
            <a:avLst>
              <a:gd name="adj1" fmla="val -39687500"/>
            </a:avLst>
          </a:prstGeom>
          <a:noFill/>
          <a:ln w="9525" cap="flat" cmpd="sng">
            <a:solidFill>
              <a:srgbClr val="351C75"/>
            </a:solidFill>
            <a:prstDash val="solid"/>
            <a:round/>
            <a:headEnd type="none" w="med" len="med"/>
            <a:tailEnd type="none" w="med" len="med"/>
          </a:ln>
        </p:spPr>
      </p:cxnSp>
      <p:cxnSp>
        <p:nvCxnSpPr>
          <p:cNvPr id="29" name="Google Shape;202;p21">
            <a:extLst>
              <a:ext uri="{FF2B5EF4-FFF2-40B4-BE49-F238E27FC236}">
                <a16:creationId xmlns:a16="http://schemas.microsoft.com/office/drawing/2014/main" id="{80B93ADD-7F9F-450B-8F0B-F6EDED47FE2D}"/>
              </a:ext>
            </a:extLst>
          </p:cNvPr>
          <p:cNvCxnSpPr>
            <a:stCxn id="26" idx="0"/>
            <a:endCxn id="27" idx="0"/>
          </p:cNvCxnSpPr>
          <p:nvPr/>
        </p:nvCxnSpPr>
        <p:spPr>
          <a:xfrm rot="-5400000" flipH="1">
            <a:off x="6985265" y="4046657"/>
            <a:ext cx="63300" cy="2091300"/>
          </a:xfrm>
          <a:prstGeom prst="curvedConnector3">
            <a:avLst>
              <a:gd name="adj1" fmla="val -318775"/>
            </a:avLst>
          </a:prstGeom>
          <a:noFill/>
          <a:ln w="9525" cap="flat" cmpd="sng">
            <a:solidFill>
              <a:srgbClr val="351C75"/>
            </a:solidFill>
            <a:prstDash val="solid"/>
            <a:round/>
            <a:headEnd type="none" w="med" len="med"/>
            <a:tailEnd type="none" w="med" len="med"/>
          </a:ln>
        </p:spPr>
      </p:cxnSp>
      <p:sp>
        <p:nvSpPr>
          <p:cNvPr id="30" name="Google Shape;203;p21">
            <a:extLst>
              <a:ext uri="{FF2B5EF4-FFF2-40B4-BE49-F238E27FC236}">
                <a16:creationId xmlns:a16="http://schemas.microsoft.com/office/drawing/2014/main" id="{573562E4-69C6-4171-8DB8-4149ECC2E305}"/>
              </a:ext>
            </a:extLst>
          </p:cNvPr>
          <p:cNvSpPr/>
          <p:nvPr/>
        </p:nvSpPr>
        <p:spPr>
          <a:xfrm>
            <a:off x="4261821" y="4418505"/>
            <a:ext cx="1413600" cy="311700"/>
          </a:xfrm>
          <a:prstGeom prst="rect">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b="1"/>
              <a:t>CNN Algorithm</a:t>
            </a:r>
            <a:endParaRPr sz="1000" b="1"/>
          </a:p>
        </p:txBody>
      </p:sp>
      <p:sp>
        <p:nvSpPr>
          <p:cNvPr id="31" name="Google Shape;204;p21">
            <a:extLst>
              <a:ext uri="{FF2B5EF4-FFF2-40B4-BE49-F238E27FC236}">
                <a16:creationId xmlns:a16="http://schemas.microsoft.com/office/drawing/2014/main" id="{E8A6657E-1338-4080-BCBE-4D46F0A6BCFF}"/>
              </a:ext>
            </a:extLst>
          </p:cNvPr>
          <p:cNvSpPr/>
          <p:nvPr/>
        </p:nvSpPr>
        <p:spPr>
          <a:xfrm>
            <a:off x="6149844" y="4483233"/>
            <a:ext cx="1734000" cy="311700"/>
          </a:xfrm>
          <a:prstGeom prst="rect">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b="1"/>
              <a:t>Connect with frontend</a:t>
            </a:r>
            <a:endParaRPr sz="1000" b="1"/>
          </a:p>
        </p:txBody>
      </p:sp>
      <p:sp>
        <p:nvSpPr>
          <p:cNvPr id="32" name="Google Shape;205;p21">
            <a:extLst>
              <a:ext uri="{FF2B5EF4-FFF2-40B4-BE49-F238E27FC236}">
                <a16:creationId xmlns:a16="http://schemas.microsoft.com/office/drawing/2014/main" id="{2EBBFA56-1A6B-4571-B972-134AED90C9C7}"/>
              </a:ext>
            </a:extLst>
          </p:cNvPr>
          <p:cNvSpPr/>
          <p:nvPr/>
        </p:nvSpPr>
        <p:spPr>
          <a:xfrm rot="6253956">
            <a:off x="4915486" y="4771409"/>
            <a:ext cx="106158" cy="170986"/>
          </a:xfrm>
          <a:prstGeom prst="triangle">
            <a:avLst>
              <a:gd name="adj" fmla="val 50000"/>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6;p21">
            <a:extLst>
              <a:ext uri="{FF2B5EF4-FFF2-40B4-BE49-F238E27FC236}">
                <a16:creationId xmlns:a16="http://schemas.microsoft.com/office/drawing/2014/main" id="{E3ACF092-8C9C-41F0-8A46-95E062115C4F}"/>
              </a:ext>
            </a:extLst>
          </p:cNvPr>
          <p:cNvSpPr/>
          <p:nvPr/>
        </p:nvSpPr>
        <p:spPr>
          <a:xfrm rot="5787956">
            <a:off x="6870784" y="4766857"/>
            <a:ext cx="90576" cy="180110"/>
          </a:xfrm>
          <a:prstGeom prst="triangle">
            <a:avLst>
              <a:gd name="adj" fmla="val 50000"/>
            </a:avLst>
          </a:prstGeom>
          <a:solidFill>
            <a:srgbClr val="CFE2F3"/>
          </a:solidFill>
          <a:ln w="9525" cap="flat" cmpd="sng">
            <a:solidFill>
              <a:srgbClr val="351C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9926270"/>
      </p:ext>
    </p:extLst>
  </p:cSld>
  <p:clrMapOvr>
    <a:masterClrMapping/>
  </p:clrMapOvr>
  <p:transition spd="med">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latin typeface="Calibri"/>
                <a:ea typeface="Calibri"/>
                <a:cs typeface="Calibri"/>
                <a:sym typeface="Calibri"/>
              </a:rPr>
              <a:t>… Methodology</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2123628"/>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None/>
            </a:pPr>
            <a:r>
              <a:rPr lang="en-US" sz="2400" b="1" dirty="0">
                <a:solidFill>
                  <a:schemeClr val="tx1"/>
                </a:solidFill>
                <a:latin typeface="Times New Roman" panose="02020603050405020304" pitchFamily="18" charset="0"/>
                <a:cs typeface="Times New Roman" panose="02020603050405020304" pitchFamily="18" charset="0"/>
              </a:rPr>
              <a:t>Pooling Layer</a:t>
            </a:r>
          </a:p>
          <a:p>
            <a:pPr marL="457200" lvl="0" indent="-457200" algn="l" rtl="0">
              <a:lnSpc>
                <a:spcPct val="150000"/>
              </a:lnSpc>
              <a:spcBef>
                <a:spcPts val="0"/>
              </a:spcBef>
              <a:spcAft>
                <a:spcPts val="120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pooling layer is used to reduce the dimensionality of the feature map.</a:t>
            </a:r>
          </a:p>
          <a:p>
            <a:pPr marL="457200" lvl="0" indent="-457200" algn="l" rtl="0">
              <a:lnSpc>
                <a:spcPct val="150000"/>
              </a:lnSpc>
              <a:spcBef>
                <a:spcPts val="0"/>
              </a:spcBef>
              <a:spcAft>
                <a:spcPts val="120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There will be multiple activation &amp; pooling layers inside the hidden layer of the CNN.</a:t>
            </a:r>
            <a:endParaRPr lang="en-US" sz="20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16" name="Google Shape;194;p21">
            <a:extLst>
              <a:ext uri="{FF2B5EF4-FFF2-40B4-BE49-F238E27FC236}">
                <a16:creationId xmlns:a16="http://schemas.microsoft.com/office/drawing/2014/main" id="{720239FF-C8C7-469E-B943-409108BBC0EE}"/>
              </a:ext>
            </a:extLst>
          </p:cNvPr>
          <p:cNvPicPr preferRelativeResize="0"/>
          <p:nvPr/>
        </p:nvPicPr>
        <p:blipFill>
          <a:blip r:embed="rId3">
            <a:alphaModFix/>
          </a:blip>
          <a:stretch>
            <a:fillRect/>
          </a:stretch>
        </p:blipFill>
        <p:spPr>
          <a:xfrm>
            <a:off x="3248863" y="3977639"/>
            <a:ext cx="5694274" cy="2590800"/>
          </a:xfrm>
          <a:prstGeom prst="rect">
            <a:avLst/>
          </a:prstGeom>
          <a:noFill/>
          <a:ln>
            <a:noFill/>
          </a:ln>
        </p:spPr>
      </p:pic>
    </p:spTree>
    <p:extLst>
      <p:ext uri="{BB962C8B-B14F-4D97-AF65-F5344CB8AC3E}">
        <p14:creationId xmlns:p14="http://schemas.microsoft.com/office/powerpoint/2010/main" val="2493137860"/>
      </p:ext>
    </p:extLst>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latin typeface="Calibri"/>
                <a:ea typeface="Calibri"/>
                <a:cs typeface="Calibri"/>
                <a:sym typeface="Calibri"/>
              </a:rPr>
              <a:t>… Methodology</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2585293"/>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solidFill>
                  <a:schemeClr val="tx1"/>
                </a:solidFill>
                <a:latin typeface="Times New Roman" panose="02020603050405020304" pitchFamily="18" charset="0"/>
                <a:cs typeface="Times New Roman" panose="02020603050405020304" pitchFamily="18" charset="0"/>
              </a:rPr>
              <a:t>Fully-Connected layer</a:t>
            </a:r>
          </a:p>
          <a:p>
            <a:pPr marL="342900" lvl="0" indent="-342900" algn="l" rtl="0">
              <a:lnSpc>
                <a:spcPct val="150000"/>
              </a:lnSpc>
              <a:spcBef>
                <a:spcPts val="0"/>
              </a:spcBef>
              <a:spcAft>
                <a:spcPts val="1200"/>
              </a:spcAft>
              <a:buClr>
                <a:schemeClr val="dk1"/>
              </a:buClr>
              <a:buSzPts val="11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Fully Connected Layers form the last few layers in the network. </a:t>
            </a:r>
          </a:p>
          <a:p>
            <a:pPr marL="342900" lvl="0" indent="-342900" algn="l" rtl="0">
              <a:lnSpc>
                <a:spcPct val="150000"/>
              </a:lnSpc>
              <a:spcBef>
                <a:spcPts val="0"/>
              </a:spcBef>
              <a:spcAft>
                <a:spcPts val="1200"/>
              </a:spcAft>
              <a:buClr>
                <a:schemeClr val="dk1"/>
              </a:buClr>
              <a:buSzPts val="11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input to the fully connected layer is the output from the final Pooling or Convolutional Layer, which is flattened and then fed into the fully connected layer.</a:t>
            </a:r>
            <a:endParaRPr lang="en-US" sz="2000" dirty="0">
              <a:solidFill>
                <a:schemeClr val="tx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019524900"/>
      </p:ext>
    </p:extLst>
  </p:cSld>
  <p:clrMapOvr>
    <a:masterClrMapping/>
  </p:clrMapOvr>
  <p:transition spd="med">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b="1" dirty="0">
                <a:latin typeface="Calibri"/>
                <a:ea typeface="Calibri"/>
                <a:cs typeface="Calibri"/>
                <a:sym typeface="Calibri"/>
              </a:rPr>
              <a:t>… Methodology</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2739181"/>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solidFill>
                  <a:schemeClr val="tx1"/>
                </a:solidFill>
                <a:latin typeface="Times New Roman" panose="02020603050405020304" pitchFamily="18" charset="0"/>
                <a:cs typeface="Times New Roman" panose="02020603050405020304" pitchFamily="18" charset="0"/>
              </a:rPr>
              <a:t>Visual Stage</a:t>
            </a:r>
          </a:p>
          <a:p>
            <a:pPr marL="342900" lvl="0" indent="-342900" algn="l" rtl="0">
              <a:lnSpc>
                <a:spcPct val="150000"/>
              </a:lnSpc>
              <a:spcBef>
                <a:spcPts val="0"/>
              </a:spcBef>
              <a:spcAft>
                <a:spcPts val="1200"/>
              </a:spcAft>
              <a:buClr>
                <a:schemeClr val="dk1"/>
              </a:buClr>
              <a:buSzPts val="11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After previous steps, a predicted text would be given as output</a:t>
            </a:r>
          </a:p>
          <a:p>
            <a:pPr marL="342900" lvl="0" indent="-342900" algn="l" rtl="0">
              <a:lnSpc>
                <a:spcPct val="150000"/>
              </a:lnSpc>
              <a:spcBef>
                <a:spcPts val="0"/>
              </a:spcBef>
              <a:spcAft>
                <a:spcPts val="1200"/>
              </a:spcAft>
              <a:buClr>
                <a:schemeClr val="dk1"/>
              </a:buClr>
              <a:buSzPts val="1100"/>
              <a:buFont typeface="Arial" panose="020B0604020202020204" pitchFamily="34" charset="0"/>
              <a:buChar char="•"/>
            </a:pPr>
            <a:r>
              <a:rPr lang="en-US" sz="2000" dirty="0">
                <a:solidFill>
                  <a:schemeClr val="tx1"/>
                </a:solidFill>
                <a:latin typeface="Times New Roman" panose="02020603050405020304" pitchFamily="18" charset="0"/>
                <a:ea typeface="Calibri"/>
                <a:cs typeface="Times New Roman" panose="02020603050405020304" pitchFamily="18" charset="0"/>
                <a:sym typeface="Calibri"/>
              </a:rPr>
              <a:t>We would convert the text-to-voice using the reliable python voice kit</a:t>
            </a:r>
          </a:p>
          <a:p>
            <a:pPr marL="342900" lvl="0" indent="-342900" algn="l" rtl="0">
              <a:lnSpc>
                <a:spcPct val="150000"/>
              </a:lnSpc>
              <a:spcBef>
                <a:spcPts val="0"/>
              </a:spcBef>
              <a:spcAft>
                <a:spcPts val="1200"/>
              </a:spcAft>
              <a:buClr>
                <a:schemeClr val="dk1"/>
              </a:buClr>
              <a:buSzPts val="1100"/>
              <a:buFont typeface="Arial" panose="020B0604020202020204" pitchFamily="34" charset="0"/>
              <a:buChar char="•"/>
            </a:pPr>
            <a:r>
              <a:rPr lang="en-US" sz="2000" dirty="0">
                <a:solidFill>
                  <a:schemeClr val="tx1"/>
                </a:solidFill>
                <a:latin typeface="Times New Roman" panose="02020603050405020304" pitchFamily="18" charset="0"/>
                <a:ea typeface="Calibri"/>
                <a:cs typeface="Times New Roman" panose="02020603050405020304" pitchFamily="18" charset="0"/>
                <a:sym typeface="Calibri"/>
              </a:rPr>
              <a:t>Audio would be played after conversion</a:t>
            </a:r>
          </a:p>
        </p:txBody>
      </p:sp>
    </p:spTree>
    <p:extLst>
      <p:ext uri="{BB962C8B-B14F-4D97-AF65-F5344CB8AC3E}">
        <p14:creationId xmlns:p14="http://schemas.microsoft.com/office/powerpoint/2010/main" val="1229717295"/>
      </p:ext>
    </p:extLst>
  </p:cSld>
  <p:clrMapOvr>
    <a:masterClrMapping/>
  </p:clrMapOvr>
  <p:transition spd="med">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Data Flow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DFD0</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7" name="Google Shape;213;p22" descr="D:\shital l\Grace\All data\Diagram Sample (1)\Diagram Sample\DFD 0.png">
            <a:extLst>
              <a:ext uri="{FF2B5EF4-FFF2-40B4-BE49-F238E27FC236}">
                <a16:creationId xmlns:a16="http://schemas.microsoft.com/office/drawing/2014/main" id="{C6EC06FA-A491-4787-A296-D5111D8B8F8D}"/>
              </a:ext>
            </a:extLst>
          </p:cNvPr>
          <p:cNvPicPr preferRelativeResize="0"/>
          <p:nvPr/>
        </p:nvPicPr>
        <p:blipFill rotWithShape="1">
          <a:blip r:embed="rId3">
            <a:alphaModFix/>
          </a:blip>
          <a:srcRect/>
          <a:stretch/>
        </p:blipFill>
        <p:spPr>
          <a:xfrm>
            <a:off x="2492610" y="3607379"/>
            <a:ext cx="7206779" cy="8334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17838381"/>
      </p:ext>
    </p:extLst>
  </p:cSld>
  <p:clrMapOvr>
    <a:masterClrMapping/>
  </p:clrMapOvr>
  <p:transition spd="med">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 Data Flow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DFD1</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8" name="Google Shape;236;p24" descr="D:\shital l\Grace\21CG170-E Sign Language\diagram\ESdfd1.drawio.png">
            <a:extLst>
              <a:ext uri="{FF2B5EF4-FFF2-40B4-BE49-F238E27FC236}">
                <a16:creationId xmlns:a16="http://schemas.microsoft.com/office/drawing/2014/main" id="{D139B9DC-EC83-4A0C-8DAE-2AA202CD0716}"/>
              </a:ext>
            </a:extLst>
          </p:cNvPr>
          <p:cNvPicPr preferRelativeResize="0"/>
          <p:nvPr/>
        </p:nvPicPr>
        <p:blipFill rotWithShape="1">
          <a:blip r:embed="rId3">
            <a:alphaModFix/>
          </a:blip>
          <a:srcRect/>
          <a:stretch/>
        </p:blipFill>
        <p:spPr>
          <a:xfrm>
            <a:off x="2176079" y="2849801"/>
            <a:ext cx="7839842" cy="32226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08577415"/>
      </p:ext>
    </p:extLst>
  </p:cSld>
  <p:clrMapOvr>
    <a:masterClrMapping/>
  </p:clrMapOvr>
  <p:transition spd="med">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 Data Flow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DFD2</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8" name="Google Shape;223;p23" descr="D:\shital l\Grace\21CG170-E Sign Language\diagram\ESdfd2.drawio.png">
            <a:extLst>
              <a:ext uri="{FF2B5EF4-FFF2-40B4-BE49-F238E27FC236}">
                <a16:creationId xmlns:a16="http://schemas.microsoft.com/office/drawing/2014/main" id="{94A49578-7437-4574-B186-5D5F7BC8DDB3}"/>
              </a:ext>
            </a:extLst>
          </p:cNvPr>
          <p:cNvPicPr preferRelativeResize="0"/>
          <p:nvPr/>
        </p:nvPicPr>
        <p:blipFill rotWithShape="1">
          <a:blip r:embed="rId3">
            <a:alphaModFix/>
          </a:blip>
          <a:srcRect/>
          <a:stretch/>
        </p:blipFill>
        <p:spPr>
          <a:xfrm>
            <a:off x="3187859" y="1855676"/>
            <a:ext cx="8549651" cy="45924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40879955"/>
      </p:ext>
    </p:extLst>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UML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CLASS</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9" name="Google Shape;246;p25" descr="D:\shital l\Grace\21CG170-E Sign Language\diagram\ESclass.drawio.png">
            <a:extLst>
              <a:ext uri="{FF2B5EF4-FFF2-40B4-BE49-F238E27FC236}">
                <a16:creationId xmlns:a16="http://schemas.microsoft.com/office/drawing/2014/main" id="{BEE1FB22-EBED-418D-99DB-108127CB91FF}"/>
              </a:ext>
            </a:extLst>
          </p:cNvPr>
          <p:cNvPicPr preferRelativeResize="0"/>
          <p:nvPr/>
        </p:nvPicPr>
        <p:blipFill rotWithShape="1">
          <a:blip r:embed="rId3">
            <a:alphaModFix/>
          </a:blip>
          <a:srcRect/>
          <a:stretch/>
        </p:blipFill>
        <p:spPr>
          <a:xfrm>
            <a:off x="3117287" y="2146990"/>
            <a:ext cx="8603806" cy="41344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63217732"/>
      </p:ext>
    </p:extLst>
  </p:cSld>
  <p:clrMapOvr>
    <a:masterClrMapping/>
  </p:clrMapOvr>
  <p:transition spd="med">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 UML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ACTIVITY</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8" name="Google Shape;253;p26" descr="D:\shital l\Grace\21CG170-E Sign Language\diagram\ESactivity.drawio.png">
            <a:extLst>
              <a:ext uri="{FF2B5EF4-FFF2-40B4-BE49-F238E27FC236}">
                <a16:creationId xmlns:a16="http://schemas.microsoft.com/office/drawing/2014/main" id="{3A23E091-4C0F-4E20-81F8-109C67D326DF}"/>
              </a:ext>
            </a:extLst>
          </p:cNvPr>
          <p:cNvPicPr preferRelativeResize="0"/>
          <p:nvPr/>
        </p:nvPicPr>
        <p:blipFill rotWithShape="1">
          <a:blip r:embed="rId3">
            <a:alphaModFix/>
          </a:blip>
          <a:srcRect/>
          <a:stretch/>
        </p:blipFill>
        <p:spPr>
          <a:xfrm>
            <a:off x="6923312" y="140742"/>
            <a:ext cx="2171527" cy="65765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08553439"/>
      </p:ext>
    </p:extLst>
  </p:cSld>
  <p:clrMapOvr>
    <a:masterClrMapping/>
  </p:clrMapOvr>
  <p:transition spd="med">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 UML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USE CASE</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9" name="Google Shape;262;p27" descr="D:\shital l\Grace\21CG170-E Sign Language\diagram\ESusecase.drawio.png">
            <a:extLst>
              <a:ext uri="{FF2B5EF4-FFF2-40B4-BE49-F238E27FC236}">
                <a16:creationId xmlns:a16="http://schemas.microsoft.com/office/drawing/2014/main" id="{C5A82448-675F-4F9E-813A-F24FC6506185}"/>
              </a:ext>
            </a:extLst>
          </p:cNvPr>
          <p:cNvPicPr preferRelativeResize="0"/>
          <p:nvPr/>
        </p:nvPicPr>
        <p:blipFill rotWithShape="1">
          <a:blip r:embed="rId3">
            <a:alphaModFix/>
          </a:blip>
          <a:srcRect/>
          <a:stretch/>
        </p:blipFill>
        <p:spPr>
          <a:xfrm>
            <a:off x="4866967" y="1421219"/>
            <a:ext cx="6534271" cy="51294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48973568"/>
      </p:ext>
    </p:extLst>
  </p:cSld>
  <p:clrMapOvr>
    <a:masterClrMapping/>
  </p:clrMapOvr>
  <p:transition spd="med">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 UML Diagram</a:t>
            </a:r>
            <a:endParaRPr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95;p21">
            <a:extLst>
              <a:ext uri="{FF2B5EF4-FFF2-40B4-BE49-F238E27FC236}">
                <a16:creationId xmlns:a16="http://schemas.microsoft.com/office/drawing/2014/main" id="{BC4B94B0-7CAB-4823-935F-EED1B3020431}"/>
              </a:ext>
            </a:extLst>
          </p:cNvPr>
          <p:cNvSpPr txBox="1"/>
          <p:nvPr/>
        </p:nvSpPr>
        <p:spPr>
          <a:xfrm>
            <a:off x="1153326" y="1564451"/>
            <a:ext cx="10712986" cy="89252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1200"/>
              </a:spcAft>
              <a:buClr>
                <a:schemeClr val="dk1"/>
              </a:buClr>
              <a:buSzPts val="1100"/>
              <a:buFont typeface="Arial"/>
              <a:buNone/>
            </a:pPr>
            <a:r>
              <a:rPr lang="en-US" sz="2400" b="1" dirty="0"/>
              <a:t>SEQUENCE</a:t>
            </a:r>
            <a:endParaRPr lang="en-US" sz="1100" dirty="0">
              <a:solidFill>
                <a:schemeClr val="tx1"/>
              </a:solidFill>
              <a:latin typeface="Times New Roman" panose="02020603050405020304" pitchFamily="18" charset="0"/>
              <a:ea typeface="Calibri"/>
              <a:cs typeface="Times New Roman" panose="02020603050405020304" pitchFamily="18" charset="0"/>
              <a:sym typeface="Calibri"/>
            </a:endParaRPr>
          </a:p>
        </p:txBody>
      </p:sp>
      <p:pic>
        <p:nvPicPr>
          <p:cNvPr id="8" name="Google Shape;273;p28" descr="D:\shital l\Grace\21CG170-E Sign Language\diagram\Essequence.drawio.png">
            <a:extLst>
              <a:ext uri="{FF2B5EF4-FFF2-40B4-BE49-F238E27FC236}">
                <a16:creationId xmlns:a16="http://schemas.microsoft.com/office/drawing/2014/main" id="{E3415890-4E73-4536-BCB3-0D196B0F1388}"/>
              </a:ext>
            </a:extLst>
          </p:cNvPr>
          <p:cNvPicPr preferRelativeResize="0"/>
          <p:nvPr/>
        </p:nvPicPr>
        <p:blipFill rotWithShape="1">
          <a:blip r:embed="rId3">
            <a:alphaModFix/>
          </a:blip>
          <a:srcRect/>
          <a:stretch/>
        </p:blipFill>
        <p:spPr>
          <a:xfrm>
            <a:off x="6351639" y="904566"/>
            <a:ext cx="4948937" cy="56389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53657966"/>
      </p:ext>
    </p:extLst>
  </p:cSld>
  <p:clrMapOvr>
    <a:masterClrMapping/>
  </p:clrMapOvr>
  <p:transition spd="med">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b="1" dirty="0"/>
              <a:t>Minimum Hardware &amp; Software Requirement</a:t>
            </a:r>
            <a:endParaRPr lang="en-US"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 name="Google Shape;282;p29">
            <a:extLst>
              <a:ext uri="{FF2B5EF4-FFF2-40B4-BE49-F238E27FC236}">
                <a16:creationId xmlns:a16="http://schemas.microsoft.com/office/drawing/2014/main" id="{68FE3B1F-5DCD-4422-A439-E49BD67762FE}"/>
              </a:ext>
            </a:extLst>
          </p:cNvPr>
          <p:cNvSpPr txBox="1">
            <a:spLocks noGrp="1"/>
          </p:cNvSpPr>
          <p:nvPr>
            <p:ph type="body" idx="1"/>
          </p:nvPr>
        </p:nvSpPr>
        <p:spPr>
          <a:xfrm>
            <a:off x="1309234" y="1317523"/>
            <a:ext cx="10636960" cy="5329083"/>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2000"/>
              <a:buNone/>
            </a:pPr>
            <a:r>
              <a:rPr lang="en-US" sz="1800" b="1" dirty="0">
                <a:latin typeface="Times New Roman"/>
                <a:ea typeface="Times New Roman"/>
                <a:cs typeface="Times New Roman"/>
                <a:sym typeface="Times New Roman"/>
              </a:rPr>
              <a:t>Software Requirements:</a:t>
            </a:r>
            <a:endParaRPr sz="2400" b="1" dirty="0"/>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Operating system 	:   </a:t>
            </a:r>
            <a:r>
              <a:rPr lang="en-US" sz="1800" b="1" dirty="0">
                <a:latin typeface="Times New Roman"/>
                <a:ea typeface="Times New Roman"/>
                <a:cs typeface="Times New Roman"/>
                <a:sym typeface="Times New Roman"/>
              </a:rPr>
              <a:t>64 bit Windows 10</a:t>
            </a:r>
            <a:endParaRPr sz="2400" b="1" dirty="0"/>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Coding Language	:   </a:t>
            </a:r>
            <a:r>
              <a:rPr lang="en-US" sz="1800" b="1" dirty="0">
                <a:latin typeface="Times New Roman"/>
                <a:ea typeface="Times New Roman"/>
                <a:cs typeface="Times New Roman"/>
                <a:sym typeface="Times New Roman"/>
              </a:rPr>
              <a:t>Python</a:t>
            </a:r>
            <a:endParaRPr sz="2400" b="1" dirty="0"/>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Design constraints	:   </a:t>
            </a:r>
            <a:r>
              <a:rPr lang="en-US" sz="1800" b="1" dirty="0">
                <a:latin typeface="Times New Roman"/>
                <a:ea typeface="Times New Roman"/>
                <a:cs typeface="Times New Roman"/>
                <a:sym typeface="Times New Roman"/>
              </a:rPr>
              <a:t>Spyder</a:t>
            </a:r>
            <a:endParaRPr sz="1800" b="1" dirty="0">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b="1" dirty="0">
                <a:latin typeface="Times New Roman"/>
                <a:ea typeface="Times New Roman"/>
                <a:cs typeface="Times New Roman"/>
                <a:sym typeface="Times New Roman"/>
              </a:rPr>
              <a:t>Hardware Requirements:</a:t>
            </a:r>
            <a:endParaRPr sz="2400" b="1" dirty="0"/>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System Processors	:  </a:t>
            </a:r>
            <a:r>
              <a:rPr lang="en-US" sz="1800" b="1" dirty="0">
                <a:latin typeface="Times New Roman"/>
                <a:ea typeface="Times New Roman"/>
                <a:cs typeface="Times New Roman"/>
                <a:sym typeface="Times New Roman"/>
              </a:rPr>
              <a:t>Intel i5</a:t>
            </a:r>
            <a:endParaRPr sz="1800" b="1" dirty="0">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Speed		:  </a:t>
            </a:r>
            <a:r>
              <a:rPr lang="en-US" sz="1800" b="1" dirty="0">
                <a:latin typeface="Times New Roman"/>
                <a:ea typeface="Times New Roman"/>
                <a:cs typeface="Times New Roman"/>
                <a:sym typeface="Times New Roman"/>
              </a:rPr>
              <a:t>2.4 GHz</a:t>
            </a:r>
            <a:endParaRPr sz="1800" b="1" dirty="0">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Hard Disk        	:  </a:t>
            </a:r>
            <a:r>
              <a:rPr lang="en-US" sz="1800" b="1" dirty="0">
                <a:latin typeface="Times New Roman"/>
                <a:ea typeface="Times New Roman"/>
                <a:cs typeface="Times New Roman"/>
                <a:sym typeface="Times New Roman"/>
              </a:rPr>
              <a:t>150 GB</a:t>
            </a:r>
            <a:endParaRPr sz="2400" b="1" dirty="0"/>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RAM 		:  </a:t>
            </a:r>
            <a:r>
              <a:rPr lang="en-US" sz="1800" b="1" dirty="0">
                <a:latin typeface="Times New Roman"/>
                <a:ea typeface="Times New Roman"/>
                <a:cs typeface="Times New Roman"/>
                <a:sym typeface="Times New Roman"/>
              </a:rPr>
              <a:t>8 GB</a:t>
            </a:r>
            <a:endParaRPr sz="1800" b="1" dirty="0">
              <a:latin typeface="Times New Roman"/>
              <a:ea typeface="Times New Roman"/>
              <a:cs typeface="Times New Roman"/>
              <a:sym typeface="Times New Roman"/>
            </a:endParaRPr>
          </a:p>
          <a:p>
            <a:pPr marL="0" lvl="0" indent="0" algn="l" rtl="0">
              <a:lnSpc>
                <a:spcPct val="150000"/>
              </a:lnSpc>
              <a:spcBef>
                <a:spcPts val="1000"/>
              </a:spcBef>
              <a:spcAft>
                <a:spcPts val="0"/>
              </a:spcAft>
              <a:buClr>
                <a:schemeClr val="dk1"/>
              </a:buClr>
              <a:buSzPts val="2000"/>
              <a:buNone/>
            </a:pPr>
            <a:r>
              <a:rPr lang="en-US" sz="1800" dirty="0">
                <a:latin typeface="Times New Roman"/>
                <a:ea typeface="Times New Roman"/>
                <a:cs typeface="Times New Roman"/>
                <a:sym typeface="Times New Roman"/>
              </a:rPr>
              <a:t>	Graphic Card	:  </a:t>
            </a:r>
            <a:r>
              <a:rPr lang="en-US" sz="1800" b="1" dirty="0">
                <a:latin typeface="Times New Roman"/>
                <a:ea typeface="Times New Roman"/>
                <a:cs typeface="Times New Roman"/>
                <a:sym typeface="Times New Roman"/>
              </a:rPr>
              <a:t>2 GB</a:t>
            </a:r>
            <a:endParaRPr sz="2400" b="1" dirty="0"/>
          </a:p>
          <a:p>
            <a:pPr marL="228600" lvl="0" indent="-158750" algn="l" rtl="0">
              <a:lnSpc>
                <a:spcPct val="150000"/>
              </a:lnSpc>
              <a:spcBef>
                <a:spcPts val="1000"/>
              </a:spcBef>
              <a:spcAft>
                <a:spcPts val="0"/>
              </a:spcAft>
              <a:buClr>
                <a:schemeClr val="dk1"/>
              </a:buClr>
              <a:buSzPts val="1100"/>
              <a:buNone/>
            </a:pPr>
            <a:endParaRPr sz="1050" dirty="0"/>
          </a:p>
        </p:txBody>
      </p:sp>
    </p:spTree>
    <p:extLst>
      <p:ext uri="{BB962C8B-B14F-4D97-AF65-F5344CB8AC3E}">
        <p14:creationId xmlns:p14="http://schemas.microsoft.com/office/powerpoint/2010/main" val="2508819520"/>
      </p:ext>
    </p:extLst>
  </p:cSld>
  <p:clrMapOvr>
    <a:masterClrMapping/>
  </p:clrMapOvr>
  <p:transition spd="med">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Conclusion</a:t>
            </a:r>
            <a:endParaRPr lang="en-US"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 name="Google Shape;291;p30">
            <a:extLst>
              <a:ext uri="{FF2B5EF4-FFF2-40B4-BE49-F238E27FC236}">
                <a16:creationId xmlns:a16="http://schemas.microsoft.com/office/drawing/2014/main" id="{07BAE573-6215-4461-817E-83B800EAD11C}"/>
              </a:ext>
            </a:extLst>
          </p:cNvPr>
          <p:cNvSpPr txBox="1">
            <a:spLocks/>
          </p:cNvSpPr>
          <p:nvPr/>
        </p:nvSpPr>
        <p:spPr>
          <a:xfrm>
            <a:off x="1386348" y="1523999"/>
            <a:ext cx="10481187" cy="513243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228600" algn="just">
              <a:lnSpc>
                <a:spcPct val="150000"/>
              </a:lnSpc>
              <a:spcBef>
                <a:spcPts val="0"/>
              </a:spcBef>
              <a:buSzPts val="2400"/>
            </a:pPr>
            <a:r>
              <a:rPr lang="en-US" sz="2000" dirty="0">
                <a:latin typeface="Times New Roman"/>
                <a:ea typeface="Times New Roman"/>
                <a:cs typeface="Times New Roman"/>
                <a:sym typeface="Times New Roman"/>
              </a:rPr>
              <a:t>A  neural network  based  method  for  </a:t>
            </a:r>
            <a:r>
              <a:rPr lang="en-US" sz="2000" b="1" dirty="0">
                <a:latin typeface="Times New Roman"/>
                <a:ea typeface="Times New Roman"/>
                <a:cs typeface="Times New Roman"/>
                <a:sym typeface="Times New Roman"/>
              </a:rPr>
              <a:t>automatically  recognizing  the  finger spelling  in  Indian  sign  language  </a:t>
            </a:r>
            <a:r>
              <a:rPr lang="en-US" sz="2000" dirty="0">
                <a:latin typeface="Times New Roman"/>
                <a:ea typeface="Times New Roman"/>
                <a:cs typeface="Times New Roman"/>
                <a:sym typeface="Times New Roman"/>
              </a:rPr>
              <a:t>is  developed in this project.  </a:t>
            </a:r>
            <a:endParaRPr lang="en-US" sz="2000" dirty="0"/>
          </a:p>
          <a:p>
            <a:pPr marL="228600" indent="-228600" algn="just">
              <a:lnSpc>
                <a:spcPct val="150000"/>
              </a:lnSpc>
              <a:buSzPts val="2400"/>
            </a:pPr>
            <a:r>
              <a:rPr lang="en-US" sz="2000" dirty="0">
                <a:latin typeface="Times New Roman"/>
                <a:ea typeface="Times New Roman"/>
                <a:cs typeface="Times New Roman"/>
                <a:sym typeface="Times New Roman"/>
              </a:rPr>
              <a:t>The  signs  are  identified  by  the  </a:t>
            </a:r>
            <a:r>
              <a:rPr lang="en-US" sz="2000" b="1" dirty="0">
                <a:latin typeface="Times New Roman"/>
                <a:ea typeface="Times New Roman"/>
                <a:cs typeface="Times New Roman"/>
                <a:sym typeface="Times New Roman"/>
              </a:rPr>
              <a:t>features  extracted  from  the  hand  shapes</a:t>
            </a:r>
            <a:r>
              <a:rPr lang="en-US" sz="2000" dirty="0">
                <a:latin typeface="Times New Roman"/>
                <a:ea typeface="Times New Roman"/>
                <a:cs typeface="Times New Roman"/>
                <a:sym typeface="Times New Roman"/>
              </a:rPr>
              <a:t>. </a:t>
            </a:r>
            <a:endParaRPr lang="en-US" sz="2000" dirty="0"/>
          </a:p>
          <a:p>
            <a:pPr marL="228600" indent="-228600" algn="just">
              <a:lnSpc>
                <a:spcPct val="150000"/>
              </a:lnSpc>
              <a:buSzPts val="2400"/>
            </a:pPr>
            <a:r>
              <a:rPr lang="en-US" sz="2000" dirty="0">
                <a:latin typeface="Times New Roman"/>
                <a:ea typeface="Times New Roman"/>
                <a:cs typeface="Times New Roman"/>
                <a:sym typeface="Times New Roman"/>
              </a:rPr>
              <a:t>The  method is implemented completely by </a:t>
            </a:r>
            <a:r>
              <a:rPr lang="en-US" sz="2000" b="1" dirty="0">
                <a:latin typeface="Times New Roman"/>
                <a:ea typeface="Times New Roman"/>
                <a:cs typeface="Times New Roman"/>
                <a:sym typeface="Times New Roman"/>
              </a:rPr>
              <a:t>utilizing digital image  processing techniques </a:t>
            </a:r>
            <a:r>
              <a:rPr lang="en-US" sz="2000" dirty="0">
                <a:latin typeface="Times New Roman"/>
                <a:ea typeface="Times New Roman"/>
                <a:cs typeface="Times New Roman"/>
                <a:sym typeface="Times New Roman"/>
              </a:rPr>
              <a:t>so the user </a:t>
            </a:r>
            <a:r>
              <a:rPr lang="en-US" sz="2000" b="1" dirty="0">
                <a:latin typeface="Times New Roman"/>
                <a:ea typeface="Times New Roman"/>
                <a:cs typeface="Times New Roman"/>
                <a:sym typeface="Times New Roman"/>
              </a:rPr>
              <a:t>does not have to wear any  special hardware device or gloves </a:t>
            </a:r>
            <a:r>
              <a:rPr lang="en-US" sz="2000" dirty="0">
                <a:latin typeface="Times New Roman"/>
                <a:ea typeface="Times New Roman"/>
                <a:cs typeface="Times New Roman"/>
                <a:sym typeface="Times New Roman"/>
              </a:rPr>
              <a:t>to get the features of the hand shape.  </a:t>
            </a:r>
            <a:endParaRPr lang="en-US" sz="2000" dirty="0"/>
          </a:p>
          <a:p>
            <a:pPr marL="228600" indent="-228600" algn="just">
              <a:lnSpc>
                <a:spcPct val="150000"/>
              </a:lnSpc>
              <a:buSzPts val="2400"/>
            </a:pPr>
            <a:r>
              <a:rPr lang="en-US" sz="2000" dirty="0">
                <a:latin typeface="Times New Roman"/>
                <a:ea typeface="Times New Roman"/>
                <a:cs typeface="Times New Roman"/>
                <a:sym typeface="Times New Roman"/>
              </a:rPr>
              <a:t>Our  proposed  method  has  </a:t>
            </a:r>
            <a:r>
              <a:rPr lang="en-US" sz="2000" b="1" dirty="0">
                <a:latin typeface="Times New Roman"/>
                <a:ea typeface="Times New Roman"/>
                <a:cs typeface="Times New Roman"/>
                <a:sym typeface="Times New Roman"/>
              </a:rPr>
              <a:t>low  computational  complexity  and  very  high  accuracy  </a:t>
            </a:r>
            <a:r>
              <a:rPr lang="en-US" sz="2000" dirty="0">
                <a:latin typeface="Times New Roman"/>
                <a:ea typeface="Times New Roman"/>
                <a:cs typeface="Times New Roman"/>
                <a:sym typeface="Times New Roman"/>
              </a:rPr>
              <a:t>when  compared to the existing methods.</a:t>
            </a:r>
            <a:endParaRPr lang="en-US" sz="2000" dirty="0"/>
          </a:p>
        </p:txBody>
      </p:sp>
    </p:spTree>
    <p:extLst>
      <p:ext uri="{BB962C8B-B14F-4D97-AF65-F5344CB8AC3E}">
        <p14:creationId xmlns:p14="http://schemas.microsoft.com/office/powerpoint/2010/main" val="2381127350"/>
      </p:ext>
    </p:extLst>
  </p:cSld>
  <p:clrMapOvr>
    <a:masterClrMapping/>
  </p:clrMapOvr>
  <p:transition spd="med">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1764099" y="-3732"/>
            <a:ext cx="10318425" cy="1026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References</a:t>
            </a:r>
            <a:endParaRPr lang="en-US" dirty="0"/>
          </a:p>
        </p:txBody>
      </p:sp>
      <p:sp>
        <p:nvSpPr>
          <p:cNvPr id="103" name="Google Shape;103;p14"/>
          <p:cNvSpPr/>
          <p:nvPr/>
        </p:nvSpPr>
        <p:spPr>
          <a:xfrm>
            <a:off x="1" y="0"/>
            <a:ext cx="1764099" cy="1022556"/>
          </a:xfrm>
          <a:custGeom>
            <a:avLst/>
            <a:gdLst/>
            <a:ahLst/>
            <a:cxnLst/>
            <a:rect l="l" t="t" r="r" b="b"/>
            <a:pathLst>
              <a:path w="1764099" h="1558212" extrusionOk="0">
                <a:moveTo>
                  <a:pt x="0" y="0"/>
                </a:moveTo>
                <a:lnTo>
                  <a:pt x="1764099" y="0"/>
                </a:lnTo>
                <a:lnTo>
                  <a:pt x="1042087" y="1558212"/>
                </a:lnTo>
                <a:lnTo>
                  <a:pt x="0" y="1558212"/>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4"/>
          <p:cNvSpPr/>
          <p:nvPr/>
        </p:nvSpPr>
        <p:spPr>
          <a:xfrm>
            <a:off x="1" y="1190196"/>
            <a:ext cx="12191999" cy="5667804"/>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0" y="1190196"/>
            <a:ext cx="971654" cy="2096979"/>
          </a:xfrm>
          <a:custGeom>
            <a:avLst/>
            <a:gdLst/>
            <a:ahLst/>
            <a:cxnLst/>
            <a:rect l="l" t="t" r="r" b="b"/>
            <a:pathLst>
              <a:path w="971654" h="2096979" extrusionOk="0">
                <a:moveTo>
                  <a:pt x="0" y="0"/>
                </a:moveTo>
                <a:lnTo>
                  <a:pt x="971654" y="0"/>
                </a:lnTo>
                <a:lnTo>
                  <a:pt x="0" y="2096979"/>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 name="Google Shape;300;p31">
            <a:extLst>
              <a:ext uri="{FF2B5EF4-FFF2-40B4-BE49-F238E27FC236}">
                <a16:creationId xmlns:a16="http://schemas.microsoft.com/office/drawing/2014/main" id="{E4030A74-DC13-4D79-9C85-58C94C99734B}"/>
              </a:ext>
            </a:extLst>
          </p:cNvPr>
          <p:cNvSpPr txBox="1">
            <a:spLocks noGrp="1"/>
          </p:cNvSpPr>
          <p:nvPr>
            <p:ph type="body" idx="1"/>
          </p:nvPr>
        </p:nvSpPr>
        <p:spPr>
          <a:xfrm>
            <a:off x="1170039" y="1288029"/>
            <a:ext cx="10736825" cy="5191432"/>
          </a:xfrm>
          <a:prstGeom prst="rect">
            <a:avLst/>
          </a:prstGeom>
          <a:noFill/>
          <a:ln>
            <a:noFill/>
          </a:ln>
        </p:spPr>
        <p:txBody>
          <a:bodyPr spcFirstLastPara="1" wrap="square" lIns="91425" tIns="45700" rIns="91425" bIns="45700" anchor="t" anchorCtr="0">
            <a:noAutofit/>
          </a:bodyPr>
          <a:lstStyle/>
          <a:p>
            <a:pPr marL="457200" lvl="0" indent="-329882" algn="l" rtl="0">
              <a:lnSpc>
                <a:spcPct val="200000"/>
              </a:lnSpc>
              <a:spcBef>
                <a:spcPts val="0"/>
              </a:spcBef>
              <a:spcAft>
                <a:spcPts val="0"/>
              </a:spcAft>
              <a:buSzPts val="1595"/>
              <a:buFont typeface="Times New Roman"/>
              <a:buChar char="•"/>
            </a:pPr>
            <a:r>
              <a:rPr lang="en-US" sz="1400" dirty="0" err="1">
                <a:latin typeface="Times New Roman"/>
                <a:ea typeface="Times New Roman"/>
                <a:cs typeface="Times New Roman"/>
                <a:sym typeface="Times New Roman"/>
              </a:rPr>
              <a:t>Yufei</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Yan,Qunzhu</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Tao,Chenyu</a:t>
            </a:r>
            <a:r>
              <a:rPr lang="en-US" sz="1400" dirty="0">
                <a:latin typeface="Times New Roman"/>
                <a:ea typeface="Times New Roman"/>
                <a:cs typeface="Times New Roman"/>
                <a:sym typeface="Times New Roman"/>
              </a:rPr>
              <a:t> Liu Research on Dynamic Sign Language Algorithm Based on Sign Language Trajectory and Key Frame </a:t>
            </a:r>
            <a:r>
              <a:rPr lang="en-US" sz="1400" dirty="0" err="1">
                <a:latin typeface="Times New Roman"/>
                <a:ea typeface="Times New Roman"/>
                <a:cs typeface="Times New Roman"/>
                <a:sym typeface="Times New Roman"/>
              </a:rPr>
              <a:t>Extraction.gupta</a:t>
            </a:r>
            <a:r>
              <a:rPr lang="en-US" sz="1400" dirty="0">
                <a:latin typeface="Times New Roman"/>
                <a:ea typeface="Times New Roman"/>
                <a:cs typeface="Times New Roman"/>
                <a:sym typeface="Times New Roman"/>
              </a:rPr>
              <a:t>, Journal of Communications Technology, Electronics and Computer Science,2019</a:t>
            </a:r>
            <a:endParaRPr sz="1400" dirty="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dirty="0">
                <a:latin typeface="Times New Roman"/>
                <a:ea typeface="Times New Roman"/>
                <a:cs typeface="Times New Roman"/>
                <a:sym typeface="Times New Roman"/>
              </a:rPr>
              <a:t>Akash. Asl alphabet. [Online]. Available: https://www.kaggle.com/grassknoted/asl-alphabet, 2018.</a:t>
            </a:r>
            <a:endParaRPr sz="1400" dirty="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dirty="0" err="1">
                <a:latin typeface="Times New Roman"/>
                <a:ea typeface="Times New Roman"/>
                <a:cs typeface="Times New Roman"/>
                <a:sym typeface="Times New Roman"/>
              </a:rPr>
              <a:t>Galib</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Ibne</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Haidar,Hasin</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Ishraq</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Reefat</a:t>
            </a:r>
            <a:r>
              <a:rPr lang="en-US" sz="1400" dirty="0">
                <a:latin typeface="Times New Roman"/>
                <a:ea typeface="Times New Roman"/>
                <a:cs typeface="Times New Roman"/>
                <a:sym typeface="Times New Roman"/>
              </a:rPr>
              <a:t>, Glove Based American Sign Language Interpretation Using Convolutional Neural Network and Data Glass.2020 IEEE Region 10 Symposium (TENSYMP), 5-7 June 2020, Dhaka, Bangladesh</a:t>
            </a:r>
            <a:endParaRPr sz="1400" dirty="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dirty="0" err="1">
                <a:latin typeface="Times New Roman"/>
                <a:ea typeface="Times New Roman"/>
                <a:cs typeface="Times New Roman"/>
                <a:sym typeface="Times New Roman"/>
              </a:rPr>
              <a:t>Myasoedova</a:t>
            </a:r>
            <a:r>
              <a:rPr lang="en-US" sz="1400" dirty="0">
                <a:latin typeface="Times New Roman"/>
                <a:ea typeface="Times New Roman"/>
                <a:cs typeface="Times New Roman"/>
                <a:sym typeface="Times New Roman"/>
              </a:rPr>
              <a:t> M.A.,</a:t>
            </a:r>
            <a:r>
              <a:rPr lang="en-US" sz="1400" dirty="0" err="1">
                <a:latin typeface="Times New Roman"/>
                <a:ea typeface="Times New Roman"/>
                <a:cs typeface="Times New Roman"/>
                <a:sym typeface="Times New Roman"/>
              </a:rPr>
              <a:t>Myasoedova</a:t>
            </a:r>
            <a:r>
              <a:rPr lang="en-US" sz="1400" dirty="0">
                <a:latin typeface="Times New Roman"/>
                <a:ea typeface="Times New Roman"/>
                <a:cs typeface="Times New Roman"/>
                <a:sym typeface="Times New Roman"/>
              </a:rPr>
              <a:t> Z., Multimedia technologies to teach Sign Language in a written </a:t>
            </a:r>
            <a:r>
              <a:rPr lang="en-US" sz="1400" dirty="0" err="1">
                <a:latin typeface="Times New Roman"/>
                <a:ea typeface="Times New Roman"/>
                <a:cs typeface="Times New Roman"/>
                <a:sym typeface="Times New Roman"/>
              </a:rPr>
              <a:t>form,Journal</a:t>
            </a:r>
            <a:r>
              <a:rPr lang="en-US" sz="1400" dirty="0">
                <a:latin typeface="Times New Roman"/>
                <a:ea typeface="Times New Roman"/>
                <a:cs typeface="Times New Roman"/>
                <a:sym typeface="Times New Roman"/>
              </a:rPr>
              <a:t> of Communications Technology, Electronics and Computer Science,2020</a:t>
            </a:r>
            <a:endParaRPr sz="1400" dirty="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Font typeface="Times New Roman"/>
              <a:buChar char="•"/>
            </a:pPr>
            <a:r>
              <a:rPr lang="en-US" sz="1400" dirty="0">
                <a:latin typeface="Times New Roman"/>
                <a:ea typeface="Times New Roman"/>
                <a:cs typeface="Times New Roman"/>
                <a:sym typeface="Times New Roman"/>
              </a:rPr>
              <a:t>Aditya Das, Shantanu Gawde, </a:t>
            </a:r>
            <a:r>
              <a:rPr lang="en-US" sz="1400" dirty="0" err="1">
                <a:latin typeface="Times New Roman"/>
                <a:ea typeface="Times New Roman"/>
                <a:cs typeface="Times New Roman"/>
                <a:sym typeface="Times New Roman"/>
              </a:rPr>
              <a:t>Khyati</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Suratwala</a:t>
            </a:r>
            <a:r>
              <a:rPr lang="en-US" sz="1400" dirty="0">
                <a:latin typeface="Times New Roman"/>
                <a:ea typeface="Times New Roman"/>
                <a:cs typeface="Times New Roman"/>
                <a:sym typeface="Times New Roman"/>
              </a:rPr>
              <a:t>, and Dhananjay </a:t>
            </a:r>
            <a:r>
              <a:rPr lang="en-US" sz="1400" dirty="0" err="1">
                <a:latin typeface="Times New Roman"/>
                <a:ea typeface="Times New Roman"/>
                <a:cs typeface="Times New Roman"/>
                <a:sym typeface="Times New Roman"/>
              </a:rPr>
              <a:t>Kalbande</a:t>
            </a:r>
            <a:r>
              <a:rPr lang="en-US" sz="1400" dirty="0">
                <a:latin typeface="Times New Roman"/>
                <a:ea typeface="Times New Roman"/>
                <a:cs typeface="Times New Roman"/>
                <a:sym typeface="Times New Roman"/>
              </a:rPr>
              <a:t>. Sign language recognition using deep learning on custom processed static gesture images. In 2019 International Conference on Smart City and Emerging Technology (ICSCET), pages 1–6. IEEE, 2019.</a:t>
            </a:r>
            <a:endParaRPr sz="1400" dirty="0">
              <a:latin typeface="Times New Roman"/>
              <a:ea typeface="Times New Roman"/>
              <a:cs typeface="Times New Roman"/>
              <a:sym typeface="Times New Roman"/>
            </a:endParaRPr>
          </a:p>
          <a:p>
            <a:pPr marL="457200" lvl="0" indent="-329882" algn="l" rtl="0">
              <a:lnSpc>
                <a:spcPct val="200000"/>
              </a:lnSpc>
              <a:spcBef>
                <a:spcPts val="0"/>
              </a:spcBef>
              <a:spcAft>
                <a:spcPts val="0"/>
              </a:spcAft>
              <a:buSzPts val="1595"/>
              <a:buChar char="•"/>
            </a:pPr>
            <a:r>
              <a:rPr lang="en-US" sz="1400" dirty="0">
                <a:latin typeface="Times New Roman"/>
                <a:ea typeface="Times New Roman"/>
                <a:cs typeface="Times New Roman"/>
                <a:sym typeface="Times New Roman"/>
              </a:rPr>
              <a:t>S. </a:t>
            </a:r>
            <a:r>
              <a:rPr lang="en-US" sz="1400" dirty="0" err="1">
                <a:latin typeface="Times New Roman"/>
                <a:ea typeface="Times New Roman"/>
                <a:cs typeface="Times New Roman"/>
                <a:sym typeface="Times New Roman"/>
              </a:rPr>
              <a:t>Albawi</a:t>
            </a:r>
            <a:r>
              <a:rPr lang="en-US" sz="1400" dirty="0">
                <a:latin typeface="Times New Roman"/>
                <a:ea typeface="Times New Roman"/>
                <a:cs typeface="Times New Roman"/>
                <a:sym typeface="Times New Roman"/>
              </a:rPr>
              <a:t>, T. A. Mohammed and S. Al-</a:t>
            </a:r>
            <a:r>
              <a:rPr lang="en-US" sz="1400" dirty="0" err="1">
                <a:latin typeface="Times New Roman"/>
                <a:ea typeface="Times New Roman"/>
                <a:cs typeface="Times New Roman"/>
                <a:sym typeface="Times New Roman"/>
              </a:rPr>
              <a:t>Zawi</a:t>
            </a:r>
            <a:r>
              <a:rPr lang="en-US" sz="1400" dirty="0">
                <a:latin typeface="Times New Roman"/>
                <a:ea typeface="Times New Roman"/>
                <a:cs typeface="Times New Roman"/>
                <a:sym typeface="Times New Roman"/>
              </a:rPr>
              <a:t>, “Understanding of a Convolutional neural network,” 2017 International Conference on Engineering and Technology (ICET), Antalya, 2019, pp. 1-6, doi:10.1109/ICEngTechnol.2017.8308186. </a:t>
            </a:r>
            <a:endParaRPr sz="14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802661302"/>
      </p:ext>
    </p:extLst>
  </p:cSld>
  <p:clrMapOvr>
    <a:masterClrMapping/>
  </p:clrMapOvr>
  <p:transition spd="med">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4" name="Google Shape;104;p14"/>
          <p:cNvSpPr/>
          <p:nvPr/>
        </p:nvSpPr>
        <p:spPr>
          <a:xfrm>
            <a:off x="-1327355" y="0"/>
            <a:ext cx="13519355" cy="6858000"/>
          </a:xfrm>
          <a:custGeom>
            <a:avLst/>
            <a:gdLst/>
            <a:ahLst/>
            <a:cxnLst/>
            <a:rect l="l" t="t" r="r" b="b"/>
            <a:pathLst>
              <a:path w="12191999" h="5166360" extrusionOk="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2" name="Google Shape;102;p14"/>
          <p:cNvSpPr txBox="1">
            <a:spLocks noGrp="1"/>
          </p:cNvSpPr>
          <p:nvPr>
            <p:ph type="title"/>
          </p:nvPr>
        </p:nvSpPr>
        <p:spPr>
          <a:xfrm>
            <a:off x="0" y="-3732"/>
            <a:ext cx="12191999" cy="686173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Thank You</a:t>
            </a:r>
            <a:endParaRPr lang="en-US" dirty="0"/>
          </a:p>
        </p:txBody>
      </p:sp>
    </p:spTree>
    <p:extLst>
      <p:ext uri="{BB962C8B-B14F-4D97-AF65-F5344CB8AC3E}">
        <p14:creationId xmlns:p14="http://schemas.microsoft.com/office/powerpoint/2010/main" val="2307870675"/>
      </p:ext>
    </p:extLst>
  </p:cSld>
  <p:clrMapOvr>
    <a:masterClrMapping/>
  </p:clrMapOvr>
  <p:transition spd="med">
    <p:wip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1402</Words>
  <Application>Microsoft Office PowerPoint</Application>
  <PresentationFormat>Widescreen</PresentationFormat>
  <Paragraphs>150</Paragraphs>
  <Slides>24</Slides>
  <Notes>24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G. H. Raisoni Institute of Engineering and Technology, Wagholi, Pune Department of Computer</vt:lpstr>
      <vt:lpstr>INTRODUCTION</vt:lpstr>
      <vt:lpstr>Video Demonstration</vt:lpstr>
      <vt:lpstr>OBJECTIVE</vt:lpstr>
      <vt:lpstr>PROBLEM STATEMENT</vt:lpstr>
      <vt:lpstr>PURPOSE</vt:lpstr>
      <vt:lpstr>Literature Survey</vt:lpstr>
      <vt:lpstr>System Architecture</vt:lpstr>
      <vt:lpstr>Methodology</vt:lpstr>
      <vt:lpstr>… Methodology</vt:lpstr>
      <vt:lpstr>… Methodology</vt:lpstr>
      <vt:lpstr>… Methodology</vt:lpstr>
      <vt:lpstr>… Methodology</vt:lpstr>
      <vt:lpstr>Data Flow Diagram</vt:lpstr>
      <vt:lpstr>… Data Flow Diagram</vt:lpstr>
      <vt:lpstr>… Data Flow Diagram</vt:lpstr>
      <vt:lpstr>UML Diagram</vt:lpstr>
      <vt:lpstr>… UML Diagram</vt:lpstr>
      <vt:lpstr>… UML Diagram</vt:lpstr>
      <vt:lpstr>… UML Diagram</vt:lpstr>
      <vt:lpstr>Minimum Hardware &amp; Software Requirement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 H. Raisoni Institute of Engineering and Technology, Wagholi, Pune Department of Computer</dc:title>
  <cp:lastModifiedBy>Sandeep Malviya</cp:lastModifiedBy>
  <cp:revision>15</cp:revision>
  <dcterms:modified xsi:type="dcterms:W3CDTF">2022-01-06T09:46:54Z</dcterms:modified>
</cp:coreProperties>
</file>