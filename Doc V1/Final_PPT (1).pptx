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7" r:id="rId2"/>
    <p:sldId id="258" r:id="rId3"/>
    <p:sldId id="259" r:id="rId4"/>
    <p:sldId id="260" r:id="rId5"/>
    <p:sldId id="261" r:id="rId6"/>
    <p:sldId id="262" r:id="rId7"/>
    <p:sldId id="263" r:id="rId8"/>
    <p:sldId id="264" r:id="rId9"/>
    <p:sldId id="265" r:id="rId10"/>
    <p:sldId id="268"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C44EE8-7676-4859-97A3-99AFE2CE51D3}" v="4" dt="2022-05-15T18:16:47.557"/>
    <p1510:client id="{F9D84AD3-04A6-4BA7-AEAF-F8DBDCE41712}" v="16" dt="2022-05-15T17:19:30.303"/>
  </p1510:revLst>
</p1510:revInfo>
</file>

<file path=ppt/tableStyles.xml><?xml version="1.0" encoding="utf-8"?>
<a:tblStyleLst xmlns:a="http://schemas.openxmlformats.org/drawingml/2006/main" def="{5C22544A-7EE6-4342-B048-85BDC9FD1C3A}">
  <a:tblStyle styleId="{2F766FBE-8AF5-4515-8E5C-107FC7148F54}"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fill>
          <a:solidFill>
            <a:srgbClr val="CDD4EA"/>
          </a:solidFill>
        </a:fill>
      </a:tcStyle>
    </a:band2H>
    <a:band1V>
      <a:tcTxStyle b="off" i="off"/>
      <a:tcStyle>
        <a:tcBdr/>
        <a:fill>
          <a:solidFill>
            <a:srgbClr val="CDD4EA"/>
          </a:solidFill>
        </a:fill>
      </a:tcStyle>
    </a:band1V>
    <a:band2V>
      <a:tcTxStyle b="off" i="off"/>
      <a:tcStyle>
        <a:tcBdr/>
        <a:fill>
          <a:solidFill>
            <a:srgbClr val="CDD4EA"/>
          </a:solidFill>
        </a:fill>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op>
            <a:ln w="38100" cap="flat" cmpd="sng">
              <a:solidFill>
                <a:schemeClr val="lt1"/>
              </a:solidFill>
              <a:prstDash val="solid"/>
              <a:round/>
              <a:headEnd type="none" w="sm" len="sm"/>
              <a:tailEnd type="none" w="sm" len="sm"/>
            </a:ln>
          </a:top>
        </a:tcBdr>
        <a:fill>
          <a:solidFill>
            <a:schemeClr val="accent1"/>
          </a:solidFill>
        </a:fill>
      </a:tcStyle>
    </a:seCell>
    <a:swCell>
      <a:tcTxStyle b="off" i="off"/>
      <a:tcStyle>
        <a:tcBdr>
          <a:top>
            <a:ln w="38100" cap="flat" cmpd="sng">
              <a:solidFill>
                <a:schemeClr val="lt1"/>
              </a:solidFill>
              <a:prstDash val="solid"/>
              <a:round/>
              <a:headEnd type="none" w="sm" len="sm"/>
              <a:tailEnd type="none" w="sm" len="sm"/>
            </a:ln>
          </a:top>
        </a:tcBdr>
        <a:fill>
          <a:solidFill>
            <a:schemeClr val="accent1"/>
          </a:solidFill>
        </a:fill>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bottom>
            <a:ln w="38100" cap="flat" cmpd="sng">
              <a:solidFill>
                <a:schemeClr val="lt1"/>
              </a:solidFill>
              <a:prstDash val="solid"/>
              <a:round/>
              <a:headEnd type="none" w="sm" len="sm"/>
              <a:tailEnd type="none" w="sm" len="sm"/>
            </a:ln>
          </a:bottom>
        </a:tcBdr>
        <a:fill>
          <a:solidFill>
            <a:schemeClr val="accent1"/>
          </a:solidFill>
        </a:fill>
      </a:tcStyle>
    </a:neCell>
    <a:nwCell>
      <a:tcTxStyle b="off" i="off"/>
      <a:tcStyle>
        <a:tcBdr>
          <a:bottom>
            <a:ln w="38100" cap="flat" cmpd="sng">
              <a:solidFill>
                <a:schemeClr val="lt1"/>
              </a:solidFill>
              <a:prstDash val="solid"/>
              <a:round/>
              <a:headEnd type="none" w="sm" len="sm"/>
              <a:tailEnd type="none" w="sm" len="sm"/>
            </a:ln>
          </a:bottom>
        </a:tcBdr>
        <a:fill>
          <a:solidFill>
            <a:schemeClr val="accent1"/>
          </a:solidFill>
        </a:fill>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1048824"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825"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1048660"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661"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1048668" name="Google Shape;9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669"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048675" name="Google Shape;110;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676" name="Google Shape;11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048684" name="Google Shape;11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685" name="Google Shape;12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048691" name="Google Shape;131;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692" name="Google Shape;13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048700" name="Google Shape;14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701" name="Google Shape;14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048640" name="Google Shape;15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641" name="Google Shape;15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048629" name="Google Shape;160;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630" name="Google Shape;16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048613" name="Google Shape;16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614" name="Google Shape;17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1048605" name="Google Shape;206;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606" name="Google Shape;20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1048636" name="Google Shape;21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637" name="Google Shape;21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1048707" name="Google Shape;22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708" name="Google Shape;22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1048714" name="Google Shape;234;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715" name="Google Shape;235;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1048721" name="Google Shape;244;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722" name="Google Shape;24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1048728" name="Google Shape;254;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729" name="Google Shape;255;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1048735" name="Google Shape;264;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736" name="Google Shape;265;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1048742" name="Google Shape;274;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743" name="Google Shape;27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1048749" name="Google Shape;284;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750" name="Google Shape;28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1048756" name="Google Shape;29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757" name="Google Shape;295;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1048763" name="Google Shape;303;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764" name="Google Shape;304;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1048770" name="Google Shape;312;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771" name="Google Shape;313;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1048774" name="Google Shape;321;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775" name="Google Shape;322;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048642" name="Google Shape;12;p26"/>
          <p:cNvSpPr txBox="1">
            <a:spLocks noGrp="1"/>
          </p:cNvSpPr>
          <p:nvPr>
            <p:ph type="ctrTitle"/>
          </p:nvPr>
        </p:nvSpPr>
        <p:spPr>
          <a:xfrm>
            <a:off x="914400" y="1122363"/>
            <a:ext cx="103632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643" name="Google Shape;13;p2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048644" name="Google Shape;14;p26"/>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645" name="Google Shape;15;p26"/>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646" name="Google Shape;16;p2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transition spd="med">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048581" name="Google Shape;18;p27"/>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582" name="Google Shape;19;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endParaRPr/>
          </a:p>
        </p:txBody>
      </p:sp>
      <p:sp>
        <p:nvSpPr>
          <p:cNvPr id="1048583" name="Google Shape;20;p27"/>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584" name="Google Shape;21;p27"/>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585" name="Google Shape;22;p2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transition spd="med">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1048808" name="Google Shape;24;p28"/>
          <p:cNvSpPr txBox="1">
            <a:spLocks noGrp="1"/>
          </p:cNvSpPr>
          <p:nvPr>
            <p:ph type="title"/>
          </p:nvPr>
        </p:nvSpPr>
        <p:spPr>
          <a:xfrm>
            <a:off x="831851" y="1709740"/>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809" name="Google Shape;25;p28"/>
          <p:cNvSpPr txBox="1">
            <a:spLocks noGrp="1"/>
          </p:cNvSpPr>
          <p:nvPr>
            <p:ph type="body" idx="1"/>
          </p:nvPr>
        </p:nvSpPr>
        <p:spPr>
          <a:xfrm>
            <a:off x="831851" y="4589465"/>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048810" name="Google Shape;26;p28"/>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811" name="Google Shape;27;p28"/>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812" name="Google Shape;28;p28"/>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transition spd="med">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1048776" name="Google Shape;30;p29"/>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777" name="Google Shape;31;p2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endParaRPr/>
          </a:p>
        </p:txBody>
      </p:sp>
      <p:sp>
        <p:nvSpPr>
          <p:cNvPr id="1048778" name="Google Shape;32;p2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endParaRPr/>
          </a:p>
        </p:txBody>
      </p:sp>
      <p:sp>
        <p:nvSpPr>
          <p:cNvPr id="1048779" name="Google Shape;33;p29"/>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780" name="Google Shape;34;p29"/>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781" name="Google Shape;35;p29"/>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transition spd="med">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1048782" name="Google Shape;37;p30"/>
          <p:cNvSpPr txBox="1">
            <a:spLocks noGrp="1"/>
          </p:cNvSpPr>
          <p:nvPr>
            <p:ph type="title"/>
          </p:nvPr>
        </p:nvSpPr>
        <p:spPr>
          <a:xfrm>
            <a:off x="839788" y="36512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783" name="Google Shape;38;p30"/>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48784" name="Google Shape;39;p30"/>
          <p:cNvSpPr txBox="1">
            <a:spLocks noGrp="1"/>
          </p:cNvSpPr>
          <p:nvPr>
            <p:ph type="body" idx="2"/>
          </p:nvPr>
        </p:nvSpPr>
        <p:spPr>
          <a:xfrm>
            <a:off x="839789"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endParaRPr/>
          </a:p>
        </p:txBody>
      </p:sp>
      <p:sp>
        <p:nvSpPr>
          <p:cNvPr id="1048785" name="Google Shape;40;p30"/>
          <p:cNvSpPr txBox="1">
            <a:spLocks noGrp="1"/>
          </p:cNvSpPr>
          <p:nvPr>
            <p:ph type="body" idx="3"/>
          </p:nvPr>
        </p:nvSpPr>
        <p:spPr>
          <a:xfrm>
            <a:off x="6172201"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48786" name="Google Shape;41;p30"/>
          <p:cNvSpPr txBox="1">
            <a:spLocks noGrp="1"/>
          </p:cNvSpPr>
          <p:nvPr>
            <p:ph type="body" idx="4"/>
          </p:nvPr>
        </p:nvSpPr>
        <p:spPr>
          <a:xfrm>
            <a:off x="6172201"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endParaRPr/>
          </a:p>
        </p:txBody>
      </p:sp>
      <p:sp>
        <p:nvSpPr>
          <p:cNvPr id="1048787" name="Google Shape;42;p30"/>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788" name="Google Shape;43;p30"/>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789" name="Google Shape;44;p30"/>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transition spd="med">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1048790" name="Google Shape;46;p31"/>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791" name="Google Shape;47;p31"/>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792" name="Google Shape;48;p31"/>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793" name="Google Shape;49;p31"/>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transition spd="med">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1048799" name="Google Shape;51;p32"/>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800" name="Google Shape;52;p32"/>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801" name="Google Shape;53;p32"/>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transition spd="med">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1048818" name="Google Shape;55;p3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819" name="Google Shape;56;p33"/>
          <p:cNvSpPr txBox="1">
            <a:spLocks noGrp="1"/>
          </p:cNvSpPr>
          <p:nvPr>
            <p:ph type="body" idx="1"/>
          </p:nvPr>
        </p:nvSpPr>
        <p:spPr>
          <a:xfrm>
            <a:off x="5183188" y="987427"/>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048820" name="Google Shape;57;p3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48821" name="Google Shape;58;p33"/>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822" name="Google Shape;59;p33"/>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823" name="Google Shape;60;p33"/>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transition spd="med">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1048802" name="Google Shape;62;p3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803" name="Google Shape;63;p34"/>
          <p:cNvSpPr>
            <a:spLocks noGrp="1"/>
          </p:cNvSpPr>
          <p:nvPr>
            <p:ph type="pic" idx="2"/>
          </p:nvPr>
        </p:nvSpPr>
        <p:spPr>
          <a:xfrm>
            <a:off x="5183188" y="987427"/>
            <a:ext cx="6172200" cy="4873625"/>
          </a:xfrm>
          <a:prstGeom prst="rect">
            <a:avLst/>
          </a:prstGeom>
          <a:noFill/>
          <a:ln>
            <a:noFill/>
          </a:ln>
        </p:spPr>
      </p:sp>
      <p:sp>
        <p:nvSpPr>
          <p:cNvPr id="1048804" name="Google Shape;64;p3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48805" name="Google Shape;65;p34"/>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806" name="Google Shape;66;p34"/>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807" name="Google Shape;67;p34"/>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transition spd="med">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1048813" name="Google Shape;69;p35"/>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814" name="Google Shape;70;p3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endParaRPr/>
          </a:p>
        </p:txBody>
      </p:sp>
      <p:sp>
        <p:nvSpPr>
          <p:cNvPr id="1048815" name="Google Shape;71;p35"/>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816" name="Google Shape;72;p35"/>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817" name="Google Shape;73;p35"/>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transition spd="med">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1048794" name="Google Shape;75;p36"/>
          <p:cNvSpPr txBox="1">
            <a:spLocks noGrp="1"/>
          </p:cNvSpPr>
          <p:nvPr>
            <p:ph type="title"/>
          </p:nvPr>
        </p:nvSpPr>
        <p:spPr>
          <a:xfrm rot="5400000">
            <a:off x="7133432"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795" name="Google Shape;76;p36"/>
          <p:cNvSpPr txBox="1">
            <a:spLocks noGrp="1"/>
          </p:cNvSpPr>
          <p:nvPr>
            <p:ph type="body" idx="1"/>
          </p:nvPr>
        </p:nvSpPr>
        <p:spPr>
          <a:xfrm rot="5400000">
            <a:off x="1799432"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endParaRPr/>
          </a:p>
        </p:txBody>
      </p:sp>
      <p:sp>
        <p:nvSpPr>
          <p:cNvPr id="1048796" name="Google Shape;77;p36"/>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797" name="Google Shape;78;p36"/>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798" name="Google Shape;79;p3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transition spd="med">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1048576" name="Google Shape;6;p25"/>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48577" name="Google Shape;7;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48578" name="Google Shape;8;p25"/>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48579" name="Google Shape;9;p25"/>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48580" name="Google Shape;10;p25"/>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hyperlink" Target="http://drive.google.com/file/d/1_R082VMYsuyGt-lAJCjs_74atfZJ5Qp5/view"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1048647" name="Google Shape;84;p1"/>
          <p:cNvSpPr/>
          <p:nvPr/>
        </p:nvSpPr>
        <p:spPr>
          <a:xfrm>
            <a:off x="0" y="0"/>
            <a:ext cx="12192000"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48" name="Google Shape;85;p1"/>
          <p:cNvSpPr/>
          <p:nvPr/>
        </p:nvSpPr>
        <p:spPr>
          <a:xfrm rot="2700000">
            <a:off x="82782" y="-1386168"/>
            <a:ext cx="2424873" cy="3611191"/>
          </a:xfrm>
          <a:custGeom>
            <a:avLst/>
            <a:gdLst/>
            <a:ahLst/>
            <a:cxnLst/>
            <a:rect l="l" t="t" r="r" b="b"/>
            <a:pathLst>
              <a:path w="2424873" h="3611191" extrusionOk="0">
                <a:moveTo>
                  <a:pt x="0" y="2424874"/>
                </a:moveTo>
                <a:lnTo>
                  <a:pt x="2424873" y="0"/>
                </a:lnTo>
                <a:lnTo>
                  <a:pt x="2424873" y="3611191"/>
                </a:lnTo>
                <a:lnTo>
                  <a:pt x="1186317" y="3611191"/>
                </a:lnTo>
                <a:close/>
              </a:path>
            </a:pathLst>
          </a:custGeom>
          <a:solidFill>
            <a:schemeClr val="accent4">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49" name="Google Shape;86;p1"/>
          <p:cNvSpPr/>
          <p:nvPr/>
        </p:nvSpPr>
        <p:spPr>
          <a:xfrm rot="2700000">
            <a:off x="1571000" y="-338582"/>
            <a:ext cx="1635955" cy="1635955"/>
          </a:xfrm>
          <a:custGeom>
            <a:avLst/>
            <a:gdLst/>
            <a:ahLst/>
            <a:cxnLst/>
            <a:rect l="l" t="t" r="r" b="b"/>
            <a:pathLst>
              <a:path w="1635955" h="1635955" extrusionOk="0">
                <a:moveTo>
                  <a:pt x="0" y="957987"/>
                </a:moveTo>
                <a:lnTo>
                  <a:pt x="957987" y="0"/>
                </a:lnTo>
                <a:lnTo>
                  <a:pt x="1635955" y="0"/>
                </a:lnTo>
                <a:lnTo>
                  <a:pt x="1635955" y="1635955"/>
                </a:lnTo>
                <a:lnTo>
                  <a:pt x="0" y="1635955"/>
                </a:lnTo>
                <a:close/>
              </a:path>
            </a:pathLst>
          </a:custGeom>
          <a:solidFill>
            <a:schemeClr val="accent4">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50" name="Google Shape;87;p1"/>
          <p:cNvSpPr/>
          <p:nvPr/>
        </p:nvSpPr>
        <p:spPr>
          <a:xfrm rot="2700000">
            <a:off x="9627985" y="-6588"/>
            <a:ext cx="4059393" cy="2548110"/>
          </a:xfrm>
          <a:custGeom>
            <a:avLst/>
            <a:gdLst/>
            <a:ahLst/>
            <a:cxnLst/>
            <a:rect l="l" t="t" r="r" b="b"/>
            <a:pathLst>
              <a:path w="4059393" h="2548110" extrusionOk="0">
                <a:moveTo>
                  <a:pt x="0" y="1511282"/>
                </a:moveTo>
                <a:lnTo>
                  <a:pt x="1511282" y="0"/>
                </a:lnTo>
                <a:lnTo>
                  <a:pt x="4059393" y="2548110"/>
                </a:lnTo>
                <a:lnTo>
                  <a:pt x="0" y="2548110"/>
                </a:lnTo>
                <a:close/>
              </a:path>
            </a:pathLst>
          </a:custGeom>
          <a:solidFill>
            <a:schemeClr val="accent1">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51" name="Google Shape;88;p1"/>
          <p:cNvSpPr/>
          <p:nvPr/>
        </p:nvSpPr>
        <p:spPr>
          <a:xfrm rot="2700000">
            <a:off x="10262924" y="1465780"/>
            <a:ext cx="1185708" cy="1185708"/>
          </a:xfrm>
          <a:prstGeom prst="rect">
            <a:avLst/>
          </a:prstGeom>
          <a:solidFill>
            <a:schemeClr val="accent1">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52" name="Google Shape;89;p1"/>
          <p:cNvSpPr/>
          <p:nvPr/>
        </p:nvSpPr>
        <p:spPr>
          <a:xfrm rot="2700000">
            <a:off x="-29557" y="5198743"/>
            <a:ext cx="2444907" cy="2366116"/>
          </a:xfrm>
          <a:custGeom>
            <a:avLst/>
            <a:gdLst/>
            <a:ahLst/>
            <a:cxnLst/>
            <a:rect l="l" t="t" r="r" b="b"/>
            <a:pathLst>
              <a:path w="2203753" h="2132734" extrusionOk="0">
                <a:moveTo>
                  <a:pt x="0" y="0"/>
                </a:moveTo>
                <a:lnTo>
                  <a:pt x="2203753" y="0"/>
                </a:lnTo>
                <a:lnTo>
                  <a:pt x="2203753" y="576461"/>
                </a:lnTo>
                <a:lnTo>
                  <a:pt x="647480" y="2132734"/>
                </a:lnTo>
                <a:lnTo>
                  <a:pt x="0" y="1485255"/>
                </a:lnTo>
                <a:close/>
              </a:path>
            </a:pathLst>
          </a:custGeom>
          <a:solidFill>
            <a:schemeClr val="accent1">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53" name="Google Shape;90;p1"/>
          <p:cNvSpPr/>
          <p:nvPr/>
        </p:nvSpPr>
        <p:spPr>
          <a:xfrm rot="2700000">
            <a:off x="1769787" y="5439893"/>
            <a:ext cx="928467" cy="928467"/>
          </a:xfrm>
          <a:prstGeom prst="rect">
            <a:avLst/>
          </a:prstGeom>
          <a:solidFill>
            <a:schemeClr val="accent1">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8654" name="Google Shape;91;p1"/>
          <p:cNvSpPr/>
          <p:nvPr/>
        </p:nvSpPr>
        <p:spPr>
          <a:xfrm rot="2700000">
            <a:off x="3401311" y="734311"/>
            <a:ext cx="5389379" cy="5389379"/>
          </a:xfrm>
          <a:custGeom>
            <a:avLst/>
            <a:gdLst/>
            <a:ahLst/>
            <a:cxnLst/>
            <a:rect l="l" t="t" r="r" b="b"/>
            <a:pathLst>
              <a:path w="5389379" h="5389379" extrusionOk="0">
                <a:moveTo>
                  <a:pt x="0" y="540040"/>
                </a:moveTo>
                <a:lnTo>
                  <a:pt x="540040" y="0"/>
                </a:lnTo>
                <a:lnTo>
                  <a:pt x="5389379" y="0"/>
                </a:lnTo>
                <a:lnTo>
                  <a:pt x="5389379" y="4838655"/>
                </a:lnTo>
                <a:lnTo>
                  <a:pt x="4838655" y="5389379"/>
                </a:lnTo>
                <a:lnTo>
                  <a:pt x="0" y="5389379"/>
                </a:ln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55" name="Google Shape;92;p1"/>
          <p:cNvSpPr/>
          <p:nvPr/>
        </p:nvSpPr>
        <p:spPr>
          <a:xfrm rot="2700000">
            <a:off x="2700283" y="33283"/>
            <a:ext cx="6791435" cy="6791435"/>
          </a:xfrm>
          <a:custGeom>
            <a:avLst/>
            <a:gdLst/>
            <a:ahLst/>
            <a:cxnLst/>
            <a:rect l="l" t="t" r="r" b="b"/>
            <a:pathLst>
              <a:path w="6791435" h="6791435" extrusionOk="0">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48656" name="Google Shape;93;p1"/>
          <p:cNvSpPr txBox="1">
            <a:spLocks noGrp="1"/>
          </p:cNvSpPr>
          <p:nvPr>
            <p:ph type="ctrTitle"/>
          </p:nvPr>
        </p:nvSpPr>
        <p:spPr>
          <a:xfrm>
            <a:off x="2141348" y="297348"/>
            <a:ext cx="9791483" cy="144091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80808"/>
              </a:buClr>
              <a:buSzPts val="3500"/>
              <a:buFont typeface="Calibri"/>
              <a:buNone/>
            </a:pPr>
            <a:r>
              <a:rPr lang="en-US" sz="3500" b="1">
                <a:solidFill>
                  <a:srgbClr val="080808"/>
                </a:solidFill>
              </a:rPr>
              <a:t>G. H. Raisoni Institute of Engineering and Technology, Wagholi, Pune</a:t>
            </a:r>
            <a:br>
              <a:rPr lang="en-US" sz="3500" b="1"/>
            </a:br>
            <a:r>
              <a:rPr lang="en-US" sz="3500" b="1">
                <a:solidFill>
                  <a:srgbClr val="080808"/>
                </a:solidFill>
              </a:rPr>
              <a:t>Department of Computer</a:t>
            </a:r>
            <a:endParaRPr sz="3600">
              <a:solidFill>
                <a:srgbClr val="080808"/>
              </a:solidFill>
            </a:endParaRPr>
          </a:p>
        </p:txBody>
      </p:sp>
      <p:sp>
        <p:nvSpPr>
          <p:cNvPr id="1048657" name="Google Shape;94;p1"/>
          <p:cNvSpPr/>
          <p:nvPr/>
        </p:nvSpPr>
        <p:spPr>
          <a:xfrm rot="2700000">
            <a:off x="9629823" y="5457591"/>
            <a:ext cx="2231794" cy="2568811"/>
          </a:xfrm>
          <a:custGeom>
            <a:avLst/>
            <a:gdLst/>
            <a:ahLst/>
            <a:cxnLst/>
            <a:rect l="l" t="t" r="r" b="b"/>
            <a:pathLst>
              <a:path w="2940086" h="3384061" extrusionOk="0">
                <a:moveTo>
                  <a:pt x="0" y="0"/>
                </a:moveTo>
                <a:lnTo>
                  <a:pt x="2496112" y="0"/>
                </a:lnTo>
                <a:lnTo>
                  <a:pt x="2940086" y="443975"/>
                </a:lnTo>
                <a:lnTo>
                  <a:pt x="0" y="3384061"/>
                </a:lnTo>
                <a:close/>
              </a:path>
            </a:pathLst>
          </a:custGeom>
          <a:solidFill>
            <a:schemeClr val="accent4">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58" name="Google Shape;95;p1"/>
          <p:cNvSpPr/>
          <p:nvPr/>
        </p:nvSpPr>
        <p:spPr>
          <a:xfrm rot="2700000">
            <a:off x="9720059" y="5243545"/>
            <a:ext cx="959985" cy="959985"/>
          </a:xfrm>
          <a:prstGeom prst="rect">
            <a:avLst/>
          </a:prstGeom>
          <a:solidFill>
            <a:schemeClr val="accent4">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59" name="Google Shape;96;p1"/>
          <p:cNvSpPr txBox="1"/>
          <p:nvPr/>
        </p:nvSpPr>
        <p:spPr>
          <a:xfrm>
            <a:off x="259168" y="2243451"/>
            <a:ext cx="11673663" cy="4345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PROJECT NAME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Times New Roman"/>
                <a:ea typeface="Times New Roman"/>
                <a:cs typeface="Times New Roman"/>
                <a:sym typeface="Times New Roman"/>
              </a:rPr>
              <a:t>Real-time Sign Language To English Language Conversion Using CNN For Disabled People</a:t>
            </a: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GROUP MEMBERS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Times New Roman"/>
                <a:ea typeface="Times New Roman"/>
                <a:cs typeface="Times New Roman"/>
                <a:sym typeface="Times New Roman"/>
              </a:rPr>
              <a:t>Vaibhavi Padamwar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Times New Roman"/>
                <a:ea typeface="Times New Roman"/>
                <a:cs typeface="Times New Roman"/>
                <a:sym typeface="Times New Roman"/>
              </a:rPr>
              <a:t>Sandeep Malviya</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Times New Roman"/>
                <a:ea typeface="Times New Roman"/>
                <a:cs typeface="Times New Roman"/>
                <a:sym typeface="Times New Roman"/>
              </a:rPr>
              <a:t>Harshada Patil</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Times New Roman"/>
                <a:ea typeface="Times New Roman"/>
                <a:cs typeface="Times New Roman"/>
                <a:sym typeface="Times New Roman"/>
              </a:rPr>
              <a:t>Sanghavi Appam</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GUIDE NAME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Times New Roman"/>
                <a:ea typeface="Times New Roman"/>
                <a:cs typeface="Times New Roman"/>
                <a:sym typeface="Times New Roman"/>
              </a:rPr>
              <a:t>Prof. Disha Deotale</a:t>
            </a:r>
            <a:endParaRPr sz="1400" b="0" i="0" u="none" strike="noStrike" cap="none">
              <a:solidFill>
                <a:srgbClr val="000000"/>
              </a:solidFill>
              <a:latin typeface="Arial"/>
              <a:ea typeface="Arial"/>
              <a:cs typeface="Arial"/>
              <a:sym typeface="Arial"/>
            </a:endParaRPr>
          </a:p>
        </p:txBody>
      </p:sp>
      <p:pic>
        <p:nvPicPr>
          <p:cNvPr id="2097155" name="Google Shape;97;p1" descr="Logo  Description automatically generated"/>
          <p:cNvPicPr preferRelativeResize="0">
            <a:picLocks/>
          </p:cNvPicPr>
          <p:nvPr/>
        </p:nvPicPr>
        <p:blipFill rotWithShape="1">
          <a:blip r:embed="rId3">
            <a:alphaModFix/>
          </a:blip>
          <a:srcRect/>
          <a:stretch>
            <a:fillRect/>
          </a:stretch>
        </p:blipFill>
        <p:spPr>
          <a:xfrm>
            <a:off x="259168" y="241077"/>
            <a:ext cx="1733550" cy="1543050"/>
          </a:xfrm>
          <a:prstGeom prst="rect">
            <a:avLst/>
          </a:prstGeom>
          <a:noFill/>
          <a:ln>
            <a:noFill/>
          </a:ln>
        </p:spPr>
      </p:pic>
    </p:spTree>
  </p:cSld>
  <p:clrMapOvr>
    <a:masterClrMapping/>
  </p:clrMapOvr>
  <p:transition spd="med">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48662" name="Google Shape;102;p2"/>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INTRODUCTION</a:t>
            </a:r>
          </a:p>
        </p:txBody>
      </p:sp>
      <p:sp>
        <p:nvSpPr>
          <p:cNvPr id="1048663" name="Google Shape;103;p2"/>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64" name="Google Shape;104;p2"/>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65" name="Google Shape;105;p2"/>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66" name="Google Shape;106;p2"/>
          <p:cNvSpPr txBox="1">
            <a:spLocks noGrp="1"/>
          </p:cNvSpPr>
          <p:nvPr>
            <p:ph type="body" idx="1"/>
          </p:nvPr>
        </p:nvSpPr>
        <p:spPr>
          <a:xfrm>
            <a:off x="1219200" y="1406012"/>
            <a:ext cx="10785987" cy="1117252"/>
          </a:xfrm>
          <a:prstGeom prst="rect">
            <a:avLst/>
          </a:prstGeom>
          <a:noFill/>
          <a:ln>
            <a:noFill/>
          </a:ln>
        </p:spPr>
        <p:txBody>
          <a:bodyPr spcFirstLastPara="1" wrap="square" lIns="91425" tIns="45700" rIns="91425" bIns="45700" anchor="t" anchorCtr="0">
            <a:normAutofit/>
          </a:bodyPr>
          <a:lstStyle/>
          <a:p>
            <a:pPr marL="228600" lvl="0" indent="-228600" algn="just" rtl="0">
              <a:lnSpc>
                <a:spcPct val="100000"/>
              </a:lnSpc>
              <a:spcBef>
                <a:spcPts val="0"/>
              </a:spcBef>
              <a:spcAft>
                <a:spcPts val="0"/>
              </a:spcAft>
              <a:buClr>
                <a:schemeClr val="dk1"/>
              </a:buClr>
              <a:buSzPts val="2200"/>
              <a:buChar char="•"/>
            </a:pPr>
            <a:r>
              <a:rPr lang="en-US" sz="2000">
                <a:latin typeface="Times New Roman"/>
                <a:ea typeface="Times New Roman"/>
                <a:cs typeface="Times New Roman"/>
                <a:sym typeface="Times New Roman"/>
              </a:rPr>
              <a:t>There are people who are facing illnesses such as deafness or dumbness. </a:t>
            </a:r>
            <a:r>
              <a:rPr lang="en-US" sz="2000" b="1">
                <a:latin typeface="Times New Roman"/>
                <a:ea typeface="Times New Roman"/>
                <a:cs typeface="Times New Roman"/>
                <a:sym typeface="Times New Roman"/>
              </a:rPr>
              <a:t>They face difficulty interacting with others</a:t>
            </a:r>
            <a:r>
              <a:rPr lang="en-US" sz="2000">
                <a:latin typeface="Times New Roman"/>
                <a:ea typeface="Times New Roman"/>
                <a:cs typeface="Times New Roman"/>
                <a:sym typeface="Times New Roman"/>
              </a:rPr>
              <a:t>. Previously developed techniques are all sensors based and they didn’t give the general solution. </a:t>
            </a:r>
            <a:endParaRPr sz="2000">
              <a:latin typeface="Times New Roman"/>
              <a:ea typeface="Times New Roman"/>
              <a:cs typeface="Times New Roman"/>
              <a:sym typeface="Times New Roman"/>
            </a:endParaRPr>
          </a:p>
        </p:txBody>
      </p:sp>
      <p:pic>
        <p:nvPicPr>
          <p:cNvPr id="2097156" name="Google Shape;107;p2"/>
          <p:cNvPicPr preferRelativeResize="0">
            <a:picLocks/>
          </p:cNvPicPr>
          <p:nvPr/>
        </p:nvPicPr>
        <p:blipFill rotWithShape="1">
          <a:blip r:embed="rId3">
            <a:alphaModFix/>
          </a:blip>
          <a:srcRect/>
          <a:stretch>
            <a:fillRect/>
          </a:stretch>
        </p:blipFill>
        <p:spPr>
          <a:xfrm>
            <a:off x="8288326" y="2556392"/>
            <a:ext cx="3636883" cy="3655616"/>
          </a:xfrm>
          <a:prstGeom prst="rect">
            <a:avLst/>
          </a:prstGeom>
          <a:noFill/>
          <a:ln>
            <a:noFill/>
          </a:ln>
        </p:spPr>
      </p:pic>
      <p:sp>
        <p:nvSpPr>
          <p:cNvPr id="1048667" name="Google Shape;108;p2"/>
          <p:cNvSpPr txBox="1"/>
          <p:nvPr/>
        </p:nvSpPr>
        <p:spPr>
          <a:xfrm>
            <a:off x="1219200" y="2438399"/>
            <a:ext cx="6870741" cy="4168877"/>
          </a:xfrm>
          <a:prstGeom prst="rect">
            <a:avLst/>
          </a:prstGeom>
          <a:noFill/>
          <a:ln>
            <a:noFill/>
          </a:ln>
        </p:spPr>
        <p:txBody>
          <a:bodyPr spcFirstLastPara="1" wrap="square" lIns="91425" tIns="45700" rIns="91425" bIns="45700" anchor="t" anchorCtr="0">
            <a:normAutofit fontScale="95455" lnSpcReduction="10000"/>
          </a:bodyPr>
          <a:lstStyle/>
          <a:p>
            <a:pPr marL="228600" marR="0" lvl="0" indent="-228600" algn="just" rtl="0">
              <a:lnSpc>
                <a:spcPct val="110000"/>
              </a:lnSpc>
              <a:spcBef>
                <a:spcPts val="1000"/>
              </a:spcBef>
              <a:spcAft>
                <a:spcPts val="0"/>
              </a:spcAft>
              <a:buClr>
                <a:schemeClr val="dk1"/>
              </a:buClr>
              <a:buSzPct val="108108"/>
              <a:buFont typeface="Arial"/>
              <a:buChar char="•"/>
            </a:pPr>
            <a:r>
              <a:rPr lang="en-US" sz="2200" b="0" i="0" u="none" strike="noStrike" cap="none">
                <a:solidFill>
                  <a:schemeClr val="dk1"/>
                </a:solidFill>
                <a:latin typeface="Times New Roman"/>
                <a:ea typeface="Times New Roman"/>
                <a:cs typeface="Times New Roman"/>
                <a:sym typeface="Times New Roman"/>
              </a:rPr>
              <a:t>This presentation explains a new technique of </a:t>
            </a:r>
            <a:r>
              <a:rPr lang="en-US" sz="2200" b="1" i="0" u="none" strike="noStrike" cap="none">
                <a:solidFill>
                  <a:schemeClr val="dk1"/>
                </a:solidFill>
                <a:latin typeface="Times New Roman"/>
                <a:ea typeface="Times New Roman"/>
                <a:cs typeface="Times New Roman"/>
                <a:sym typeface="Times New Roman"/>
              </a:rPr>
              <a:t>virtual talking without sensors</a:t>
            </a:r>
            <a:r>
              <a:rPr lang="en-US" sz="2200" b="0" i="0" u="none" strike="noStrike" cap="none">
                <a:solidFill>
                  <a:schemeClr val="dk1"/>
                </a:solidFill>
                <a:latin typeface="Times New Roman"/>
                <a:ea typeface="Times New Roman"/>
                <a:cs typeface="Times New Roman"/>
                <a:sym typeface="Times New Roman"/>
              </a:rPr>
              <a:t>. Convolutional Neural Network has been used to train the System. Web Camera is used to take the image of different gestures and that will be used as input to the </a:t>
            </a:r>
            <a:r>
              <a:rPr lang="en-US" sz="2200" b="1" i="0" u="none" strike="noStrike" cap="none">
                <a:solidFill>
                  <a:schemeClr val="dk1"/>
                </a:solidFill>
                <a:latin typeface="Times New Roman"/>
                <a:ea typeface="Times New Roman"/>
                <a:cs typeface="Times New Roman"/>
                <a:sym typeface="Times New Roman"/>
              </a:rPr>
              <a:t>MATLAB</a:t>
            </a:r>
            <a:r>
              <a:rPr lang="en-US" sz="2200" b="0" i="0" u="none" strike="noStrike" cap="none">
                <a:solidFill>
                  <a:schemeClr val="dk1"/>
                </a:solidFill>
                <a:latin typeface="Times New Roman"/>
                <a:ea typeface="Times New Roman"/>
                <a:cs typeface="Times New Roman"/>
                <a:sym typeface="Times New Roman"/>
              </a:rPr>
              <a:t>. </a:t>
            </a:r>
          </a:p>
          <a:p>
            <a:pPr marL="228600" marR="0" lvl="0" indent="-228600" algn="just" rtl="0">
              <a:lnSpc>
                <a:spcPct val="110000"/>
              </a:lnSpc>
              <a:spcBef>
                <a:spcPts val="1000"/>
              </a:spcBef>
              <a:spcAft>
                <a:spcPts val="0"/>
              </a:spcAft>
              <a:buClr>
                <a:schemeClr val="dk1"/>
              </a:buClr>
              <a:buSzPct val="108108"/>
              <a:buFont typeface="Arial"/>
              <a:buChar char="•"/>
            </a:pPr>
            <a:r>
              <a:rPr lang="en-US" sz="2200" b="0" i="0" u="none" strike="noStrike" cap="none">
                <a:solidFill>
                  <a:schemeClr val="dk1"/>
                </a:solidFill>
                <a:latin typeface="Times New Roman"/>
                <a:ea typeface="Times New Roman"/>
                <a:cs typeface="Times New Roman"/>
                <a:sym typeface="Times New Roman"/>
              </a:rPr>
              <a:t>The </a:t>
            </a:r>
            <a:r>
              <a:rPr lang="en-US" sz="2200" b="1" i="0" u="none" strike="noStrike" cap="none">
                <a:solidFill>
                  <a:schemeClr val="dk1"/>
                </a:solidFill>
                <a:latin typeface="Times New Roman"/>
                <a:ea typeface="Times New Roman"/>
                <a:cs typeface="Times New Roman"/>
                <a:sym typeface="Times New Roman"/>
              </a:rPr>
              <a:t>software will recognize the image </a:t>
            </a:r>
            <a:r>
              <a:rPr lang="en-US" sz="2200" b="0" i="0" u="none" strike="noStrike" cap="none">
                <a:solidFill>
                  <a:schemeClr val="dk1"/>
                </a:solidFill>
                <a:latin typeface="Times New Roman"/>
                <a:ea typeface="Times New Roman"/>
                <a:cs typeface="Times New Roman"/>
                <a:sym typeface="Times New Roman"/>
              </a:rPr>
              <a:t>and identify the cores sign language and convert them to English language and give voice output using a voice replay kit.</a:t>
            </a:r>
          </a:p>
          <a:p>
            <a:pPr marL="228600" marR="0" lvl="0" indent="-228600" algn="just" rtl="0">
              <a:lnSpc>
                <a:spcPct val="110000"/>
              </a:lnSpc>
              <a:spcBef>
                <a:spcPts val="1000"/>
              </a:spcBef>
              <a:spcAft>
                <a:spcPts val="0"/>
              </a:spcAft>
              <a:buClr>
                <a:schemeClr val="dk1"/>
              </a:buClr>
              <a:buSzPct val="108108"/>
              <a:buFont typeface="Arial"/>
              <a:buChar char="•"/>
            </a:pPr>
            <a:r>
              <a:rPr lang="en-US" sz="2200" b="0" i="0" u="none" strike="noStrike" cap="none">
                <a:solidFill>
                  <a:schemeClr val="dk1"/>
                </a:solidFill>
                <a:latin typeface="Times New Roman"/>
                <a:ea typeface="Times New Roman"/>
                <a:cs typeface="Times New Roman"/>
                <a:sym typeface="Times New Roman"/>
              </a:rPr>
              <a:t>Such as two-way communications between the dumb and normal people would be capable by converting the sign language to text and voice for various uses such as on video conference.</a:t>
            </a:r>
          </a:p>
        </p:txBody>
      </p:sp>
    </p:spTree>
  </p:cSld>
  <p:clrMapOvr>
    <a:masterClrMapping/>
  </p:clrMapOvr>
  <p:transition spd="med">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048670" name="Google Shape;113;p3"/>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Video Demonstration</a:t>
            </a:r>
          </a:p>
        </p:txBody>
      </p:sp>
      <p:sp>
        <p:nvSpPr>
          <p:cNvPr id="1048671" name="Google Shape;114;p3"/>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72" name="Google Shape;115;p3"/>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73" name="Google Shape;116;p3"/>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097157" name="Google Shape;117;p3"/>
          <p:cNvPicPr preferRelativeResize="0">
            <a:picLocks/>
          </p:cNvPicPr>
          <p:nvPr/>
        </p:nvPicPr>
        <p:blipFill rotWithShape="1">
          <a:blip r:embed="rId3">
            <a:alphaModFix/>
          </a:blip>
          <a:srcRect/>
          <a:stretch>
            <a:fillRect/>
          </a:stretch>
        </p:blipFill>
        <p:spPr>
          <a:xfrm>
            <a:off x="2458921" y="1286308"/>
            <a:ext cx="7274156" cy="4001732"/>
          </a:xfrm>
          <a:prstGeom prst="rect">
            <a:avLst/>
          </a:prstGeom>
          <a:noFill/>
          <a:ln>
            <a:noFill/>
          </a:ln>
        </p:spPr>
      </p:pic>
      <p:sp>
        <p:nvSpPr>
          <p:cNvPr id="1048674" name="TextBox 1048673"/>
          <p:cNvSpPr txBox="1"/>
          <p:nvPr/>
        </p:nvSpPr>
        <p:spPr>
          <a:xfrm>
            <a:off x="3230031" y="5551791"/>
            <a:ext cx="6503046" cy="586740"/>
          </a:xfrm>
          <a:prstGeom prst="rect">
            <a:avLst/>
          </a:prstGeom>
        </p:spPr>
        <p:txBody>
          <a:bodyPr wrap="square" rtlCol="0">
            <a:spAutoFit/>
          </a:bodyPr>
          <a:lstStyle/>
          <a:p>
            <a:r>
              <a:rPr lang="en-US" sz="3300">
                <a:solidFill>
                  <a:srgbClr val="000000"/>
                </a:solidFill>
              </a:rPr>
              <a:t>Deaf people work at kfc india</a:t>
            </a:r>
            <a:r>
              <a:rPr lang="en-US" sz="2800">
                <a:solidFill>
                  <a:srgbClr val="000000"/>
                </a:solidFill>
              </a:rPr>
              <a:t> </a:t>
            </a:r>
            <a:endParaRPr lang="en-IN" sz="2800">
              <a:solidFill>
                <a:srgbClr val="000000"/>
              </a:solidFill>
            </a:endParaRPr>
          </a:p>
        </p:txBody>
      </p:sp>
    </p:spTree>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97157"/>
                                        </p:tgtEl>
                                        <p:attrNameLst>
                                          <p:attrName>style.visibility</p:attrName>
                                        </p:attrNameLst>
                                      </p:cBhvr>
                                      <p:to>
                                        <p:strVal val="visible"/>
                                      </p:to>
                                    </p:set>
                                    <p:animEffect transition="in" filter="fade">
                                      <p:cBhvr>
                                        <p:cTn id="7" dur="5000"/>
                                        <p:tgtEl>
                                          <p:spTgt spid="2097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048677" name="Google Shape;122;p4"/>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400" b="1"/>
              <a:t>OBJECTIVE</a:t>
            </a:r>
          </a:p>
        </p:txBody>
      </p:sp>
      <p:sp>
        <p:nvSpPr>
          <p:cNvPr id="1048678" name="Google Shape;123;p4"/>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79" name="Google Shape;124;p4"/>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80" name="Google Shape;125;p4"/>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81" name="Google Shape;126;p4"/>
          <p:cNvSpPr txBox="1">
            <a:spLocks noGrp="1"/>
          </p:cNvSpPr>
          <p:nvPr>
            <p:ph type="body" idx="1"/>
          </p:nvPr>
        </p:nvSpPr>
        <p:spPr>
          <a:xfrm>
            <a:off x="1286999" y="1366684"/>
            <a:ext cx="10718188" cy="2317911"/>
          </a:xfrm>
          <a:prstGeom prst="rect">
            <a:avLst/>
          </a:prstGeom>
          <a:noFill/>
          <a:ln>
            <a:noFill/>
          </a:ln>
        </p:spPr>
        <p:txBody>
          <a:bodyPr spcFirstLastPara="1" wrap="square" lIns="91425" tIns="45700" rIns="91425" bIns="45700" anchor="t" anchorCtr="0">
            <a:normAutofit fontScale="94444" lnSpcReduction="20000"/>
          </a:bodyPr>
          <a:lstStyle/>
          <a:p>
            <a:pPr marL="228600" lvl="0" indent="-222250" algn="just" rtl="0">
              <a:lnSpc>
                <a:spcPct val="150000"/>
              </a:lnSpc>
              <a:spcBef>
                <a:spcPts val="1000"/>
              </a:spcBef>
              <a:spcAft>
                <a:spcPts val="0"/>
              </a:spcAft>
              <a:buClr>
                <a:schemeClr val="dk1"/>
              </a:buClr>
              <a:buSzPct val="114114"/>
              <a:buChar char="•"/>
            </a:pPr>
            <a:r>
              <a:rPr lang="en-US" sz="1800">
                <a:latin typeface="Times New Roman"/>
                <a:ea typeface="Times New Roman"/>
                <a:cs typeface="Times New Roman"/>
                <a:sym typeface="Times New Roman"/>
              </a:rPr>
              <a:t>To give dumb people  ability to be express their ideas and thoughts. </a:t>
            </a:r>
            <a:endParaRPr sz="1800">
              <a:latin typeface="Times New Roman"/>
              <a:ea typeface="Times New Roman"/>
              <a:cs typeface="Times New Roman"/>
              <a:sym typeface="Times New Roman"/>
            </a:endParaRPr>
          </a:p>
          <a:p>
            <a:pPr marL="228600" lvl="0" indent="-222250" algn="just" rtl="0">
              <a:lnSpc>
                <a:spcPct val="150000"/>
              </a:lnSpc>
              <a:spcBef>
                <a:spcPts val="1000"/>
              </a:spcBef>
              <a:spcAft>
                <a:spcPts val="0"/>
              </a:spcAft>
              <a:buClr>
                <a:schemeClr val="dk1"/>
              </a:buClr>
              <a:buSzPct val="114114"/>
              <a:buChar char="•"/>
            </a:pPr>
            <a:r>
              <a:rPr lang="en-US" sz="1800">
                <a:latin typeface="Times New Roman"/>
                <a:ea typeface="Times New Roman"/>
                <a:cs typeface="Times New Roman"/>
                <a:sym typeface="Times New Roman"/>
              </a:rPr>
              <a:t>Help them by increasing their motivation and confidence by making them think positively and to conquer that physical disability.</a:t>
            </a:r>
          </a:p>
          <a:p>
            <a:pPr marL="228600" lvl="0" indent="-222250" algn="just" rtl="0">
              <a:lnSpc>
                <a:spcPct val="150000"/>
              </a:lnSpc>
              <a:spcBef>
                <a:spcPts val="1000"/>
              </a:spcBef>
              <a:spcAft>
                <a:spcPts val="0"/>
              </a:spcAft>
              <a:buClr>
                <a:schemeClr val="dk1"/>
              </a:buClr>
              <a:buSzPct val="114114"/>
              <a:buChar char="•"/>
            </a:pPr>
            <a:r>
              <a:rPr lang="en-US" sz="1800">
                <a:latin typeface="Times New Roman"/>
                <a:ea typeface="Times New Roman"/>
                <a:cs typeface="Times New Roman"/>
                <a:sym typeface="Times New Roman"/>
              </a:rPr>
              <a:t> By using latest technologies and tools we are keeping objective to overcome this problem at the global level scale. </a:t>
            </a:r>
            <a:endParaRPr sz="1800"/>
          </a:p>
        </p:txBody>
      </p:sp>
      <p:pic>
        <p:nvPicPr>
          <p:cNvPr id="2097158" name="Google Shape;127;p4"/>
          <p:cNvPicPr preferRelativeResize="0">
            <a:picLocks/>
          </p:cNvPicPr>
          <p:nvPr/>
        </p:nvPicPr>
        <p:blipFill rotWithShape="1">
          <a:blip r:embed="rId3">
            <a:alphaModFix/>
          </a:blip>
          <a:srcRect/>
          <a:stretch>
            <a:fillRect/>
          </a:stretch>
        </p:blipFill>
        <p:spPr>
          <a:xfrm>
            <a:off x="882050" y="3852235"/>
            <a:ext cx="4154552" cy="2703398"/>
          </a:xfrm>
          <a:prstGeom prst="rect">
            <a:avLst/>
          </a:prstGeom>
          <a:noFill/>
          <a:ln>
            <a:noFill/>
          </a:ln>
          <a:effectLst>
            <a:outerShdw blurRad="292100" dist="139700" dir="2700000" algn="tl" rotWithShape="0">
              <a:srgbClr val="333333">
                <a:alpha val="64705"/>
              </a:srgbClr>
            </a:outerShdw>
          </a:effectLst>
        </p:spPr>
      </p:pic>
      <p:sp>
        <p:nvSpPr>
          <p:cNvPr id="1048682" name="Google Shape;128;p4"/>
          <p:cNvSpPr/>
          <p:nvPr/>
        </p:nvSpPr>
        <p:spPr>
          <a:xfrm>
            <a:off x="5399567" y="4973468"/>
            <a:ext cx="1494000" cy="373800"/>
          </a:xfrm>
          <a:prstGeom prst="rightArrow">
            <a:avLst>
              <a:gd name="adj1" fmla="val 50000"/>
              <a:gd name="adj2" fmla="val 50000"/>
            </a:avLst>
          </a:prstGeom>
          <a:solidFill>
            <a:schemeClr val="accent3"/>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2097159" name="Google Shape;129;p4"/>
          <p:cNvPicPr preferRelativeResize="0">
            <a:picLocks/>
          </p:cNvPicPr>
          <p:nvPr/>
        </p:nvPicPr>
        <p:blipFill rotWithShape="1">
          <a:blip r:embed="rId4">
            <a:alphaModFix/>
          </a:blip>
          <a:srcRect/>
          <a:stretch>
            <a:fillRect/>
          </a:stretch>
        </p:blipFill>
        <p:spPr>
          <a:xfrm>
            <a:off x="7256533" y="3726357"/>
            <a:ext cx="4154552" cy="2767970"/>
          </a:xfrm>
          <a:prstGeom prst="rect">
            <a:avLst/>
          </a:prstGeom>
          <a:noFill/>
          <a:ln>
            <a:noFill/>
          </a:ln>
          <a:effectLst>
            <a:outerShdw blurRad="292100" dist="139700" dir="2700000" algn="tl" rotWithShape="0">
              <a:srgbClr val="333333">
                <a:alpha val="64705"/>
              </a:srgbClr>
            </a:outerShdw>
          </a:effectLst>
        </p:spPr>
      </p:pic>
      <p:sp>
        <p:nvSpPr>
          <p:cNvPr id="1048683" name="Speech Bubble: Oval 1048682"/>
          <p:cNvSpPr/>
          <p:nvPr/>
        </p:nvSpPr>
        <p:spPr>
          <a:xfrm>
            <a:off x="9058953" y="3314867"/>
            <a:ext cx="1310094" cy="917066"/>
          </a:xfrm>
          <a:prstGeom prst="wedgeEllipseCallout">
            <a:avLst/>
          </a:prstGeom>
          <a:solidFill>
            <a:srgbClr val="FFFFFF"/>
          </a:solidFill>
          <a:ln w="25400">
            <a:solidFill>
              <a:srgbClr val="666666"/>
            </a:solidFill>
          </a:ln>
        </p:spPr>
        <p:txBody>
          <a:bodyPr anchor="ctr"/>
          <a:lstStyle/>
          <a:p>
            <a:pPr algn="ctr"/>
            <a:r>
              <a:rPr lang="en-US"/>
              <a:t>I am happy </a:t>
            </a:r>
            <a:endParaRPr lang="en-IN"/>
          </a:p>
        </p:txBody>
      </p:sp>
    </p:spTree>
  </p:cSld>
  <p:clrMapOvr>
    <a:masterClrMapping/>
  </p:clrMapOvr>
  <p:transition spd="med">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048686" name="Google Shape;134;p5"/>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PROBLEM STATEMENT</a:t>
            </a:r>
          </a:p>
        </p:txBody>
      </p:sp>
      <p:sp>
        <p:nvSpPr>
          <p:cNvPr id="1048687" name="Google Shape;135;p5"/>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88" name="Google Shape;136;p5"/>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89" name="Google Shape;137;p5"/>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90" name="Google Shape;138;p5"/>
          <p:cNvSpPr txBox="1">
            <a:spLocks noGrp="1"/>
          </p:cNvSpPr>
          <p:nvPr>
            <p:ph type="body" idx="1"/>
          </p:nvPr>
        </p:nvSpPr>
        <p:spPr>
          <a:xfrm>
            <a:off x="1337186" y="1445341"/>
            <a:ext cx="10609007" cy="5083277"/>
          </a:xfrm>
          <a:prstGeom prst="rect">
            <a:avLst/>
          </a:prstGeom>
          <a:noFill/>
          <a:ln>
            <a:noFill/>
          </a:ln>
        </p:spPr>
        <p:txBody>
          <a:bodyPr spcFirstLastPara="1" wrap="square" lIns="91425" tIns="45700" rIns="91425" bIns="45700" anchor="t" anchorCtr="0">
            <a:normAutofit/>
          </a:bodyPr>
          <a:lstStyle/>
          <a:p>
            <a:pPr marL="228600" lvl="0" indent="-228600" algn="just" rtl="0">
              <a:lnSpc>
                <a:spcPct val="150000"/>
              </a:lnSpc>
              <a:spcBef>
                <a:spcPts val="0"/>
              </a:spcBef>
              <a:spcAft>
                <a:spcPts val="0"/>
              </a:spcAft>
              <a:buClr>
                <a:schemeClr val="dk1"/>
              </a:buClr>
              <a:buSzPts val="2200"/>
              <a:buChar char="•"/>
            </a:pPr>
            <a:r>
              <a:rPr lang="en-US" sz="2000">
                <a:latin typeface="Times New Roman"/>
                <a:ea typeface="Times New Roman"/>
                <a:cs typeface="Times New Roman"/>
                <a:sym typeface="Times New Roman"/>
              </a:rPr>
              <a:t>Around 46 Million people in the world are handicap who can’t speak or listen properly.</a:t>
            </a:r>
            <a:endParaRPr sz="2400"/>
          </a:p>
          <a:p>
            <a:pPr marL="228600" lvl="0" indent="-228600" algn="just" rtl="0">
              <a:lnSpc>
                <a:spcPct val="150000"/>
              </a:lnSpc>
              <a:spcBef>
                <a:spcPts val="1000"/>
              </a:spcBef>
              <a:spcAft>
                <a:spcPts val="0"/>
              </a:spcAft>
              <a:buClr>
                <a:schemeClr val="dk1"/>
              </a:buClr>
              <a:buSzPts val="2200"/>
              <a:buChar char="•"/>
            </a:pPr>
            <a:r>
              <a:rPr lang="en-US" sz="2000">
                <a:latin typeface="Times New Roman"/>
                <a:ea typeface="Times New Roman"/>
                <a:cs typeface="Times New Roman"/>
                <a:sym typeface="Times New Roman"/>
              </a:rPr>
              <a:t>Dumb people use hand signs to communicate, hence normal people face problem in recognizing their language by signs made.</a:t>
            </a:r>
            <a:endParaRPr sz="2000">
              <a:latin typeface="Times New Roman"/>
              <a:ea typeface="Times New Roman"/>
              <a:cs typeface="Times New Roman"/>
              <a:sym typeface="Times New Roman"/>
            </a:endParaRPr>
          </a:p>
          <a:p>
            <a:pPr marL="228600" lvl="0" indent="-228600" algn="just" rtl="0">
              <a:lnSpc>
                <a:spcPct val="150000"/>
              </a:lnSpc>
              <a:spcBef>
                <a:spcPts val="1000"/>
              </a:spcBef>
              <a:spcAft>
                <a:spcPts val="0"/>
              </a:spcAft>
              <a:buClr>
                <a:schemeClr val="dk1"/>
              </a:buClr>
              <a:buSzPts val="2200"/>
              <a:buChar char="•"/>
            </a:pPr>
            <a:r>
              <a:rPr lang="en-US" sz="2000">
                <a:latin typeface="Times New Roman"/>
                <a:ea typeface="Times New Roman"/>
                <a:cs typeface="Times New Roman"/>
                <a:sym typeface="Times New Roman"/>
              </a:rPr>
              <a:t>The hearing impaired people always have problem in communicating with normal people. </a:t>
            </a:r>
            <a:endParaRPr sz="2400"/>
          </a:p>
          <a:p>
            <a:pPr marL="228600" lvl="0" indent="-228600" algn="just" rtl="0">
              <a:lnSpc>
                <a:spcPct val="150000"/>
              </a:lnSpc>
              <a:spcBef>
                <a:spcPts val="1000"/>
              </a:spcBef>
              <a:spcAft>
                <a:spcPts val="0"/>
              </a:spcAft>
              <a:buClr>
                <a:schemeClr val="dk1"/>
              </a:buClr>
              <a:buSzPts val="2200"/>
              <a:buChar char="•"/>
            </a:pPr>
            <a:r>
              <a:rPr lang="en-US" sz="2000">
                <a:latin typeface="Times New Roman"/>
                <a:ea typeface="Times New Roman"/>
                <a:cs typeface="Times New Roman"/>
                <a:sym typeface="Times New Roman"/>
              </a:rPr>
              <a:t>They have problem in conveying their thoughts and ideas to normal people who have very limited or sometimes no knowledge in sign language. </a:t>
            </a:r>
            <a:endParaRPr sz="2000">
              <a:latin typeface="Times New Roman"/>
              <a:ea typeface="Times New Roman"/>
              <a:cs typeface="Times New Roman"/>
              <a:sym typeface="Times New Roman"/>
            </a:endParaRPr>
          </a:p>
          <a:p>
            <a:pPr marL="228600" lvl="0" indent="-228600" algn="just" rtl="0">
              <a:lnSpc>
                <a:spcPct val="150000"/>
              </a:lnSpc>
              <a:spcBef>
                <a:spcPts val="1000"/>
              </a:spcBef>
              <a:spcAft>
                <a:spcPts val="0"/>
              </a:spcAft>
              <a:buClr>
                <a:schemeClr val="dk1"/>
              </a:buClr>
              <a:buSzPts val="2200"/>
              <a:buChar char="•"/>
            </a:pPr>
            <a:r>
              <a:rPr lang="en-US" sz="2000">
                <a:latin typeface="Times New Roman"/>
                <a:ea typeface="Times New Roman"/>
                <a:cs typeface="Times New Roman"/>
                <a:sym typeface="Times New Roman"/>
              </a:rPr>
              <a:t>This makes the hearing impaired community lose interest in common activities and they avoid communicating with normal people at times and live in isolation. </a:t>
            </a:r>
            <a:endParaRPr sz="2000">
              <a:latin typeface="Times New Roman"/>
              <a:ea typeface="Times New Roman"/>
              <a:cs typeface="Times New Roman"/>
              <a:sym typeface="Times New Roman"/>
            </a:endParaRPr>
          </a:p>
        </p:txBody>
      </p:sp>
    </p:spTree>
  </p:cSld>
  <p:clrMapOvr>
    <a:masterClrMapping/>
  </p:clrMapOvr>
  <p:transition spd="med">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048693" name="Google Shape;143;p6"/>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400" b="1"/>
              <a:t>PURPOSE</a:t>
            </a:r>
          </a:p>
        </p:txBody>
      </p:sp>
      <p:sp>
        <p:nvSpPr>
          <p:cNvPr id="1048694" name="Google Shape;144;p6"/>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95" name="Google Shape;145;p6"/>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96" name="Google Shape;146;p6"/>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97" name="Google Shape;147;p6"/>
          <p:cNvSpPr txBox="1">
            <a:spLocks noGrp="1"/>
          </p:cNvSpPr>
          <p:nvPr>
            <p:ph type="body" idx="1"/>
          </p:nvPr>
        </p:nvSpPr>
        <p:spPr>
          <a:xfrm>
            <a:off x="1286999" y="1366683"/>
            <a:ext cx="10718188" cy="2467898"/>
          </a:xfrm>
          <a:prstGeom prst="rect">
            <a:avLst/>
          </a:prstGeom>
          <a:noFill/>
          <a:ln>
            <a:noFill/>
          </a:ln>
        </p:spPr>
        <p:txBody>
          <a:bodyPr spcFirstLastPara="1" wrap="square" lIns="91425" tIns="45700" rIns="91425" bIns="45700" anchor="t" anchorCtr="0">
            <a:normAutofit/>
          </a:bodyPr>
          <a:lstStyle/>
          <a:p>
            <a:pPr marL="342900" lvl="0" indent="-342900" algn="just" rtl="0">
              <a:lnSpc>
                <a:spcPct val="150000"/>
              </a:lnSpc>
              <a:spcBef>
                <a:spcPts val="0"/>
              </a:spcBef>
              <a:spcAft>
                <a:spcPts val="0"/>
              </a:spcAft>
              <a:buSzPts val="2300"/>
              <a:buChar char="•"/>
            </a:pPr>
            <a:r>
              <a:rPr lang="en-US" sz="2000">
                <a:latin typeface="Times New Roman"/>
                <a:ea typeface="Times New Roman"/>
                <a:cs typeface="Times New Roman"/>
                <a:sym typeface="Times New Roman"/>
              </a:rPr>
              <a:t>We are keeping purpose of developing system that will make</a:t>
            </a:r>
            <a:r>
              <a:rPr lang="en-US" sz="2000" b="1">
                <a:latin typeface="Times New Roman"/>
                <a:ea typeface="Times New Roman"/>
                <a:cs typeface="Times New Roman"/>
                <a:sym typeface="Times New Roman"/>
              </a:rPr>
              <a:t> communication between Dumb and normal person</a:t>
            </a:r>
            <a:r>
              <a:rPr lang="en-US" sz="2000">
                <a:latin typeface="Times New Roman"/>
                <a:ea typeface="Times New Roman"/>
                <a:cs typeface="Times New Roman"/>
                <a:sym typeface="Times New Roman"/>
              </a:rPr>
              <a:t> </a:t>
            </a:r>
            <a:r>
              <a:rPr lang="en-US" sz="2000" b="1">
                <a:latin typeface="Times New Roman"/>
                <a:ea typeface="Times New Roman"/>
                <a:cs typeface="Times New Roman"/>
                <a:sym typeface="Times New Roman"/>
              </a:rPr>
              <a:t>easy and convenient</a:t>
            </a:r>
            <a:r>
              <a:rPr lang="en-US" sz="2000">
                <a:latin typeface="Times New Roman"/>
                <a:ea typeface="Times New Roman"/>
                <a:cs typeface="Times New Roman"/>
                <a:sym typeface="Times New Roman"/>
              </a:rPr>
              <a:t>.</a:t>
            </a:r>
          </a:p>
          <a:p>
            <a:pPr marL="342900" lvl="0" indent="-342900" algn="just" rtl="0">
              <a:lnSpc>
                <a:spcPct val="150000"/>
              </a:lnSpc>
              <a:spcBef>
                <a:spcPts val="0"/>
              </a:spcBef>
              <a:spcAft>
                <a:spcPts val="0"/>
              </a:spcAft>
              <a:buSzPts val="2300"/>
              <a:buChar char="•"/>
            </a:pPr>
            <a:r>
              <a:rPr lang="en-US" sz="2000">
                <a:latin typeface="Times New Roman"/>
                <a:ea typeface="Times New Roman"/>
                <a:cs typeface="Times New Roman"/>
                <a:sym typeface="Times New Roman"/>
              </a:rPr>
              <a:t>To </a:t>
            </a:r>
            <a:r>
              <a:rPr lang="en-US" sz="2000" b="1">
                <a:latin typeface="Times New Roman"/>
                <a:ea typeface="Times New Roman"/>
                <a:cs typeface="Times New Roman"/>
                <a:sym typeface="Times New Roman"/>
              </a:rPr>
              <a:t>solve the miscommunication </a:t>
            </a:r>
            <a:r>
              <a:rPr lang="en-US" sz="2000">
                <a:latin typeface="Times New Roman"/>
                <a:ea typeface="Times New Roman"/>
                <a:cs typeface="Times New Roman"/>
                <a:sym typeface="Times New Roman"/>
              </a:rPr>
              <a:t>between such huge community and normal persons is our purpose with this proposed research.</a:t>
            </a:r>
            <a:endParaRPr sz="2800">
              <a:latin typeface="Times New Roman"/>
              <a:ea typeface="Times New Roman"/>
              <a:cs typeface="Times New Roman"/>
              <a:sym typeface="Times New Roman"/>
            </a:endParaRPr>
          </a:p>
        </p:txBody>
      </p:sp>
      <p:sp>
        <p:nvSpPr>
          <p:cNvPr id="1048698" name="Google Shape;148;p6"/>
          <p:cNvSpPr/>
          <p:nvPr/>
        </p:nvSpPr>
        <p:spPr>
          <a:xfrm>
            <a:off x="6930561" y="5117517"/>
            <a:ext cx="1041544" cy="373800"/>
          </a:xfrm>
          <a:prstGeom prst="rightArrow">
            <a:avLst>
              <a:gd name="adj1" fmla="val 50000"/>
              <a:gd name="adj2" fmla="val 50000"/>
            </a:avLst>
          </a:prstGeom>
          <a:solidFill>
            <a:schemeClr val="accent3"/>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2097160" name="Google Shape;149;p6"/>
          <p:cNvPicPr preferRelativeResize="0">
            <a:picLocks/>
          </p:cNvPicPr>
          <p:nvPr/>
        </p:nvPicPr>
        <p:blipFill rotWithShape="1">
          <a:blip r:embed="rId3">
            <a:alphaModFix/>
          </a:blip>
          <a:srcRect t="32092"/>
          <a:stretch>
            <a:fillRect/>
          </a:stretch>
        </p:blipFill>
        <p:spPr>
          <a:xfrm>
            <a:off x="422200" y="4238865"/>
            <a:ext cx="6086162" cy="1928132"/>
          </a:xfrm>
          <a:prstGeom prst="rect">
            <a:avLst/>
          </a:prstGeom>
          <a:noFill/>
          <a:ln>
            <a:noFill/>
          </a:ln>
        </p:spPr>
      </p:pic>
      <p:sp>
        <p:nvSpPr>
          <p:cNvPr id="1048699" name="Google Shape;150;p6"/>
          <p:cNvSpPr txBox="1"/>
          <p:nvPr/>
        </p:nvSpPr>
        <p:spPr>
          <a:xfrm>
            <a:off x="8365902" y="4834308"/>
            <a:ext cx="3432300" cy="785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900"/>
              <a:buFont typeface="Arial"/>
              <a:buNone/>
            </a:pPr>
            <a:r>
              <a:rPr lang="en-US" sz="3900" b="1" i="0" u="none" strike="noStrike" cap="none">
                <a:solidFill>
                  <a:srgbClr val="000000"/>
                </a:solidFill>
                <a:latin typeface="Calibri"/>
                <a:ea typeface="Calibri"/>
                <a:cs typeface="Calibri"/>
                <a:sym typeface="Calibri"/>
              </a:rPr>
              <a:t>Thank You</a:t>
            </a:r>
            <a:endParaRPr sz="3900" b="1" i="0" u="none" strike="noStrike" cap="none">
              <a:solidFill>
                <a:srgbClr val="000000"/>
              </a:solidFill>
              <a:latin typeface="Calibri"/>
              <a:ea typeface="Calibri"/>
              <a:cs typeface="Calibri"/>
              <a:sym typeface="Calibri"/>
            </a:endParaRPr>
          </a:p>
        </p:txBody>
      </p:sp>
      <p:pic>
        <p:nvPicPr>
          <p:cNvPr id="2097161" name="Google Shape;151;p6" title="7Q4LPZ9-female-saying-thank-you-[AudioTrimmer.com].mp3">
            <a:hlinkClick r:id="rId4"/>
          </p:cNvPr>
          <p:cNvPicPr preferRelativeResize="0">
            <a:picLocks/>
          </p:cNvPicPr>
          <p:nvPr/>
        </p:nvPicPr>
        <p:blipFill rotWithShape="1">
          <a:blip r:embed="rId5">
            <a:alphaModFix/>
          </a:blip>
          <a:srcRect/>
          <a:stretch>
            <a:fillRect/>
          </a:stretch>
        </p:blipFill>
        <p:spPr>
          <a:xfrm>
            <a:off x="11076205" y="4974331"/>
            <a:ext cx="457200" cy="457200"/>
          </a:xfrm>
          <a:prstGeom prst="rect">
            <a:avLst/>
          </a:prstGeom>
          <a:noFill/>
          <a:ln>
            <a:noFill/>
          </a:ln>
        </p:spPr>
      </p:pic>
    </p:spTree>
  </p:cSld>
  <p:clrMapOvr>
    <a:masterClrMapping/>
  </p:clrMapOvr>
  <p:transition spd="med">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048638" name="Google Shape;156;p7"/>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400" b="1">
                <a:latin typeface="Calibri"/>
                <a:ea typeface="Calibri"/>
                <a:cs typeface="Calibri"/>
                <a:sym typeface="Calibri"/>
              </a:rPr>
              <a:t>Literature Survey</a:t>
            </a:r>
          </a:p>
        </p:txBody>
      </p:sp>
      <p:sp>
        <p:nvSpPr>
          <p:cNvPr id="1048639" name="Google Shape;157;p7"/>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aphicFrame>
        <p:nvGraphicFramePr>
          <p:cNvPr id="4194304" name="Google Shape;158;p7"/>
          <p:cNvGraphicFramePr>
            <a:graphicFrameLocks/>
          </p:cNvGraphicFramePr>
          <p:nvPr/>
        </p:nvGraphicFramePr>
        <p:xfrm>
          <a:off x="176980" y="1140542"/>
          <a:ext cx="11905550" cy="5652200"/>
        </p:xfrm>
        <a:graphic>
          <a:graphicData uri="http://schemas.openxmlformats.org/drawingml/2006/table">
            <a:tbl>
              <a:tblPr firstRow="1" bandRow="1">
                <a:noFill/>
                <a:tableStyleId>{2F766FBE-8AF5-4515-8E5C-107FC7148F54}</a:tableStyleId>
              </a:tblPr>
              <a:tblGrid>
                <a:gridCol w="1261350">
                  <a:extLst>
                    <a:ext uri="{9D8B030D-6E8A-4147-A177-3AD203B41FA5}">
                      <a16:colId xmlns:a16="http://schemas.microsoft.com/office/drawing/2014/main" val="20000"/>
                    </a:ext>
                  </a:extLst>
                </a:gridCol>
                <a:gridCol w="498625">
                  <a:extLst>
                    <a:ext uri="{9D8B030D-6E8A-4147-A177-3AD203B41FA5}">
                      <a16:colId xmlns:a16="http://schemas.microsoft.com/office/drawing/2014/main" val="20001"/>
                    </a:ext>
                  </a:extLst>
                </a:gridCol>
                <a:gridCol w="1256175">
                  <a:extLst>
                    <a:ext uri="{9D8B030D-6E8A-4147-A177-3AD203B41FA5}">
                      <a16:colId xmlns:a16="http://schemas.microsoft.com/office/drawing/2014/main" val="20002"/>
                    </a:ext>
                  </a:extLst>
                </a:gridCol>
                <a:gridCol w="2805750">
                  <a:extLst>
                    <a:ext uri="{9D8B030D-6E8A-4147-A177-3AD203B41FA5}">
                      <a16:colId xmlns:a16="http://schemas.microsoft.com/office/drawing/2014/main" val="20003"/>
                    </a:ext>
                  </a:extLst>
                </a:gridCol>
                <a:gridCol w="1673975">
                  <a:extLst>
                    <a:ext uri="{9D8B030D-6E8A-4147-A177-3AD203B41FA5}">
                      <a16:colId xmlns:a16="http://schemas.microsoft.com/office/drawing/2014/main" val="20004"/>
                    </a:ext>
                  </a:extLst>
                </a:gridCol>
                <a:gridCol w="1717500">
                  <a:extLst>
                    <a:ext uri="{9D8B030D-6E8A-4147-A177-3AD203B41FA5}">
                      <a16:colId xmlns:a16="http://schemas.microsoft.com/office/drawing/2014/main" val="20005"/>
                    </a:ext>
                  </a:extLst>
                </a:gridCol>
                <a:gridCol w="2692175">
                  <a:extLst>
                    <a:ext uri="{9D8B030D-6E8A-4147-A177-3AD203B41FA5}">
                      <a16:colId xmlns:a16="http://schemas.microsoft.com/office/drawing/2014/main" val="20006"/>
                    </a:ext>
                  </a:extLst>
                </a:gridCol>
              </a:tblGrid>
              <a:tr h="463225">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solidFill>
                            <a:schemeClr val="lt1"/>
                          </a:solidFill>
                          <a:latin typeface="Times New Roman"/>
                          <a:ea typeface="Times New Roman"/>
                          <a:cs typeface="Times New Roman"/>
                          <a:sym typeface="Times New Roman"/>
                        </a:rPr>
                        <a:t>Title</a:t>
                      </a:r>
                      <a:endParaRPr sz="11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solidFill>
                            <a:schemeClr val="lt1"/>
                          </a:solidFill>
                        </a:rPr>
                        <a:t>Year</a:t>
                      </a:r>
                      <a:endParaRPr sz="11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solidFill>
                            <a:schemeClr val="lt1"/>
                          </a:solidFill>
                        </a:rPr>
                        <a:t>Authors</a:t>
                      </a:r>
                      <a:endParaRPr sz="11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solidFill>
                            <a:schemeClr val="lt1"/>
                          </a:solidFill>
                        </a:rPr>
                        <a:t>Methodology</a:t>
                      </a:r>
                      <a:endParaRPr sz="11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solidFill>
                            <a:schemeClr val="lt1"/>
                          </a:solidFill>
                        </a:rPr>
                        <a:t>Disadvantages</a:t>
                      </a:r>
                      <a:endParaRPr sz="11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solidFill>
                            <a:schemeClr val="lt1"/>
                          </a:solidFill>
                        </a:rPr>
                        <a:t>Advantages</a:t>
                      </a:r>
                      <a:endParaRPr sz="11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Future Scope</a:t>
                      </a:r>
                      <a:endParaRPr sz="1100" u="none" strike="noStrike" cap="none">
                        <a:solidFill>
                          <a:schemeClr val="lt1"/>
                        </a:solidFill>
                      </a:endParaRPr>
                    </a:p>
                  </a:txBody>
                  <a:tcPr marL="91450" marR="91450" marT="45725" marB="45725"/>
                </a:tc>
                <a:extLst>
                  <a:ext uri="{0D108BD9-81ED-4DB2-BD59-A6C34878D82A}">
                    <a16:rowId xmlns:a16="http://schemas.microsoft.com/office/drawing/2014/main" val="10000"/>
                  </a:ext>
                </a:extLst>
              </a:tr>
              <a:tr h="1458300">
                <a:tc>
                  <a:txBody>
                    <a:bodyPr/>
                    <a:lstStyle/>
                    <a:p>
                      <a:pPr marL="0" marR="0" lvl="0" indent="0" algn="l" rtl="0">
                        <a:lnSpc>
                          <a:spcPct val="100000"/>
                        </a:lnSpc>
                        <a:spcBef>
                          <a:spcPts val="0"/>
                        </a:spcBef>
                        <a:spcAft>
                          <a:spcPts val="0"/>
                        </a:spcAft>
                        <a:buClr>
                          <a:srgbClr val="000000"/>
                        </a:buClr>
                        <a:buSzPts val="1100"/>
                        <a:buFont typeface="Arial"/>
                        <a:buNone/>
                      </a:pPr>
                      <a:r>
                        <a:rPr lang="en-US" sz="1100" b="1" u="none" strike="noStrike" cap="none">
                          <a:latin typeface="Times New Roman"/>
                          <a:ea typeface="Times New Roman"/>
                          <a:cs typeface="Times New Roman"/>
                          <a:sym typeface="Times New Roman"/>
                        </a:rPr>
                        <a:t>Glove Based American Sign Language Interpretation Using Convolutional Neural Network And Data Glass </a:t>
                      </a:r>
                      <a:endParaRPr sz="11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b="0" u="none" strike="noStrike" cap="none">
                          <a:solidFill>
                            <a:schemeClr val="dk1"/>
                          </a:solidFill>
                        </a:rPr>
                        <a:t>2020</a:t>
                      </a:r>
                      <a:endParaRPr sz="1100" u="none" strike="noStrike" cap="none"/>
                    </a:p>
                  </a:txBody>
                  <a:tcPr marL="91450" marR="91450" marT="45725" marB="45725"/>
                </a:tc>
                <a:tc>
                  <a:txBody>
                    <a:bodyPr/>
                    <a:lstStyle/>
                    <a:p>
                      <a:pPr marL="342900" marR="0" lvl="0" indent="-330200" algn="l" rtl="0">
                        <a:lnSpc>
                          <a:spcPct val="100000"/>
                        </a:lnSpc>
                        <a:spcBef>
                          <a:spcPts val="0"/>
                        </a:spcBef>
                        <a:spcAft>
                          <a:spcPts val="0"/>
                        </a:spcAft>
                        <a:buClr>
                          <a:schemeClr val="dk1"/>
                        </a:buClr>
                        <a:buSzPts val="1100"/>
                        <a:buFont typeface="Times New Roman"/>
                        <a:buAutoNum type="arabicPeriod"/>
                      </a:pPr>
                      <a:r>
                        <a:rPr lang="en-US" sz="1100" u="none" strike="noStrike" cap="none">
                          <a:latin typeface="Times New Roman"/>
                          <a:ea typeface="Times New Roman"/>
                          <a:cs typeface="Times New Roman"/>
                          <a:sym typeface="Times New Roman"/>
                        </a:rPr>
                        <a:t>Galib Ibne Haidar</a:t>
                      </a:r>
                      <a:endParaRPr sz="1100" u="none" strike="noStrike" cap="none">
                        <a:latin typeface="Times New Roman"/>
                        <a:ea typeface="Times New Roman"/>
                        <a:cs typeface="Times New Roman"/>
                        <a:sym typeface="Times New Roman"/>
                      </a:endParaRPr>
                    </a:p>
                    <a:p>
                      <a:pPr marL="342900" marR="0" lvl="0" indent="-330200" algn="l" rtl="0">
                        <a:lnSpc>
                          <a:spcPct val="100000"/>
                        </a:lnSpc>
                        <a:spcBef>
                          <a:spcPts val="0"/>
                        </a:spcBef>
                        <a:spcAft>
                          <a:spcPts val="0"/>
                        </a:spcAft>
                        <a:buClr>
                          <a:srgbClr val="000000"/>
                        </a:buClr>
                        <a:buSzPts val="1100"/>
                        <a:buFont typeface="Times New Roman"/>
                        <a:buAutoNum type="arabicPeriod"/>
                      </a:pPr>
                      <a:r>
                        <a:rPr lang="en-US" sz="1100" u="none" strike="noStrike" cap="none">
                          <a:latin typeface="Times New Roman"/>
                          <a:ea typeface="Times New Roman"/>
                          <a:cs typeface="Times New Roman"/>
                          <a:sym typeface="Times New Roman"/>
                        </a:rPr>
                        <a:t>Hasin Ishraq Reefat</a:t>
                      </a:r>
                      <a:endParaRPr sz="1100" u="none" strike="noStrike" cap="none">
                        <a:latin typeface="Times New Roman"/>
                        <a:ea typeface="Times New Roman"/>
                        <a:cs typeface="Times New Roman"/>
                        <a:sym typeface="Times New Roman"/>
                      </a:endParaRPr>
                    </a:p>
                  </a:txBody>
                  <a:tcPr marL="91450" marR="91450" marT="45725" marB="45725"/>
                </a:tc>
                <a:tc>
                  <a:txBody>
                    <a:bodyPr/>
                    <a:lstStyle/>
                    <a:p>
                      <a:pPr marL="457200" marR="0" lvl="0" indent="-298450" algn="l" rtl="0">
                        <a:lnSpc>
                          <a:spcPct val="100000"/>
                        </a:lnSpc>
                        <a:spcBef>
                          <a:spcPts val="0"/>
                        </a:spcBef>
                        <a:spcAft>
                          <a:spcPts val="0"/>
                        </a:spcAft>
                        <a:buClr>
                          <a:schemeClr val="dk1"/>
                        </a:buClr>
                        <a:buSzPts val="1100"/>
                        <a:buFont typeface="Times New Roman"/>
                        <a:buChar char="●"/>
                      </a:pPr>
                      <a:r>
                        <a:rPr lang="en-US" sz="1100" b="1" u="none" strike="noStrike" cap="none">
                          <a:solidFill>
                            <a:schemeClr val="dk1"/>
                          </a:solidFill>
                          <a:latin typeface="Times New Roman"/>
                          <a:ea typeface="Times New Roman"/>
                          <a:cs typeface="Times New Roman"/>
                          <a:sym typeface="Times New Roman"/>
                        </a:rPr>
                        <a:t>Modeling Stage</a:t>
                      </a:r>
                    </a:p>
                    <a:p>
                      <a:pPr marL="158750" marR="0" lvl="0" indent="0" algn="l" rtl="0">
                        <a:lnSpc>
                          <a:spcPct val="100000"/>
                        </a:lnSpc>
                        <a:spcBef>
                          <a:spcPts val="0"/>
                        </a:spcBef>
                        <a:spcAft>
                          <a:spcPts val="0"/>
                        </a:spcAft>
                        <a:buClr>
                          <a:schemeClr val="dk1"/>
                        </a:buClr>
                        <a:buSzPts val="1100"/>
                        <a:buFont typeface="Times New Roman"/>
                        <a:buNone/>
                      </a:pPr>
                      <a:r>
                        <a:rPr lang="en-US" sz="1000" b="0" u="none" strike="noStrike" cap="none">
                          <a:solidFill>
                            <a:schemeClr val="dk1"/>
                          </a:solidFill>
                          <a:latin typeface="Times New Roman"/>
                          <a:ea typeface="Times New Roman"/>
                          <a:cs typeface="Times New Roman"/>
                          <a:sym typeface="Times New Roman"/>
                        </a:rPr>
                        <a:t>             Image extraction, color filtering,         cropping, scaling, </a:t>
                      </a:r>
                      <a:r>
                        <a:rPr lang="en-US" sz="1000">
                          <a:latin typeface="Times New Roman"/>
                          <a:ea typeface="Times New Roman"/>
                          <a:cs typeface="Times New Roman"/>
                          <a:sym typeface="Times New Roman"/>
                        </a:rPr>
                        <a:t>grayscale</a:t>
                      </a:r>
                      <a:r>
                        <a:rPr lang="en-US" sz="1000" b="0" u="none" strike="noStrike" cap="none">
                          <a:solidFill>
                            <a:schemeClr val="dk1"/>
                          </a:solidFill>
                          <a:latin typeface="Times New Roman"/>
                          <a:ea typeface="Times New Roman"/>
                          <a:cs typeface="Times New Roman"/>
                          <a:sym typeface="Times New Roman"/>
                        </a:rPr>
                        <a:t> conversion</a:t>
                      </a:r>
                    </a:p>
                    <a:p>
                      <a:pPr marL="457200" marR="0" lvl="0" indent="-298450" algn="l" rtl="0">
                        <a:lnSpc>
                          <a:spcPct val="100000"/>
                        </a:lnSpc>
                        <a:spcBef>
                          <a:spcPts val="0"/>
                        </a:spcBef>
                        <a:spcAft>
                          <a:spcPts val="0"/>
                        </a:spcAft>
                        <a:buClr>
                          <a:schemeClr val="dk1"/>
                        </a:buClr>
                        <a:buSzPts val="1100"/>
                        <a:buFont typeface="Times New Roman"/>
                        <a:buChar char="●"/>
                      </a:pPr>
                      <a:r>
                        <a:rPr lang="en-US" sz="1100" b="1" u="none" strike="noStrike" cap="none">
                          <a:solidFill>
                            <a:schemeClr val="dk1"/>
                          </a:solidFill>
                          <a:latin typeface="Times New Roman"/>
                          <a:ea typeface="Times New Roman"/>
                          <a:cs typeface="Times New Roman"/>
                          <a:sym typeface="Times New Roman"/>
                        </a:rPr>
                        <a:t>Predication Stage</a:t>
                      </a:r>
                    </a:p>
                    <a:p>
                      <a:pPr marL="158750" marR="0" lvl="0" indent="0" algn="l" rtl="0">
                        <a:lnSpc>
                          <a:spcPct val="100000"/>
                        </a:lnSpc>
                        <a:spcBef>
                          <a:spcPts val="0"/>
                        </a:spcBef>
                        <a:spcAft>
                          <a:spcPts val="0"/>
                        </a:spcAft>
                        <a:buClr>
                          <a:schemeClr val="dk1"/>
                        </a:buClr>
                        <a:buSzPts val="1100"/>
                        <a:buFont typeface="Times New Roman"/>
                        <a:buNone/>
                      </a:pPr>
                      <a:r>
                        <a:rPr lang="en-US" sz="1000" u="none" strike="noStrike" cap="none">
                          <a:solidFill>
                            <a:schemeClr val="dk1"/>
                          </a:solidFill>
                          <a:latin typeface="Times New Roman"/>
                          <a:ea typeface="Times New Roman"/>
                          <a:cs typeface="Times New Roman"/>
                          <a:sym typeface="Times New Roman"/>
                        </a:rPr>
                        <a:t>              Convolutional neural network</a:t>
                      </a:r>
                      <a:endParaRPr sz="1000" u="none" strike="noStrike" cap="none">
                        <a:latin typeface="Times New Roman"/>
                        <a:ea typeface="Times New Roman"/>
                        <a:cs typeface="Times New Roman"/>
                        <a:sym typeface="Times New Roman"/>
                      </a:endParaRPr>
                    </a:p>
                    <a:p>
                      <a:pPr marL="457200" marR="0" lvl="0" indent="-298450" algn="l" rtl="0">
                        <a:lnSpc>
                          <a:spcPct val="100000"/>
                        </a:lnSpc>
                        <a:spcBef>
                          <a:spcPts val="0"/>
                        </a:spcBef>
                        <a:spcAft>
                          <a:spcPts val="0"/>
                        </a:spcAft>
                        <a:buClr>
                          <a:schemeClr val="dk1"/>
                        </a:buClr>
                        <a:buSzPts val="1100"/>
                        <a:buFont typeface="Times New Roman"/>
                        <a:buChar char="●"/>
                      </a:pPr>
                      <a:r>
                        <a:rPr lang="en-US" sz="1100" b="1" u="none" strike="noStrike" cap="none">
                          <a:solidFill>
                            <a:schemeClr val="dk1"/>
                          </a:solidFill>
                          <a:latin typeface="Times New Roman"/>
                          <a:ea typeface="Times New Roman"/>
                          <a:cs typeface="Times New Roman"/>
                          <a:sym typeface="Times New Roman"/>
                        </a:rPr>
                        <a:t>Visual Stage</a:t>
                      </a:r>
                    </a:p>
                    <a:p>
                      <a:pPr marL="158750" marR="0" lvl="0" indent="0" algn="l" rtl="0">
                        <a:lnSpc>
                          <a:spcPct val="100000"/>
                        </a:lnSpc>
                        <a:spcBef>
                          <a:spcPts val="0"/>
                        </a:spcBef>
                        <a:spcAft>
                          <a:spcPts val="0"/>
                        </a:spcAft>
                        <a:buClr>
                          <a:schemeClr val="dk1"/>
                        </a:buClr>
                        <a:buSzPts val="1100"/>
                        <a:buFont typeface="Times New Roman"/>
                        <a:buNone/>
                      </a:pPr>
                      <a:r>
                        <a:rPr lang="en-US" sz="1000" u="none" strike="noStrike" cap="none">
                          <a:solidFill>
                            <a:schemeClr val="dk1"/>
                          </a:solidFill>
                          <a:latin typeface="Times New Roman"/>
                          <a:ea typeface="Times New Roman"/>
                          <a:cs typeface="Times New Roman"/>
                          <a:sym typeface="Times New Roman"/>
                        </a:rPr>
                        <a:t>              OLED Display, Data Glass</a:t>
                      </a:r>
                      <a:endParaRPr sz="900" u="none" strike="noStrike" cap="none">
                        <a:latin typeface="Times New Roman"/>
                        <a:ea typeface="Times New Roman"/>
                        <a:cs typeface="Times New Roman"/>
                        <a:sym typeface="Times New Roman"/>
                      </a:endParaRPr>
                    </a:p>
                    <a:p>
                      <a:pPr marL="457200" marR="0" lvl="0" indent="0" algn="l" rtl="0">
                        <a:lnSpc>
                          <a:spcPct val="100000"/>
                        </a:lnSpc>
                        <a:spcBef>
                          <a:spcPts val="0"/>
                        </a:spcBef>
                        <a:spcAft>
                          <a:spcPts val="0"/>
                        </a:spcAft>
                        <a:buClr>
                          <a:srgbClr val="000000"/>
                        </a:buClr>
                        <a:buSzPts val="1100"/>
                        <a:buFont typeface="Arial"/>
                        <a:buNone/>
                      </a:pPr>
                      <a:endParaRPr sz="11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457200" marR="0" lvl="0" indent="-298450" algn="l" rtl="0">
                        <a:lnSpc>
                          <a:spcPct val="100000"/>
                        </a:lnSpc>
                        <a:spcBef>
                          <a:spcPts val="0"/>
                        </a:spcBef>
                        <a:spcAft>
                          <a:spcPts val="0"/>
                        </a:spcAft>
                        <a:buClr>
                          <a:schemeClr val="dk1"/>
                        </a:buClr>
                        <a:buSzPts val="1100"/>
                        <a:buFont typeface="Times New Roman"/>
                        <a:buChar char="●"/>
                      </a:pPr>
                      <a:r>
                        <a:rPr lang="en-US" sz="1100" u="none" strike="noStrike" cap="none">
                          <a:solidFill>
                            <a:schemeClr val="dk1"/>
                          </a:solidFill>
                          <a:latin typeface="Times New Roman"/>
                          <a:ea typeface="Times New Roman"/>
                          <a:cs typeface="Times New Roman"/>
                          <a:sym typeface="Times New Roman"/>
                        </a:rPr>
                        <a:t>Just focused on identifying the features of sign language.</a:t>
                      </a:r>
                      <a:endParaRPr sz="1100" u="none" strike="noStrike" cap="none">
                        <a:latin typeface="Times New Roman"/>
                        <a:ea typeface="Times New Roman"/>
                        <a:cs typeface="Times New Roman"/>
                        <a:sym typeface="Times New Roman"/>
                      </a:endParaRPr>
                    </a:p>
                    <a:p>
                      <a:pPr marL="457200" marR="0" lvl="0" indent="-298450" algn="l" rtl="0">
                        <a:lnSpc>
                          <a:spcPct val="100000"/>
                        </a:lnSpc>
                        <a:spcBef>
                          <a:spcPts val="0"/>
                        </a:spcBef>
                        <a:spcAft>
                          <a:spcPts val="0"/>
                        </a:spcAft>
                        <a:buClr>
                          <a:schemeClr val="dk1"/>
                        </a:buClr>
                        <a:buSzPts val="1100"/>
                        <a:buFont typeface="Times New Roman"/>
                        <a:buChar char="●"/>
                      </a:pPr>
                      <a:r>
                        <a:rPr lang="en-US" sz="1100" u="none" strike="noStrike" cap="none">
                          <a:solidFill>
                            <a:schemeClr val="dk1"/>
                          </a:solidFill>
                          <a:latin typeface="Times New Roman"/>
                          <a:ea typeface="Times New Roman"/>
                          <a:cs typeface="Times New Roman"/>
                          <a:sym typeface="Times New Roman"/>
                        </a:rPr>
                        <a:t>No conversion of hand</a:t>
                      </a:r>
                      <a:r>
                        <a:rPr lang="en-US" sz="1100" u="none" strike="noStrike" cap="none">
                          <a:latin typeface="Times New Roman"/>
                          <a:ea typeface="Times New Roman"/>
                          <a:cs typeface="Times New Roman"/>
                          <a:sym typeface="Times New Roman"/>
                        </a:rPr>
                        <a:t> </a:t>
                      </a:r>
                      <a:r>
                        <a:rPr lang="en-US" sz="1100" u="none" strike="noStrike" cap="none">
                          <a:solidFill>
                            <a:schemeClr val="dk1"/>
                          </a:solidFill>
                          <a:latin typeface="Times New Roman"/>
                          <a:ea typeface="Times New Roman"/>
                          <a:cs typeface="Times New Roman"/>
                          <a:sym typeface="Times New Roman"/>
                        </a:rPr>
                        <a:t>gest ures into text or voice</a:t>
                      </a:r>
                      <a:endParaRPr sz="1100" u="none" strike="noStrike" cap="none">
                        <a:latin typeface="Times New Roman"/>
                        <a:ea typeface="Times New Roman"/>
                        <a:cs typeface="Times New Roman"/>
                        <a:sym typeface="Times New Roman"/>
                      </a:endParaRPr>
                    </a:p>
                  </a:txBody>
                  <a:tcPr marL="91450" marR="91450" marT="45725" marB="45725"/>
                </a:tc>
                <a:tc>
                  <a:txBody>
                    <a:bodyPr/>
                    <a:lstStyle/>
                    <a:p>
                      <a:pPr marL="457200" marR="0" lvl="0" indent="-298450" algn="l" rtl="0">
                        <a:lnSpc>
                          <a:spcPct val="100000"/>
                        </a:lnSpc>
                        <a:spcBef>
                          <a:spcPts val="0"/>
                        </a:spcBef>
                        <a:spcAft>
                          <a:spcPts val="0"/>
                        </a:spcAft>
                        <a:buClr>
                          <a:schemeClr val="dk1"/>
                        </a:buClr>
                        <a:buSzPts val="1100"/>
                        <a:buFont typeface="Times New Roman"/>
                        <a:buChar char="●"/>
                      </a:pPr>
                      <a:r>
                        <a:rPr lang="en-US" sz="1100" u="none" strike="noStrike" cap="none">
                          <a:solidFill>
                            <a:schemeClr val="dk1"/>
                          </a:solidFill>
                          <a:latin typeface="Times New Roman"/>
                          <a:ea typeface="Times New Roman"/>
                          <a:cs typeface="Times New Roman"/>
                          <a:sym typeface="Times New Roman"/>
                        </a:rPr>
                        <a:t>Meaning of different hand gestures is accurately interpreted</a:t>
                      </a:r>
                    </a:p>
                    <a:p>
                      <a:pPr marL="457200" marR="0" lvl="0" indent="-298450" algn="l" rtl="0">
                        <a:lnSpc>
                          <a:spcPct val="100000"/>
                        </a:lnSpc>
                        <a:spcBef>
                          <a:spcPts val="0"/>
                        </a:spcBef>
                        <a:spcAft>
                          <a:spcPts val="0"/>
                        </a:spcAft>
                        <a:buClr>
                          <a:schemeClr val="dk1"/>
                        </a:buClr>
                        <a:buSzPts val="1100"/>
                        <a:buFont typeface="Times New Roman"/>
                        <a:buChar char="●"/>
                      </a:pPr>
                      <a:r>
                        <a:rPr lang="en-US" sz="1100" u="none" strike="noStrike" cap="none">
                          <a:solidFill>
                            <a:schemeClr val="dk1"/>
                          </a:solidFill>
                          <a:latin typeface="Times New Roman"/>
                          <a:ea typeface="Times New Roman"/>
                          <a:cs typeface="Times New Roman"/>
                          <a:sym typeface="Times New Roman"/>
                        </a:rPr>
                        <a:t>Accuracy is 99.8%</a:t>
                      </a:r>
                      <a:endParaRPr sz="1100" u="none" strike="noStrike" cap="none">
                        <a:latin typeface="Times New Roman"/>
                        <a:ea typeface="Times New Roman"/>
                        <a:cs typeface="Times New Roman"/>
                        <a:sym typeface="Times New Roman"/>
                      </a:endParaRPr>
                    </a:p>
                  </a:txBody>
                  <a:tcPr marL="91450" marR="91450" marT="45725" marB="45725"/>
                </a:tc>
                <a:tc>
                  <a:txBody>
                    <a:bodyPr/>
                    <a:lstStyle/>
                    <a:p>
                      <a:pPr marL="457200" marR="0" lvl="0" indent="-298450" algn="l" rtl="0">
                        <a:lnSpc>
                          <a:spcPct val="100000"/>
                        </a:lnSpc>
                        <a:spcBef>
                          <a:spcPts val="0"/>
                        </a:spcBef>
                        <a:spcAft>
                          <a:spcPts val="0"/>
                        </a:spcAft>
                        <a:buClr>
                          <a:srgbClr val="000000"/>
                        </a:buClr>
                        <a:buSzPts val="1100"/>
                        <a:buFont typeface="Times New Roman"/>
                        <a:buChar char="●"/>
                      </a:pPr>
                      <a:r>
                        <a:rPr lang="en-US" sz="1100" u="none" strike="noStrike" cap="none">
                          <a:latin typeface="Times New Roman"/>
                          <a:ea typeface="Times New Roman"/>
                          <a:cs typeface="Times New Roman"/>
                          <a:sym typeface="Times New Roman"/>
                        </a:rPr>
                        <a:t>    we have used a raspberry-pi 3 to process the images and match it against the neural network model and predict the signs.But it is bulky and heavy.</a:t>
                      </a:r>
                      <a:endParaRPr sz="1100" u="none" strike="noStrike" cap="none">
                        <a:solidFill>
                          <a:schemeClr val="dk1"/>
                        </a:solidFill>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r h="1962825">
                <a:tc>
                  <a:txBody>
                    <a:bodyPr/>
                    <a:lstStyle/>
                    <a:p>
                      <a:pPr marL="0" marR="0" lvl="0" indent="0" algn="l" rtl="0">
                        <a:lnSpc>
                          <a:spcPct val="100000"/>
                        </a:lnSpc>
                        <a:spcBef>
                          <a:spcPts val="0"/>
                        </a:spcBef>
                        <a:spcAft>
                          <a:spcPts val="0"/>
                        </a:spcAft>
                        <a:buClr>
                          <a:srgbClr val="000000"/>
                        </a:buClr>
                        <a:buSzPts val="1100"/>
                        <a:buFont typeface="Arial"/>
                        <a:buNone/>
                      </a:pPr>
                      <a:r>
                        <a:rPr lang="en-US" sz="1100" b="1" u="none" strike="noStrike" cap="none">
                          <a:latin typeface="Times New Roman"/>
                          <a:ea typeface="Times New Roman"/>
                          <a:cs typeface="Times New Roman"/>
                          <a:sym typeface="Times New Roman"/>
                        </a:rPr>
                        <a:t>Towards Multilingual Sign Language Recognition</a:t>
                      </a:r>
                      <a:endParaRPr sz="11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300"/>
                        <a:buFont typeface="Calibri"/>
                        <a:buNone/>
                      </a:pPr>
                      <a:r>
                        <a:rPr lang="en-US" sz="1100" u="none" strike="noStrike" cap="none">
                          <a:solidFill>
                            <a:schemeClr val="dk1"/>
                          </a:solidFill>
                        </a:rPr>
                        <a:t>2020</a:t>
                      </a:r>
                      <a:endParaRPr sz="1100" u="none" strike="noStrike" cap="none"/>
                    </a:p>
                    <a:p>
                      <a:pPr marL="0" marR="0" lvl="0" indent="0" algn="l" rtl="0">
                        <a:lnSpc>
                          <a:spcPct val="100000"/>
                        </a:lnSpc>
                        <a:spcBef>
                          <a:spcPts val="0"/>
                        </a:spcBef>
                        <a:spcAft>
                          <a:spcPts val="0"/>
                        </a:spcAft>
                        <a:buClr>
                          <a:schemeClr val="dk1"/>
                        </a:buClr>
                        <a:buSzPts val="1300"/>
                        <a:buFont typeface="Calibri"/>
                        <a:buNone/>
                      </a:pPr>
                      <a:endParaRPr sz="1100" u="none" strike="noStrike" cap="none">
                        <a:solidFill>
                          <a:schemeClr val="dk1"/>
                        </a:solidFill>
                      </a:endParaRPr>
                    </a:p>
                  </a:txBody>
                  <a:tcPr marL="91450" marR="91450" marT="45725" marB="45725"/>
                </a:tc>
                <a:tc>
                  <a:txBody>
                    <a:bodyPr/>
                    <a:lstStyle/>
                    <a:p>
                      <a:pPr marL="342900" marR="0" lvl="0" indent="-330200" algn="l" rtl="0">
                        <a:lnSpc>
                          <a:spcPct val="100000"/>
                        </a:lnSpc>
                        <a:spcBef>
                          <a:spcPts val="0"/>
                        </a:spcBef>
                        <a:spcAft>
                          <a:spcPts val="0"/>
                        </a:spcAft>
                        <a:buClr>
                          <a:schemeClr val="dk1"/>
                        </a:buClr>
                        <a:buSzPts val="1100"/>
                        <a:buFont typeface="Times New Roman"/>
                        <a:buAutoNum type="arabicPeriod"/>
                      </a:pPr>
                      <a:r>
                        <a:rPr lang="en-US" sz="1100" u="none" strike="noStrike" cap="none">
                          <a:latin typeface="Times New Roman"/>
                          <a:ea typeface="Times New Roman"/>
                          <a:cs typeface="Times New Roman"/>
                          <a:sym typeface="Times New Roman"/>
                        </a:rPr>
                        <a:t>Sandrine Tornay</a:t>
                      </a:r>
                      <a:endParaRPr sz="1100" u="none" strike="noStrike" cap="none">
                        <a:latin typeface="Times New Roman"/>
                        <a:ea typeface="Times New Roman"/>
                        <a:cs typeface="Times New Roman"/>
                        <a:sym typeface="Times New Roman"/>
                      </a:endParaRPr>
                    </a:p>
                    <a:p>
                      <a:pPr marL="342900" marR="0" lvl="0" indent="-330200" algn="l" rtl="0">
                        <a:lnSpc>
                          <a:spcPct val="100000"/>
                        </a:lnSpc>
                        <a:spcBef>
                          <a:spcPts val="0"/>
                        </a:spcBef>
                        <a:spcAft>
                          <a:spcPts val="0"/>
                        </a:spcAft>
                        <a:buClr>
                          <a:schemeClr val="dk1"/>
                        </a:buClr>
                        <a:buSzPts val="1100"/>
                        <a:buFont typeface="Times New Roman"/>
                        <a:buAutoNum type="arabicPeriod"/>
                      </a:pPr>
                      <a:r>
                        <a:rPr lang="en-US" sz="1100" u="none" strike="noStrike" cap="none">
                          <a:latin typeface="Times New Roman"/>
                          <a:ea typeface="Times New Roman"/>
                          <a:cs typeface="Times New Roman"/>
                          <a:sym typeface="Times New Roman"/>
                        </a:rPr>
                        <a:t>Marzieh Razavi</a:t>
                      </a:r>
                      <a:endParaRPr sz="1100" i="0" u="none" strike="noStrike" cap="none">
                        <a:solidFill>
                          <a:schemeClr val="dk1"/>
                        </a:solidFill>
                        <a:latin typeface="Times New Roman"/>
                        <a:ea typeface="Times New Roman"/>
                        <a:cs typeface="Times New Roman"/>
                        <a:sym typeface="Times New Roman"/>
                      </a:endParaRPr>
                    </a:p>
                    <a:p>
                      <a:pPr marL="342900" marR="0" lvl="0" indent="-330200" algn="l" rtl="0">
                        <a:lnSpc>
                          <a:spcPct val="100000"/>
                        </a:lnSpc>
                        <a:spcBef>
                          <a:spcPts val="0"/>
                        </a:spcBef>
                        <a:spcAft>
                          <a:spcPts val="0"/>
                        </a:spcAft>
                        <a:buClr>
                          <a:schemeClr val="dk1"/>
                        </a:buClr>
                        <a:buSzPts val="1100"/>
                        <a:buFont typeface="Times New Roman"/>
                        <a:buAutoNum type="arabicPeriod"/>
                      </a:pPr>
                      <a:r>
                        <a:rPr lang="en-US" sz="1100" u="none" strike="noStrike" cap="none">
                          <a:latin typeface="Times New Roman"/>
                          <a:ea typeface="Times New Roman"/>
                          <a:cs typeface="Times New Roman"/>
                          <a:sym typeface="Times New Roman"/>
                        </a:rPr>
                        <a:t>Mathew Magimai.-Doss</a:t>
                      </a:r>
                      <a:endParaRPr sz="11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Calibri"/>
                        <a:buNone/>
                      </a:pPr>
                      <a:endParaRPr sz="11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Calibri"/>
                        <a:buNone/>
                      </a:pPr>
                      <a:endParaRPr sz="11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457200" marR="0" lvl="0" indent="-298450" algn="l" rtl="0">
                        <a:lnSpc>
                          <a:spcPct val="100000"/>
                        </a:lnSpc>
                        <a:spcBef>
                          <a:spcPts val="0"/>
                        </a:spcBef>
                        <a:spcAft>
                          <a:spcPts val="0"/>
                        </a:spcAft>
                        <a:buClr>
                          <a:srgbClr val="000000"/>
                        </a:buClr>
                        <a:buSzPts val="1100"/>
                        <a:buFont typeface="Times New Roman"/>
                        <a:buChar char="●"/>
                      </a:pPr>
                      <a:r>
                        <a:rPr lang="en-US" sz="1100" b="1" u="none" strike="noStrike" cap="none">
                          <a:latin typeface="Times New Roman"/>
                          <a:ea typeface="Times New Roman"/>
                          <a:cs typeface="Times New Roman"/>
                          <a:sym typeface="Times New Roman"/>
                        </a:rPr>
                        <a:t> Kullback-Leibler </a:t>
                      </a:r>
                      <a:r>
                        <a:rPr lang="en-US" sz="1100" b="1">
                          <a:latin typeface="Times New Roman"/>
                          <a:ea typeface="Times New Roman"/>
                          <a:cs typeface="Times New Roman"/>
                          <a:sym typeface="Times New Roman"/>
                        </a:rPr>
                        <a:t>Divergence</a:t>
                      </a:r>
                      <a:r>
                        <a:rPr lang="en-US" sz="1100" b="1" u="none" strike="noStrike" cap="none">
                          <a:latin typeface="Times New Roman"/>
                          <a:ea typeface="Times New Roman"/>
                          <a:cs typeface="Times New Roman"/>
                          <a:sym typeface="Times New Roman"/>
                        </a:rPr>
                        <a:t> HMM</a:t>
                      </a:r>
                    </a:p>
                    <a:p>
                      <a:pPr marL="158750" marR="0" lvl="0" indent="0" algn="l" rtl="0">
                        <a:lnSpc>
                          <a:spcPct val="100000"/>
                        </a:lnSpc>
                        <a:spcBef>
                          <a:spcPts val="0"/>
                        </a:spcBef>
                        <a:spcAft>
                          <a:spcPts val="0"/>
                        </a:spcAft>
                        <a:buClr>
                          <a:srgbClr val="000000"/>
                        </a:buClr>
                        <a:buSzPts val="1100"/>
                        <a:buFont typeface="Times New Roman"/>
                        <a:buNone/>
                      </a:pPr>
                      <a:endParaRPr sz="1100" b="1" u="none" strike="noStrike" cap="none">
                        <a:latin typeface="Times New Roman"/>
                        <a:ea typeface="Times New Roman"/>
                        <a:cs typeface="Times New Roman"/>
                        <a:sym typeface="Times New Roman"/>
                      </a:endParaRPr>
                    </a:p>
                    <a:p>
                      <a:pPr marL="158750" marR="0" lvl="0" indent="0" algn="l" rtl="0">
                        <a:lnSpc>
                          <a:spcPct val="100000"/>
                        </a:lnSpc>
                        <a:spcBef>
                          <a:spcPts val="0"/>
                        </a:spcBef>
                        <a:spcAft>
                          <a:spcPts val="0"/>
                        </a:spcAft>
                        <a:buClr>
                          <a:srgbClr val="000000"/>
                        </a:buClr>
                        <a:buSzPts val="1100"/>
                        <a:buFont typeface="Times New Roman"/>
                        <a:buNone/>
                      </a:pPr>
                      <a:r>
                        <a:rPr lang="en-US" sz="1050" b="0" u="none" strike="noStrike" cap="none">
                          <a:latin typeface="Times New Roman"/>
                          <a:ea typeface="Times New Roman"/>
                          <a:cs typeface="Times New Roman"/>
                          <a:sym typeface="Times New Roman"/>
                        </a:rPr>
                        <a:t>In this approach, the feature observations are probabilistic (posterior distributions). Each HMM state is parameterized by a category distribution of the same dimension as the feature observation and there parameters are estimated though embedded Viterbi expectation maximization algorithm with cost function based ok K-L Divergence.</a:t>
                      </a:r>
                      <a:endParaRPr sz="1050" b="0" u="none" strike="noStrike" cap="none">
                        <a:latin typeface="Times New Roman"/>
                        <a:ea typeface="Times New Roman"/>
                        <a:cs typeface="Times New Roman"/>
                        <a:sym typeface="Times New Roman"/>
                      </a:endParaRPr>
                    </a:p>
                  </a:txBody>
                  <a:tcPr marL="91450" marR="91450" marT="45725" marB="45725"/>
                </a:tc>
                <a:tc>
                  <a:txBody>
                    <a:bodyPr/>
                    <a:lstStyle/>
                    <a:p>
                      <a:pPr marL="457200" marR="0" lvl="0" indent="-298450" algn="l" rtl="0">
                        <a:lnSpc>
                          <a:spcPct val="100000"/>
                        </a:lnSpc>
                        <a:spcBef>
                          <a:spcPts val="0"/>
                        </a:spcBef>
                        <a:spcAft>
                          <a:spcPts val="0"/>
                        </a:spcAft>
                        <a:buClr>
                          <a:schemeClr val="dk1"/>
                        </a:buClr>
                        <a:buSzPts val="1100"/>
                        <a:buFont typeface="Times New Roman"/>
                        <a:buChar char="●"/>
                      </a:pPr>
                      <a:r>
                        <a:rPr lang="en-US" sz="1100" u="none" strike="noStrike" cap="none">
                          <a:solidFill>
                            <a:schemeClr val="dk1"/>
                          </a:solidFill>
                          <a:latin typeface="Times New Roman"/>
                          <a:ea typeface="Times New Roman"/>
                          <a:cs typeface="Times New Roman"/>
                          <a:sym typeface="Times New Roman"/>
                        </a:rPr>
                        <a:t>The English language is converted into sign language.</a:t>
                      </a:r>
                      <a:endParaRPr sz="1100" u="none" strike="noStrike" cap="none">
                        <a:latin typeface="Times New Roman"/>
                        <a:ea typeface="Times New Roman"/>
                        <a:cs typeface="Times New Roman"/>
                        <a:sym typeface="Times New Roman"/>
                      </a:endParaRPr>
                    </a:p>
                    <a:p>
                      <a:pPr marL="457200" marR="0" lvl="0" indent="-298450" algn="l" rtl="0">
                        <a:lnSpc>
                          <a:spcPct val="100000"/>
                        </a:lnSpc>
                        <a:spcBef>
                          <a:spcPts val="0"/>
                        </a:spcBef>
                        <a:spcAft>
                          <a:spcPts val="0"/>
                        </a:spcAft>
                        <a:buClr>
                          <a:schemeClr val="dk1"/>
                        </a:buClr>
                        <a:buSzPts val="1100"/>
                        <a:buFont typeface="Times New Roman"/>
                        <a:buChar char="●"/>
                      </a:pPr>
                      <a:r>
                        <a:rPr lang="en-US" sz="1100" u="none" strike="noStrike" cap="none">
                          <a:solidFill>
                            <a:schemeClr val="dk1"/>
                          </a:solidFill>
                          <a:latin typeface="Times New Roman"/>
                          <a:ea typeface="Times New Roman"/>
                          <a:cs typeface="Times New Roman"/>
                          <a:sym typeface="Times New Roman"/>
                        </a:rPr>
                        <a:t>Only normal people can understand the language not the disabled ones</a:t>
                      </a:r>
                      <a:endParaRPr sz="1100" u="none" strike="noStrike" cap="none">
                        <a:latin typeface="Times New Roman"/>
                        <a:ea typeface="Times New Roman"/>
                        <a:cs typeface="Times New Roman"/>
                        <a:sym typeface="Times New Roman"/>
                      </a:endParaRPr>
                    </a:p>
                  </a:txBody>
                  <a:tcPr marL="91450" marR="91450" marT="45725" marB="45725"/>
                </a:tc>
                <a:tc>
                  <a:txBody>
                    <a:bodyPr/>
                    <a:lstStyle/>
                    <a:p>
                      <a:pPr marL="457200" marR="0" lvl="0" indent="-298450" algn="l" rtl="0">
                        <a:lnSpc>
                          <a:spcPct val="100000"/>
                        </a:lnSpc>
                        <a:spcBef>
                          <a:spcPts val="0"/>
                        </a:spcBef>
                        <a:spcAft>
                          <a:spcPts val="0"/>
                        </a:spcAft>
                        <a:buClr>
                          <a:schemeClr val="dk1"/>
                        </a:buClr>
                        <a:buSzPts val="1100"/>
                        <a:buFont typeface="Times New Roman"/>
                        <a:buChar char="●"/>
                      </a:pPr>
                      <a:r>
                        <a:rPr lang="en-US" sz="1100" u="none" strike="noStrike" cap="none">
                          <a:solidFill>
                            <a:schemeClr val="dk1"/>
                          </a:solidFill>
                          <a:latin typeface="Times New Roman"/>
                          <a:ea typeface="Times New Roman"/>
                          <a:cs typeface="Times New Roman"/>
                          <a:sym typeface="Times New Roman"/>
                        </a:rPr>
                        <a:t>Using Mobile applications is easy and feasible to use.</a:t>
                      </a:r>
                      <a:endParaRPr sz="1100" u="none" strike="noStrike" cap="none">
                        <a:latin typeface="Times New Roman"/>
                        <a:ea typeface="Times New Roman"/>
                        <a:cs typeface="Times New Roman"/>
                        <a:sym typeface="Times New Roman"/>
                      </a:endParaRPr>
                    </a:p>
                  </a:txBody>
                  <a:tcPr marL="91450" marR="91450" marT="45725" marB="45725"/>
                </a:tc>
                <a:tc>
                  <a:txBody>
                    <a:bodyPr/>
                    <a:lstStyle/>
                    <a:p>
                      <a:pPr marL="457200" marR="0" lvl="0" indent="-298450" algn="l" rtl="0">
                        <a:lnSpc>
                          <a:spcPct val="100000"/>
                        </a:lnSpc>
                        <a:spcBef>
                          <a:spcPts val="0"/>
                        </a:spcBef>
                        <a:spcAft>
                          <a:spcPts val="0"/>
                        </a:spcAft>
                        <a:buClr>
                          <a:srgbClr val="000000"/>
                        </a:buClr>
                        <a:buSzPts val="1100"/>
                        <a:buFont typeface="Times New Roman"/>
                        <a:buChar char="●"/>
                      </a:pPr>
                      <a:r>
                        <a:rPr lang="en-US" sz="1100" u="none" strike="noStrike" cap="none">
                          <a:latin typeface="Times New Roman"/>
                          <a:ea typeface="Times New Roman"/>
                          <a:cs typeface="Times New Roman"/>
                          <a:sym typeface="Times New Roman"/>
                        </a:rPr>
                        <a:t>Our future work will build upon these finding to address resource constraint issues in sign language processing such as, developing systems with reduced number of signers and examples. </a:t>
                      </a:r>
                      <a:endParaRPr sz="1100" u="none" strike="noStrike" cap="none">
                        <a:latin typeface="Times New Roman"/>
                        <a:ea typeface="Times New Roman"/>
                        <a:cs typeface="Times New Roman"/>
                        <a:sym typeface="Times New Roman"/>
                      </a:endParaRPr>
                    </a:p>
                    <a:p>
                      <a:pPr marL="457200" marR="0" lvl="0" indent="-298450" algn="l" rtl="0">
                        <a:lnSpc>
                          <a:spcPct val="100000"/>
                        </a:lnSpc>
                        <a:spcBef>
                          <a:spcPts val="0"/>
                        </a:spcBef>
                        <a:spcAft>
                          <a:spcPts val="0"/>
                        </a:spcAft>
                        <a:buClr>
                          <a:srgbClr val="000000"/>
                        </a:buClr>
                        <a:buSzPts val="1100"/>
                        <a:buFont typeface="Times New Roman"/>
                        <a:buChar char="●"/>
                      </a:pPr>
                      <a:r>
                        <a:rPr lang="en-US" sz="1100" u="none" strike="noStrike" cap="none">
                          <a:latin typeface="Times New Roman"/>
                          <a:ea typeface="Times New Roman"/>
                          <a:cs typeface="Times New Roman"/>
                          <a:sym typeface="Times New Roman"/>
                        </a:rPr>
                        <a:t>In addition, we will also investigate whether such a multilingual approach can be applied for sign language assessment. </a:t>
                      </a:r>
                      <a:endParaRPr sz="1100" u="none" strike="noStrike" cap="none">
                        <a:solidFill>
                          <a:schemeClr val="dk1"/>
                        </a:solidFill>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2"/>
                  </a:ext>
                </a:extLst>
              </a:tr>
              <a:tr h="1759375">
                <a:tc>
                  <a:txBody>
                    <a:bodyPr/>
                    <a:lstStyle/>
                    <a:p>
                      <a:pPr marL="0" marR="0" lvl="0" indent="0" algn="l" rtl="0">
                        <a:lnSpc>
                          <a:spcPct val="100000"/>
                        </a:lnSpc>
                        <a:spcBef>
                          <a:spcPts val="0"/>
                        </a:spcBef>
                        <a:spcAft>
                          <a:spcPts val="0"/>
                        </a:spcAft>
                        <a:buClr>
                          <a:srgbClr val="000000"/>
                        </a:buClr>
                        <a:buSzPts val="1100"/>
                        <a:buFont typeface="Arial"/>
                        <a:buNone/>
                      </a:pPr>
                      <a:r>
                        <a:rPr lang="en-US" sz="1100" b="1" u="none" strike="noStrike" cap="none">
                          <a:latin typeface="Times New Roman"/>
                          <a:ea typeface="Times New Roman"/>
                          <a:cs typeface="Times New Roman"/>
                          <a:sym typeface="Times New Roman"/>
                        </a:rPr>
                        <a:t>Sign Language Recognition Using Template Matching Technique </a:t>
                      </a:r>
                      <a:endParaRPr sz="11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solidFill>
                            <a:schemeClr val="dk1"/>
                          </a:solidFill>
                        </a:rPr>
                        <a:t>2020</a:t>
                      </a:r>
                      <a:endParaRPr sz="1100" u="none" strike="noStrike" cap="none"/>
                    </a:p>
                  </a:txBody>
                  <a:tcPr marL="91450" marR="91450" marT="45725" marB="45725"/>
                </a:tc>
                <a:tc>
                  <a:txBody>
                    <a:bodyPr/>
                    <a:lstStyle/>
                    <a:p>
                      <a:pPr marL="342900" marR="0" lvl="0" indent="-330200" algn="l" rtl="0">
                        <a:lnSpc>
                          <a:spcPct val="100000"/>
                        </a:lnSpc>
                        <a:spcBef>
                          <a:spcPts val="0"/>
                        </a:spcBef>
                        <a:spcAft>
                          <a:spcPts val="0"/>
                        </a:spcAft>
                        <a:buClr>
                          <a:schemeClr val="dk1"/>
                        </a:buClr>
                        <a:buSzPts val="1100"/>
                        <a:buFont typeface="Times New Roman"/>
                        <a:buAutoNum type="arabicPeriod"/>
                      </a:pPr>
                      <a:r>
                        <a:rPr lang="en-US" sz="1100" u="none" strike="noStrike" cap="none">
                          <a:latin typeface="Times New Roman"/>
                          <a:ea typeface="Times New Roman"/>
                          <a:cs typeface="Times New Roman"/>
                          <a:sym typeface="Times New Roman"/>
                        </a:rPr>
                        <a:t>Soma Shrenika</a:t>
                      </a:r>
                      <a:endParaRPr sz="1100" i="0" u="none" strike="noStrike" cap="none">
                        <a:solidFill>
                          <a:schemeClr val="dk1"/>
                        </a:solidFill>
                        <a:latin typeface="Times New Roman"/>
                        <a:ea typeface="Times New Roman"/>
                        <a:cs typeface="Times New Roman"/>
                        <a:sym typeface="Times New Roman"/>
                      </a:endParaRPr>
                    </a:p>
                    <a:p>
                      <a:pPr marL="342900" marR="0" lvl="0" indent="-330200" algn="l" rtl="0">
                        <a:lnSpc>
                          <a:spcPct val="100000"/>
                        </a:lnSpc>
                        <a:spcBef>
                          <a:spcPts val="0"/>
                        </a:spcBef>
                        <a:spcAft>
                          <a:spcPts val="0"/>
                        </a:spcAft>
                        <a:buClr>
                          <a:schemeClr val="dk1"/>
                        </a:buClr>
                        <a:buSzPts val="1100"/>
                        <a:buFont typeface="Times New Roman"/>
                        <a:buAutoNum type="arabicPeriod"/>
                      </a:pPr>
                      <a:r>
                        <a:rPr lang="en-US" sz="1100" u="none" strike="noStrike" cap="none">
                          <a:latin typeface="Times New Roman"/>
                          <a:ea typeface="Times New Roman"/>
                          <a:cs typeface="Times New Roman"/>
                          <a:sym typeface="Times New Roman"/>
                        </a:rPr>
                        <a:t>Myneni Madhu Bala</a:t>
                      </a:r>
                      <a:endParaRPr sz="11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457200" marR="0" lvl="0" indent="-298450" algn="l" rtl="0">
                        <a:lnSpc>
                          <a:spcPct val="100000"/>
                        </a:lnSpc>
                        <a:spcBef>
                          <a:spcPts val="0"/>
                        </a:spcBef>
                        <a:spcAft>
                          <a:spcPts val="0"/>
                        </a:spcAft>
                        <a:buClr>
                          <a:srgbClr val="000000"/>
                        </a:buClr>
                        <a:buSzPts val="1100"/>
                        <a:buFont typeface="Times New Roman"/>
                        <a:buChar char="●"/>
                      </a:pPr>
                      <a:r>
                        <a:rPr lang="en-US" sz="1100" b="1" u="none" strike="noStrike" cap="none">
                          <a:latin typeface="Times New Roman"/>
                          <a:ea typeface="Times New Roman"/>
                          <a:cs typeface="Times New Roman"/>
                          <a:sym typeface="Times New Roman"/>
                        </a:rPr>
                        <a:t>Novel Transformer</a:t>
                      </a:r>
                    </a:p>
                    <a:p>
                      <a:pPr marL="158750" marR="0" lvl="0" indent="0" algn="l" rtl="0">
                        <a:lnSpc>
                          <a:spcPct val="100000"/>
                        </a:lnSpc>
                        <a:spcBef>
                          <a:spcPts val="0"/>
                        </a:spcBef>
                        <a:spcAft>
                          <a:spcPts val="0"/>
                        </a:spcAft>
                        <a:buClr>
                          <a:srgbClr val="000000"/>
                        </a:buClr>
                        <a:buSzPts val="1100"/>
                        <a:buFont typeface="Times New Roman"/>
                        <a:buNone/>
                      </a:pPr>
                      <a:endParaRPr sz="1100" b="1" u="none" strike="noStrike" cap="none">
                        <a:latin typeface="Times New Roman"/>
                        <a:ea typeface="Times New Roman"/>
                        <a:cs typeface="Times New Roman"/>
                        <a:sym typeface="Times New Roman"/>
                      </a:endParaRPr>
                    </a:p>
                    <a:p>
                      <a:pPr marL="158750" marR="0" lvl="0" indent="0" algn="l" rtl="0">
                        <a:lnSpc>
                          <a:spcPct val="100000"/>
                        </a:lnSpc>
                        <a:spcBef>
                          <a:spcPts val="0"/>
                        </a:spcBef>
                        <a:spcAft>
                          <a:spcPts val="0"/>
                        </a:spcAft>
                        <a:buClr>
                          <a:srgbClr val="000000"/>
                        </a:buClr>
                        <a:buSzPts val="1100"/>
                        <a:buFont typeface="Times New Roman"/>
                        <a:buNone/>
                      </a:pPr>
                      <a:r>
                        <a:rPr lang="en-US" sz="1100" b="0" u="none" strike="noStrike" cap="none">
                          <a:latin typeface="Times New Roman"/>
                          <a:ea typeface="Times New Roman"/>
                          <a:cs typeface="Times New Roman"/>
                          <a:sym typeface="Times New Roman"/>
                        </a:rPr>
                        <a:t>This method jointly learn sign language recognition and translation in a end-to-end manner. They have utilized CTC loss to inject gloss level supervision into the transformer encoder. Training it to do sign language while learning meaningful representations for end goal of sign language translation.</a:t>
                      </a:r>
                      <a:endParaRPr sz="1050" b="0" u="none" strike="noStrike" cap="none">
                        <a:latin typeface="Times New Roman"/>
                        <a:ea typeface="Times New Roman"/>
                        <a:cs typeface="Times New Roman"/>
                        <a:sym typeface="Times New Roman"/>
                      </a:endParaRPr>
                    </a:p>
                  </a:txBody>
                  <a:tcPr marL="91450" marR="91450" marT="45725" marB="45725"/>
                </a:tc>
                <a:tc>
                  <a:txBody>
                    <a:bodyPr/>
                    <a:lstStyle/>
                    <a:p>
                      <a:pPr marL="457200" marR="0" lvl="0" indent="-298450" algn="l" rtl="0">
                        <a:lnSpc>
                          <a:spcPct val="100000"/>
                        </a:lnSpc>
                        <a:spcBef>
                          <a:spcPts val="0"/>
                        </a:spcBef>
                        <a:spcAft>
                          <a:spcPts val="0"/>
                        </a:spcAft>
                        <a:buClr>
                          <a:schemeClr val="dk1"/>
                        </a:buClr>
                        <a:buSzPts val="1100"/>
                        <a:buFont typeface="Times New Roman"/>
                        <a:buChar char="●"/>
                      </a:pPr>
                      <a:r>
                        <a:rPr lang="en-US" sz="1100" u="none" strike="noStrike" cap="none">
                          <a:solidFill>
                            <a:schemeClr val="dk1"/>
                          </a:solidFill>
                          <a:latin typeface="Times New Roman"/>
                          <a:ea typeface="Times New Roman"/>
                          <a:cs typeface="Times New Roman"/>
                          <a:sym typeface="Times New Roman"/>
                        </a:rPr>
                        <a:t>Deals with sign language with limited vocabulary.</a:t>
                      </a:r>
                      <a:endParaRPr sz="1100" u="none" strike="noStrike" cap="none">
                        <a:latin typeface="Times New Roman"/>
                        <a:ea typeface="Times New Roman"/>
                        <a:cs typeface="Times New Roman"/>
                        <a:sym typeface="Times New Roman"/>
                      </a:endParaRPr>
                    </a:p>
                    <a:p>
                      <a:pPr marL="457200" marR="0" lvl="0" indent="-298450" algn="l" rtl="0">
                        <a:lnSpc>
                          <a:spcPct val="100000"/>
                        </a:lnSpc>
                        <a:spcBef>
                          <a:spcPts val="0"/>
                        </a:spcBef>
                        <a:spcAft>
                          <a:spcPts val="0"/>
                        </a:spcAft>
                        <a:buClr>
                          <a:schemeClr val="dk1"/>
                        </a:buClr>
                        <a:buSzPts val="1100"/>
                        <a:buFont typeface="Times New Roman"/>
                        <a:buChar char="●"/>
                      </a:pPr>
                      <a:r>
                        <a:rPr lang="en-US" sz="1100" u="none" strike="noStrike" cap="none">
                          <a:solidFill>
                            <a:schemeClr val="dk1"/>
                          </a:solidFill>
                          <a:latin typeface="Times New Roman"/>
                          <a:ea typeface="Times New Roman"/>
                          <a:cs typeface="Times New Roman"/>
                          <a:sym typeface="Times New Roman"/>
                        </a:rPr>
                        <a:t>Works with static images, does not capture real-time video.</a:t>
                      </a:r>
                      <a:endParaRPr sz="1100" u="none" strike="noStrike" cap="none">
                        <a:latin typeface="Times New Roman"/>
                        <a:ea typeface="Times New Roman"/>
                        <a:cs typeface="Times New Roman"/>
                        <a:sym typeface="Times New Roman"/>
                      </a:endParaRPr>
                    </a:p>
                  </a:txBody>
                  <a:tcPr marL="91450" marR="91450" marT="45725" marB="45725"/>
                </a:tc>
                <a:tc>
                  <a:txBody>
                    <a:bodyPr/>
                    <a:lstStyle/>
                    <a:p>
                      <a:pPr marL="457200" marR="0" lvl="0" indent="-298450" algn="l" rtl="0">
                        <a:lnSpc>
                          <a:spcPct val="100000"/>
                        </a:lnSpc>
                        <a:spcBef>
                          <a:spcPts val="0"/>
                        </a:spcBef>
                        <a:spcAft>
                          <a:spcPts val="0"/>
                        </a:spcAft>
                        <a:buClr>
                          <a:schemeClr val="dk1"/>
                        </a:buClr>
                        <a:buSzPts val="1100"/>
                        <a:buFont typeface="Times New Roman"/>
                        <a:buChar char="●"/>
                      </a:pPr>
                      <a:r>
                        <a:rPr lang="en-US" sz="1100" u="none" strike="noStrike" cap="none">
                          <a:solidFill>
                            <a:schemeClr val="dk1"/>
                          </a:solidFill>
                          <a:latin typeface="Times New Roman"/>
                          <a:ea typeface="Times New Roman"/>
                          <a:cs typeface="Times New Roman"/>
                          <a:sym typeface="Times New Roman"/>
                        </a:rPr>
                        <a:t>Recognition of more than 2 human-understandable languages.</a:t>
                      </a:r>
                      <a:endParaRPr sz="1100" u="none" strike="noStrike" cap="none">
                        <a:latin typeface="Times New Roman"/>
                        <a:ea typeface="Times New Roman"/>
                        <a:cs typeface="Times New Roman"/>
                        <a:sym typeface="Times New Roman"/>
                      </a:endParaRPr>
                    </a:p>
                    <a:p>
                      <a:pPr marL="457200" marR="0" lvl="0" indent="-298450" algn="l" rtl="0">
                        <a:lnSpc>
                          <a:spcPct val="100000"/>
                        </a:lnSpc>
                        <a:spcBef>
                          <a:spcPts val="0"/>
                        </a:spcBef>
                        <a:spcAft>
                          <a:spcPts val="0"/>
                        </a:spcAft>
                        <a:buClr>
                          <a:schemeClr val="dk1"/>
                        </a:buClr>
                        <a:buSzPts val="1100"/>
                        <a:buFont typeface="Times New Roman"/>
                        <a:buChar char="●"/>
                      </a:pPr>
                      <a:r>
                        <a:rPr lang="en-US" sz="1100" u="none" strike="noStrike" cap="none">
                          <a:solidFill>
                            <a:schemeClr val="dk1"/>
                          </a:solidFill>
                          <a:latin typeface="Times New Roman"/>
                          <a:ea typeface="Times New Roman"/>
                          <a:cs typeface="Times New Roman"/>
                          <a:sym typeface="Times New Roman"/>
                        </a:rPr>
                        <a:t>Does not require any kind of database and special instruments</a:t>
                      </a:r>
                      <a:endParaRPr sz="1100" u="none" strike="noStrike" cap="none">
                        <a:latin typeface="Times New Roman"/>
                        <a:ea typeface="Times New Roman"/>
                        <a:cs typeface="Times New Roman"/>
                        <a:sym typeface="Times New Roman"/>
                      </a:endParaRPr>
                    </a:p>
                  </a:txBody>
                  <a:tcPr marL="91450" marR="91450" marT="45725" marB="45725"/>
                </a:tc>
                <a:tc>
                  <a:txBody>
                    <a:bodyPr/>
                    <a:lstStyle/>
                    <a:p>
                      <a:pPr marL="457200" marR="0" lvl="0" indent="-298450" algn="l" rtl="0">
                        <a:lnSpc>
                          <a:spcPct val="100000"/>
                        </a:lnSpc>
                        <a:spcBef>
                          <a:spcPts val="0"/>
                        </a:spcBef>
                        <a:spcAft>
                          <a:spcPts val="0"/>
                        </a:spcAft>
                        <a:buClr>
                          <a:srgbClr val="000000"/>
                        </a:buClr>
                        <a:buSzPts val="1100"/>
                        <a:buFont typeface="Times New Roman"/>
                        <a:buChar char="●"/>
                      </a:pPr>
                      <a:r>
                        <a:rPr lang="en-US" sz="1100" u="none" strike="noStrike" cap="none">
                          <a:latin typeface="Times New Roman"/>
                          <a:ea typeface="Times New Roman"/>
                          <a:cs typeface="Times New Roman"/>
                          <a:sym typeface="Times New Roman"/>
                        </a:rPr>
                        <a:t>The process includes removal of noise and other less important data and applying smoothing algorithm to image, finding gradient magnitude followed by tracking the edges by hysteresis. </a:t>
                      </a:r>
                      <a:endParaRPr sz="1100" u="none" strike="noStrike" cap="none">
                        <a:solidFill>
                          <a:schemeClr val="dk1"/>
                        </a:solidFill>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3"/>
                  </a:ext>
                </a:extLst>
              </a:tr>
            </a:tbl>
          </a:graphicData>
        </a:graphic>
      </p:graphicFrame>
    </p:spTree>
  </p:cSld>
  <p:clrMapOvr>
    <a:masterClrMapping/>
  </p:clrMapOvr>
  <p:transition spd="med">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048622" name="Google Shape;163;p8"/>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400" b="1">
                <a:solidFill>
                  <a:schemeClr val="dk1"/>
                </a:solidFill>
                <a:latin typeface="Calibri"/>
                <a:ea typeface="Calibri"/>
                <a:cs typeface="Calibri"/>
                <a:sym typeface="Calibri"/>
              </a:rPr>
              <a:t>System Architecture</a:t>
            </a:r>
          </a:p>
        </p:txBody>
      </p:sp>
      <p:sp>
        <p:nvSpPr>
          <p:cNvPr id="1048623" name="Google Shape;164;p8"/>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24" name="Google Shape;165;p8"/>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25" name="Google Shape;166;p8"/>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097154" name="Google Shape;167;p8"/>
          <p:cNvPicPr preferRelativeResize="0">
            <a:picLocks/>
          </p:cNvPicPr>
          <p:nvPr/>
        </p:nvPicPr>
        <p:blipFill rotWithShape="1">
          <a:blip r:embed="rId3">
            <a:alphaModFix/>
          </a:blip>
          <a:srcRect/>
          <a:stretch>
            <a:fillRect/>
          </a:stretch>
        </p:blipFill>
        <p:spPr>
          <a:xfrm>
            <a:off x="1220943" y="1522152"/>
            <a:ext cx="10251383" cy="5335848"/>
          </a:xfrm>
          <a:prstGeom prst="rect">
            <a:avLst/>
          </a:prstGeom>
          <a:noFill/>
          <a:ln>
            <a:noFill/>
          </a:ln>
        </p:spPr>
      </p:pic>
      <p:sp>
        <p:nvSpPr>
          <p:cNvPr id="1048626" name="TextBox 1048625"/>
          <p:cNvSpPr txBox="1"/>
          <p:nvPr/>
        </p:nvSpPr>
        <p:spPr>
          <a:xfrm>
            <a:off x="10558289" y="5217726"/>
            <a:ext cx="1122514" cy="231140"/>
          </a:xfrm>
          <a:prstGeom prst="rect">
            <a:avLst/>
          </a:prstGeom>
        </p:spPr>
        <p:txBody>
          <a:bodyPr wrap="square" rtlCol="0">
            <a:spAutoFit/>
          </a:bodyPr>
          <a:lstStyle/>
          <a:p>
            <a:r>
              <a:rPr lang="en-US" sz="1000">
                <a:solidFill>
                  <a:srgbClr val="000000"/>
                </a:solidFill>
              </a:rPr>
              <a:t>Text as a output</a:t>
            </a:r>
            <a:endParaRPr lang="en-IN" sz="1000">
              <a:solidFill>
                <a:srgbClr val="000000"/>
              </a:solidFill>
            </a:endParaRPr>
          </a:p>
        </p:txBody>
      </p:sp>
      <p:sp>
        <p:nvSpPr>
          <p:cNvPr id="1048627" name="Rectangle 1048626"/>
          <p:cNvSpPr/>
          <p:nvPr/>
        </p:nvSpPr>
        <p:spPr>
          <a:xfrm rot="10800000" flipV="1">
            <a:off x="1984997" y="5134438"/>
            <a:ext cx="991196" cy="628859"/>
          </a:xfrm>
          <a:prstGeom prst="rect">
            <a:avLst/>
          </a:prstGeom>
          <a:solidFill>
            <a:srgbClr val="FFFFFF"/>
          </a:solidFill>
          <a:ln w="25400">
            <a:solidFill>
              <a:srgbClr val="666666"/>
            </a:solidFill>
          </a:ln>
        </p:spPr>
        <p:txBody>
          <a:bodyPr anchor="ctr"/>
          <a:lstStyle/>
          <a:p>
            <a:pPr algn="ctr"/>
            <a:r>
              <a:rPr lang="en-US"/>
              <a:t>Train module</a:t>
            </a:r>
            <a:endParaRPr lang="en-IN"/>
          </a:p>
        </p:txBody>
      </p:sp>
      <p:sp>
        <p:nvSpPr>
          <p:cNvPr id="1048628" name="TextBox 1048627"/>
          <p:cNvSpPr txBox="1"/>
          <p:nvPr/>
        </p:nvSpPr>
        <p:spPr>
          <a:xfrm>
            <a:off x="8245044" y="1190196"/>
            <a:ext cx="1309354" cy="269240"/>
          </a:xfrm>
          <a:prstGeom prst="rect">
            <a:avLst/>
          </a:prstGeom>
        </p:spPr>
        <p:txBody>
          <a:bodyPr wrap="square" rtlCol="0">
            <a:spAutoFit/>
          </a:bodyPr>
          <a:lstStyle/>
          <a:p>
            <a:r>
              <a:rPr lang="en-US" sz="1200">
                <a:solidFill>
                  <a:srgbClr val="000000"/>
                </a:solidFill>
              </a:rPr>
              <a:t>Test module</a:t>
            </a:r>
            <a:endParaRPr lang="en-IN" sz="1200">
              <a:solidFill>
                <a:srgbClr val="000000"/>
              </a:solidFill>
            </a:endParaRPr>
          </a:p>
        </p:txBody>
      </p:sp>
    </p:spTree>
  </p:cSld>
  <p:clrMapOvr>
    <a:masterClrMapping/>
  </p:clrMapOvr>
  <p:transition spd="med">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048607" name="Google Shape;172;p9"/>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400" b="1">
                <a:latin typeface="Calibri"/>
                <a:ea typeface="Calibri"/>
                <a:cs typeface="Calibri"/>
                <a:sym typeface="Calibri"/>
              </a:rPr>
              <a:t>Methodology</a:t>
            </a:r>
          </a:p>
        </p:txBody>
      </p:sp>
      <p:sp>
        <p:nvSpPr>
          <p:cNvPr id="1048608" name="Google Shape;173;p9"/>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09" name="Google Shape;174;p9"/>
          <p:cNvSpPr/>
          <p:nvPr/>
        </p:nvSpPr>
        <p:spPr>
          <a:xfrm>
            <a:off x="-109475" y="1227720"/>
            <a:ext cx="12191999" cy="5700850"/>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10" name="Google Shape;175;p9"/>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11" name="Google Shape;176;p9"/>
          <p:cNvSpPr txBox="1"/>
          <p:nvPr/>
        </p:nvSpPr>
        <p:spPr>
          <a:xfrm>
            <a:off x="1223175" y="1190195"/>
            <a:ext cx="4998030" cy="2887950"/>
          </a:xfrm>
          <a:prstGeom prst="rect">
            <a:avLst/>
          </a:prstGeom>
          <a:noFill/>
          <a:ln>
            <a:noFill/>
          </a:ln>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None/>
            </a:pPr>
            <a:r>
              <a:rPr lang="en-US" sz="2200" b="1" i="0" u="none" strike="noStrike" cap="none">
                <a:solidFill>
                  <a:schemeClr val="dk1"/>
                </a:solidFill>
                <a:latin typeface="Times New Roman"/>
                <a:ea typeface="Times New Roman"/>
                <a:cs typeface="Times New Roman"/>
                <a:sym typeface="Times New Roman"/>
              </a:rPr>
              <a:t>Modeling Stage</a:t>
            </a:r>
          </a:p>
          <a:p>
            <a:pPr marL="342900" marR="0" lvl="0" indent="-342900" algn="just" rtl="0">
              <a:lnSpc>
                <a:spcPct val="100000"/>
              </a:lnSpc>
              <a:spcBef>
                <a:spcPts val="0"/>
              </a:spcBef>
              <a:spcAft>
                <a:spcPts val="0"/>
              </a:spcAft>
              <a:buClr>
                <a:srgbClr val="000000"/>
              </a:buClr>
              <a:buSzPts val="2000"/>
              <a:buFont typeface="Arial"/>
              <a:buChar char="•"/>
            </a:pPr>
            <a:r>
              <a:rPr lang="en-US" sz="2200" b="0" i="0" u="none" strike="noStrike" cap="none">
                <a:solidFill>
                  <a:schemeClr val="dk1"/>
                </a:solidFill>
                <a:latin typeface="Times New Roman"/>
                <a:ea typeface="Times New Roman"/>
                <a:cs typeface="Times New Roman"/>
                <a:sym typeface="Times New Roman"/>
              </a:rPr>
              <a:t>System would take, video feed as input, from which </a:t>
            </a:r>
            <a:r>
              <a:rPr lang="en-US" sz="2200" b="1" i="0" u="none" strike="noStrike" cap="none">
                <a:solidFill>
                  <a:schemeClr val="dk1"/>
                </a:solidFill>
                <a:latin typeface="Times New Roman"/>
                <a:ea typeface="Times New Roman"/>
                <a:cs typeface="Times New Roman"/>
                <a:sym typeface="Times New Roman"/>
              </a:rPr>
              <a:t>Image would be extracted.</a:t>
            </a:r>
          </a:p>
          <a:p>
            <a:pPr marL="342900" marR="0" lvl="0" indent="-342900" algn="just" rtl="0">
              <a:lnSpc>
                <a:spcPct val="100000"/>
              </a:lnSpc>
              <a:spcBef>
                <a:spcPts val="0"/>
              </a:spcBef>
              <a:spcAft>
                <a:spcPts val="0"/>
              </a:spcAft>
              <a:buClr>
                <a:srgbClr val="000000"/>
              </a:buClr>
              <a:buSzPts val="2000"/>
              <a:buFont typeface="Arial"/>
              <a:buChar char="•"/>
            </a:pPr>
            <a:r>
              <a:rPr lang="en-US" sz="2200" b="0" i="0" u="none" strike="noStrike" cap="none">
                <a:solidFill>
                  <a:schemeClr val="dk1"/>
                </a:solidFill>
                <a:latin typeface="Times New Roman"/>
                <a:ea typeface="Times New Roman"/>
                <a:cs typeface="Times New Roman"/>
                <a:sym typeface="Times New Roman"/>
              </a:rPr>
              <a:t>Image would be cropped and scaled to fixed ratio.</a:t>
            </a:r>
          </a:p>
          <a:p>
            <a:pPr marL="342900" marR="0" lvl="0" indent="-342900" algn="just" rtl="0">
              <a:lnSpc>
                <a:spcPct val="100000"/>
              </a:lnSpc>
              <a:spcBef>
                <a:spcPts val="0"/>
              </a:spcBef>
              <a:spcAft>
                <a:spcPts val="0"/>
              </a:spcAft>
              <a:buClr>
                <a:srgbClr val="000000"/>
              </a:buClr>
              <a:buSzPts val="2000"/>
              <a:buFont typeface="Arial"/>
              <a:buChar char="•"/>
            </a:pPr>
            <a:r>
              <a:rPr lang="en-US" sz="2200" b="0" i="0" u="none" strike="noStrike" cap="none">
                <a:solidFill>
                  <a:schemeClr val="dk1"/>
                </a:solidFill>
                <a:latin typeface="Times New Roman"/>
                <a:ea typeface="Times New Roman"/>
                <a:cs typeface="Times New Roman"/>
                <a:sym typeface="Times New Roman"/>
              </a:rPr>
              <a:t>Colored image would be converted to </a:t>
            </a:r>
            <a:r>
              <a:rPr lang="en-US" sz="2200">
                <a:solidFill>
                  <a:schemeClr val="dk1"/>
                </a:solidFill>
                <a:latin typeface="Times New Roman"/>
                <a:ea typeface="Times New Roman"/>
                <a:cs typeface="Times New Roman"/>
                <a:sym typeface="Times New Roman"/>
              </a:rPr>
              <a:t>grayscale</a:t>
            </a:r>
            <a:r>
              <a:rPr lang="en-US" sz="2200" b="0" i="0" u="none" strike="noStrike" cap="none">
                <a:solidFill>
                  <a:schemeClr val="dk1"/>
                </a:solidFill>
                <a:latin typeface="Times New Roman"/>
                <a:ea typeface="Times New Roman"/>
                <a:cs typeface="Times New Roman"/>
                <a:sym typeface="Times New Roman"/>
              </a:rPr>
              <a:t> image</a:t>
            </a:r>
          </a:p>
        </p:txBody>
      </p:sp>
      <p:sp>
        <p:nvSpPr>
          <p:cNvPr id="1048612" name="TextBox 1048611"/>
          <p:cNvSpPr txBox="1"/>
          <p:nvPr/>
        </p:nvSpPr>
        <p:spPr>
          <a:xfrm>
            <a:off x="6096000" y="4078145"/>
            <a:ext cx="5684077" cy="1615440"/>
          </a:xfrm>
          <a:prstGeom prst="rect">
            <a:avLst/>
          </a:prstGeom>
        </p:spPr>
        <p:txBody>
          <a:bodyPr wrap="square" rtlCol="0">
            <a:spAutoFit/>
          </a:bodyPr>
          <a:lstStyle/>
          <a:p>
            <a:pPr marL="0" marR="0" lvl="0" indent="0" algn="just" rtl="0">
              <a:lnSpc>
                <a:spcPct val="100000"/>
              </a:lnSpc>
              <a:spcBef>
                <a:spcPts val="0"/>
              </a:spcBef>
              <a:spcAft>
                <a:spcPts val="0"/>
              </a:spcAft>
              <a:buNone/>
            </a:pPr>
            <a:r>
              <a:rPr sz="2100" b="1" i="0" u="none" strike="noStrike" cap="none">
                <a:solidFill>
                  <a:schemeClr val="dk1"/>
                </a:solidFill>
                <a:latin typeface="Times New Roman"/>
                <a:ea typeface="Times New Roman"/>
                <a:cs typeface="Times New Roman"/>
                <a:sym typeface="Times New Roman"/>
              </a:rPr>
              <a:t>Convolutional Layer</a:t>
            </a:r>
          </a:p>
          <a:p>
            <a:pPr marL="342900" marR="0" lvl="0" indent="-342900" algn="just" rtl="0">
              <a:lnSpc>
                <a:spcPct val="100000"/>
              </a:lnSpc>
              <a:spcBef>
                <a:spcPts val="0"/>
              </a:spcBef>
              <a:spcAft>
                <a:spcPts val="0"/>
              </a:spcAft>
              <a:buFont typeface="Arial"/>
              <a:buChar char="•"/>
            </a:pPr>
            <a:r>
              <a:rPr sz="2000" b="0" i="0" u="none" strike="noStrike" cap="none">
                <a:solidFill>
                  <a:schemeClr val="dk1"/>
                </a:solidFill>
                <a:latin typeface="Times New Roman"/>
                <a:ea typeface="Times New Roman"/>
                <a:cs typeface="Times New Roman"/>
                <a:sym typeface="Times New Roman"/>
              </a:rPr>
              <a:t>In a typical neural network each input neuron is connected to the next hidden layer. </a:t>
            </a:r>
          </a:p>
          <a:p>
            <a:pPr marL="342900" marR="0" lvl="0" indent="-342900" algn="just" rtl="0">
              <a:lnSpc>
                <a:spcPct val="100000"/>
              </a:lnSpc>
              <a:spcBef>
                <a:spcPts val="0"/>
              </a:spcBef>
              <a:spcAft>
                <a:spcPts val="0"/>
              </a:spcAft>
              <a:buFont typeface="Arial"/>
              <a:buChar char="•"/>
            </a:pPr>
            <a:r>
              <a:rPr sz="2000" b="0" i="0" u="none" strike="noStrike" cap="none">
                <a:solidFill>
                  <a:schemeClr val="dk1"/>
                </a:solidFill>
                <a:latin typeface="Times New Roman"/>
                <a:ea typeface="Times New Roman"/>
                <a:cs typeface="Times New Roman"/>
                <a:sym typeface="Times New Roman"/>
              </a:rPr>
              <a:t>In CNN, only a small region of the input layer neurons connect to the neuron hidden layer.</a:t>
            </a:r>
            <a:endParaRPr lang="en-IN" sz="2800">
              <a:solidFill>
                <a:srgbClr val="000000"/>
              </a:solidFill>
            </a:endParaRPr>
          </a:p>
        </p:txBody>
      </p:sp>
      <p:sp>
        <p:nvSpPr>
          <p:cNvPr id="1048826" name="Google Shape;187;p10"/>
          <p:cNvSpPr/>
          <p:nvPr/>
        </p:nvSpPr>
        <p:spPr>
          <a:xfrm>
            <a:off x="2288701" y="5349363"/>
            <a:ext cx="1527300" cy="1081500"/>
          </a:xfrm>
          <a:prstGeom prst="ellipse">
            <a:avLst/>
          </a:prstGeom>
          <a:solidFill>
            <a:srgbClr val="CFE2F3"/>
          </a:solidFill>
          <a:ln w="9525" cap="flat" cmpd="sng">
            <a:solidFill>
              <a:srgbClr val="351C7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000000"/>
                </a:solidFill>
                <a:latin typeface="Arial"/>
                <a:ea typeface="Arial"/>
                <a:cs typeface="Arial"/>
                <a:sym typeface="Arial"/>
              </a:rPr>
              <a:t>Training Model</a:t>
            </a:r>
            <a:endParaRPr sz="13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000000"/>
                </a:solidFill>
                <a:latin typeface="Arial"/>
                <a:ea typeface="Arial"/>
                <a:cs typeface="Arial"/>
                <a:sym typeface="Arial"/>
              </a:rPr>
              <a:t>(CNN Algorithm)</a:t>
            </a:r>
            <a:endParaRPr sz="1300" b="1" i="0" u="none" strike="noStrike" cap="none">
              <a:solidFill>
                <a:srgbClr val="000000"/>
              </a:solidFill>
              <a:latin typeface="Arial"/>
              <a:ea typeface="Arial"/>
              <a:cs typeface="Arial"/>
              <a:sym typeface="Arial"/>
            </a:endParaRPr>
          </a:p>
        </p:txBody>
      </p:sp>
      <p:sp>
        <p:nvSpPr>
          <p:cNvPr id="1048827" name="Google Shape;186;p10"/>
          <p:cNvSpPr/>
          <p:nvPr/>
        </p:nvSpPr>
        <p:spPr>
          <a:xfrm>
            <a:off x="125029" y="5426614"/>
            <a:ext cx="1693248" cy="1081500"/>
          </a:xfrm>
          <a:prstGeom prst="ellipse">
            <a:avLst/>
          </a:prstGeom>
          <a:solidFill>
            <a:srgbClr val="CFE2F3"/>
          </a:solidFill>
          <a:ln w="9525" cap="flat" cmpd="sng">
            <a:solidFill>
              <a:srgbClr val="351C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US" sz="1300" b="1" i="0" u="none" strike="noStrike" cap="none">
                <a:solidFill>
                  <a:srgbClr val="000000"/>
                </a:solidFill>
                <a:latin typeface="Arial"/>
                <a:ea typeface="Arial"/>
                <a:cs typeface="Arial"/>
                <a:sym typeface="Arial"/>
              </a:rPr>
              <a:t>Collection Of Data</a:t>
            </a:r>
            <a:endParaRPr sz="1300" b="1" i="0" u="none" strike="noStrike" cap="none">
              <a:solidFill>
                <a:srgbClr val="000000"/>
              </a:solidFill>
              <a:latin typeface="Arial"/>
              <a:ea typeface="Arial"/>
              <a:cs typeface="Arial"/>
              <a:sym typeface="Arial"/>
            </a:endParaRPr>
          </a:p>
        </p:txBody>
      </p:sp>
      <p:sp>
        <p:nvSpPr>
          <p:cNvPr id="1048828" name="Google Shape;188;p10"/>
          <p:cNvSpPr/>
          <p:nvPr/>
        </p:nvSpPr>
        <p:spPr>
          <a:xfrm>
            <a:off x="4812195" y="5349363"/>
            <a:ext cx="1668600" cy="1018200"/>
          </a:xfrm>
          <a:prstGeom prst="ellipse">
            <a:avLst/>
          </a:prstGeom>
          <a:solidFill>
            <a:srgbClr val="CFE2F3"/>
          </a:solidFill>
          <a:ln w="9525" cap="flat" cmpd="sng">
            <a:solidFill>
              <a:srgbClr val="351C7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000000"/>
                </a:solidFill>
                <a:latin typeface="Arial"/>
                <a:ea typeface="Arial"/>
                <a:cs typeface="Arial"/>
                <a:sym typeface="Arial"/>
              </a:rPr>
              <a:t>Real Time Application</a:t>
            </a:r>
            <a:endParaRPr sz="1300" b="1" i="0" u="none" strike="noStrike" cap="none">
              <a:solidFill>
                <a:srgbClr val="000000"/>
              </a:solidFill>
              <a:latin typeface="Arial"/>
              <a:ea typeface="Arial"/>
              <a:cs typeface="Arial"/>
              <a:sym typeface="Arial"/>
            </a:endParaRPr>
          </a:p>
        </p:txBody>
      </p:sp>
      <p:sp>
        <p:nvSpPr>
          <p:cNvPr id="1048829" name="Google Shape;192;p10"/>
          <p:cNvSpPr/>
          <p:nvPr/>
        </p:nvSpPr>
        <p:spPr>
          <a:xfrm>
            <a:off x="3549533" y="4402764"/>
            <a:ext cx="1734000" cy="311700"/>
          </a:xfrm>
          <a:prstGeom prst="rect">
            <a:avLst/>
          </a:prstGeom>
          <a:solidFill>
            <a:srgbClr val="CFE2F3"/>
          </a:solidFill>
          <a:ln w="9525" cap="flat" cmpd="sng">
            <a:solidFill>
              <a:srgbClr val="351C7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rgbClr val="000000"/>
                </a:solidFill>
                <a:latin typeface="Arial"/>
                <a:ea typeface="Arial"/>
                <a:cs typeface="Arial"/>
                <a:sym typeface="Arial"/>
              </a:rPr>
              <a:t>Connect with frontend</a:t>
            </a:r>
            <a:endParaRPr sz="1000" b="1" i="0" u="none" strike="noStrike" cap="none">
              <a:solidFill>
                <a:srgbClr val="000000"/>
              </a:solidFill>
              <a:latin typeface="Arial"/>
              <a:ea typeface="Arial"/>
              <a:cs typeface="Arial"/>
              <a:sym typeface="Arial"/>
            </a:endParaRPr>
          </a:p>
        </p:txBody>
      </p:sp>
      <p:sp>
        <p:nvSpPr>
          <p:cNvPr id="1048830" name="Google Shape;191;p10"/>
          <p:cNvSpPr/>
          <p:nvPr/>
        </p:nvSpPr>
        <p:spPr>
          <a:xfrm>
            <a:off x="1111477" y="4402763"/>
            <a:ext cx="1413600" cy="311700"/>
          </a:xfrm>
          <a:prstGeom prst="rect">
            <a:avLst/>
          </a:prstGeom>
          <a:solidFill>
            <a:srgbClr val="CFE2F3"/>
          </a:solidFill>
          <a:ln w="9525" cap="flat" cmpd="sng">
            <a:solidFill>
              <a:srgbClr val="351C7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rgbClr val="000000"/>
                </a:solidFill>
                <a:latin typeface="Arial"/>
                <a:ea typeface="Arial"/>
                <a:cs typeface="Arial"/>
                <a:sym typeface="Arial"/>
              </a:rPr>
              <a:t>CNN Algorithm</a:t>
            </a:r>
            <a:endParaRPr sz="1000" b="1" i="0" u="none" strike="noStrike" cap="none">
              <a:solidFill>
                <a:srgbClr val="000000"/>
              </a:solidFill>
              <a:latin typeface="Arial"/>
              <a:ea typeface="Arial"/>
              <a:cs typeface="Arial"/>
              <a:sym typeface="Arial"/>
            </a:endParaRPr>
          </a:p>
        </p:txBody>
      </p:sp>
      <p:cxnSp>
        <p:nvCxnSpPr>
          <p:cNvPr id="3145730" name="Google Shape;189;p10"/>
          <p:cNvCxnSpPr>
            <a:cxnSpLocks/>
          </p:cNvCxnSpPr>
          <p:nvPr/>
        </p:nvCxnSpPr>
        <p:spPr>
          <a:xfrm rot="-5400000" flipH="1" flipV="1">
            <a:off x="1988050" y="4110363"/>
            <a:ext cx="36160" cy="2893456"/>
          </a:xfrm>
          <a:prstGeom prst="curvedConnector3">
            <a:avLst>
              <a:gd name="adj1" fmla="val -1243392"/>
            </a:avLst>
          </a:prstGeom>
          <a:noFill/>
          <a:ln w="9525" cap="flat" cmpd="sng">
            <a:solidFill>
              <a:srgbClr val="351C75"/>
            </a:solidFill>
            <a:prstDash val="solid"/>
            <a:round/>
            <a:headEnd type="none" w="sm" len="sm"/>
            <a:tailEnd type="none" w="sm" len="sm"/>
          </a:ln>
        </p:spPr>
      </p:cxnSp>
      <p:cxnSp>
        <p:nvCxnSpPr>
          <p:cNvPr id="3145731" name="Google Shape;189;p10"/>
          <p:cNvCxnSpPr>
            <a:cxnSpLocks/>
          </p:cNvCxnSpPr>
          <p:nvPr/>
        </p:nvCxnSpPr>
        <p:spPr>
          <a:xfrm rot="16200000" flipH="1" flipV="1">
            <a:off x="4201942" y="3936827"/>
            <a:ext cx="32019" cy="2857087"/>
          </a:xfrm>
          <a:prstGeom prst="curvedConnector3">
            <a:avLst>
              <a:gd name="adj1" fmla="val -1243392"/>
            </a:avLst>
          </a:prstGeom>
          <a:noFill/>
          <a:ln w="9525" cap="flat" cmpd="sng">
            <a:solidFill>
              <a:srgbClr val="351C75"/>
            </a:solidFill>
            <a:prstDash val="solid"/>
            <a:round/>
            <a:headEnd type="none" w="sm" len="sm"/>
            <a:tailEnd type="none" w="sm" len="sm"/>
          </a:ln>
        </p:spPr>
      </p:cxnSp>
      <p:sp>
        <p:nvSpPr>
          <p:cNvPr id="1048831" name="Google Shape;193;p10"/>
          <p:cNvSpPr/>
          <p:nvPr/>
        </p:nvSpPr>
        <p:spPr>
          <a:xfrm rot="4931228">
            <a:off x="4164872" y="4864580"/>
            <a:ext cx="106158" cy="170986"/>
          </a:xfrm>
          <a:prstGeom prst="triangle">
            <a:avLst>
              <a:gd name="adj" fmla="val 50000"/>
            </a:avLst>
          </a:prstGeom>
          <a:solidFill>
            <a:srgbClr val="CFE2F3"/>
          </a:solidFill>
          <a:ln w="9525" cap="flat" cmpd="sng">
            <a:solidFill>
              <a:srgbClr val="351C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8832" name="Google Shape;193;p10"/>
          <p:cNvSpPr/>
          <p:nvPr/>
        </p:nvSpPr>
        <p:spPr>
          <a:xfrm rot="4931228">
            <a:off x="1857112" y="5017796"/>
            <a:ext cx="106158" cy="170986"/>
          </a:xfrm>
          <a:prstGeom prst="triangle">
            <a:avLst>
              <a:gd name="adj" fmla="val 50000"/>
            </a:avLst>
          </a:prstGeom>
          <a:solidFill>
            <a:srgbClr val="CFE2F3"/>
          </a:solidFill>
          <a:ln w="9525" cap="flat" cmpd="sng">
            <a:solidFill>
              <a:srgbClr val="351C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 name="Picture 2" descr="Chart&#10;&#10;Description automatically generated">
            <a:extLst>
              <a:ext uri="{FF2B5EF4-FFF2-40B4-BE49-F238E27FC236}">
                <a16:creationId xmlns:a16="http://schemas.microsoft.com/office/drawing/2014/main" id="{00B5A549-9A4B-4A67-23CE-F4BC1626284D}"/>
              </a:ext>
            </a:extLst>
          </p:cNvPr>
          <p:cNvPicPr>
            <a:picLocks noChangeAspect="1"/>
          </p:cNvPicPr>
          <p:nvPr/>
        </p:nvPicPr>
        <p:blipFill>
          <a:blip r:embed="rId3"/>
          <a:stretch>
            <a:fillRect/>
          </a:stretch>
        </p:blipFill>
        <p:spPr>
          <a:xfrm>
            <a:off x="6846426" y="1364428"/>
            <a:ext cx="4980971" cy="2701598"/>
          </a:xfrm>
          <a:prstGeom prst="rect">
            <a:avLst/>
          </a:prstGeom>
        </p:spPr>
      </p:pic>
    </p:spTree>
  </p:cSld>
  <p:clrMapOvr>
    <a:masterClrMapping/>
  </p:clrMapOvr>
  <p:transition spd="med">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1048600" name="Google Shape;209;p12"/>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400" b="1">
                <a:latin typeface="Calibri"/>
                <a:ea typeface="Calibri"/>
                <a:cs typeface="Calibri"/>
                <a:sym typeface="Calibri"/>
              </a:rPr>
              <a:t>… Methodology</a:t>
            </a:r>
          </a:p>
        </p:txBody>
      </p:sp>
      <p:sp>
        <p:nvSpPr>
          <p:cNvPr id="1048601" name="Google Shape;210;p12"/>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02" name="Google Shape;211;p12"/>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03" name="Google Shape;212;p12"/>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04" name="Google Shape;213;p12"/>
          <p:cNvSpPr txBox="1"/>
          <p:nvPr/>
        </p:nvSpPr>
        <p:spPr>
          <a:xfrm>
            <a:off x="1153326" y="1564451"/>
            <a:ext cx="4611878" cy="297685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sz="2400" b="1" i="0" u="none" strike="noStrike" cap="none">
                <a:solidFill>
                  <a:schemeClr val="dk1"/>
                </a:solidFill>
                <a:latin typeface="Times New Roman"/>
                <a:ea typeface="Times New Roman"/>
                <a:cs typeface="Times New Roman"/>
                <a:sym typeface="Times New Roman"/>
              </a:rPr>
              <a:t>Fully-Connected layer</a:t>
            </a:r>
          </a:p>
          <a:p>
            <a:pPr marL="342900" marR="0" lvl="0" indent="-342900" algn="l" rtl="0">
              <a:lnSpc>
                <a:spcPct val="100000"/>
              </a:lnSpc>
              <a:spcBef>
                <a:spcPts val="1200"/>
              </a:spcBef>
              <a:spcAft>
                <a:spcPts val="0"/>
              </a:spcAft>
              <a:buClr>
                <a:schemeClr val="dk1"/>
              </a:buClr>
              <a:buSzPts val="1100"/>
              <a:buFont typeface="Arial"/>
              <a:buChar char="•"/>
            </a:pPr>
            <a:r>
              <a:rPr lang="en-US" sz="2000" b="0" i="0" u="none" strike="noStrike" cap="none">
                <a:solidFill>
                  <a:schemeClr val="dk1"/>
                </a:solidFill>
                <a:latin typeface="Times New Roman"/>
                <a:ea typeface="Times New Roman"/>
                <a:cs typeface="Times New Roman"/>
                <a:sym typeface="Times New Roman"/>
              </a:rPr>
              <a:t>Fully Connected Layers form the last few layers in the network. </a:t>
            </a:r>
          </a:p>
          <a:p>
            <a:pPr marL="342900" marR="0" lvl="0" indent="-342900" algn="l" rtl="0">
              <a:lnSpc>
                <a:spcPct val="100000"/>
              </a:lnSpc>
              <a:spcBef>
                <a:spcPts val="1200"/>
              </a:spcBef>
              <a:spcAft>
                <a:spcPts val="1200"/>
              </a:spcAft>
              <a:buClr>
                <a:schemeClr val="dk1"/>
              </a:buClr>
              <a:buSzPts val="1100"/>
              <a:buFont typeface="Arial"/>
              <a:buChar char="•"/>
            </a:pPr>
            <a:r>
              <a:rPr lang="en-US" sz="2000" b="0" i="0" u="none" strike="noStrike" cap="none">
                <a:solidFill>
                  <a:schemeClr val="dk1"/>
                </a:solidFill>
                <a:latin typeface="Times New Roman"/>
                <a:ea typeface="Times New Roman"/>
                <a:cs typeface="Times New Roman"/>
                <a:sym typeface="Times New Roman"/>
              </a:rPr>
              <a:t>The input to the fully connected layer is the output from the final Pooling or Convolutional Layer, which is flattened and then fed into the fully connected layer.</a:t>
            </a:r>
            <a:endParaRPr sz="2000" b="0" i="0" u="none" strike="noStrike" cap="none">
              <a:solidFill>
                <a:schemeClr val="dk1"/>
              </a:solidFill>
              <a:latin typeface="Times New Roman"/>
              <a:ea typeface="Times New Roman"/>
              <a:cs typeface="Times New Roman"/>
              <a:sym typeface="Times New Roman"/>
            </a:endParaRPr>
          </a:p>
        </p:txBody>
      </p:sp>
      <p:sp>
        <p:nvSpPr>
          <p:cNvPr id="1048833" name="TextBox 1048832"/>
          <p:cNvSpPr txBox="1"/>
          <p:nvPr/>
        </p:nvSpPr>
        <p:spPr>
          <a:xfrm>
            <a:off x="7514193" y="1564451"/>
            <a:ext cx="4000000" cy="2885440"/>
          </a:xfrm>
          <a:prstGeom prst="rect">
            <a:avLst/>
          </a:prstGeom>
        </p:spPr>
        <p:txBody>
          <a:bodyPr wrap="square" rtlCol="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Times New Roman"/>
                <a:ea typeface="Times New Roman"/>
                <a:cs typeface="Times New Roman"/>
                <a:sym typeface="Times New Roman"/>
              </a:rPr>
              <a:t>Pooling Layer</a:t>
            </a:r>
            <a:endParaRPr sz="2800"/>
          </a:p>
          <a:p>
            <a:pPr marL="457200" marR="0" lvl="0" indent="-457200" algn="l" rtl="0">
              <a:lnSpc>
                <a:spcPct val="100000"/>
              </a:lnSpc>
              <a:spcBef>
                <a:spcPts val="1200"/>
              </a:spcBef>
              <a:spcAft>
                <a:spcPts val="0"/>
              </a:spcAft>
              <a:buClr>
                <a:srgbClr val="000000"/>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The pooling layer is used to reduce the dimensionality of the feature map.</a:t>
            </a:r>
            <a:endParaRPr sz="2800"/>
          </a:p>
          <a:p>
            <a:pPr marL="457200" marR="0" lvl="0" indent="-457200" algn="l" rtl="0">
              <a:lnSpc>
                <a:spcPct val="100000"/>
              </a:lnSpc>
              <a:spcBef>
                <a:spcPts val="1200"/>
              </a:spcBef>
              <a:spcAft>
                <a:spcPts val="1200"/>
              </a:spcAft>
              <a:buClr>
                <a:srgbClr val="000000"/>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There will be multiple activation &amp; pooling layers inside the hidden layer of the CNN.</a:t>
            </a:r>
            <a:endParaRPr lang="en-IN" sz="2800">
              <a:solidFill>
                <a:srgbClr val="000000"/>
              </a:solidFill>
            </a:endParaRPr>
          </a:p>
        </p:txBody>
      </p:sp>
    </p:spTree>
  </p:cSld>
  <p:clrMapOvr>
    <a:masterClrMapping/>
  </p:clrMapOvr>
  <p:transition spd="med">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1048631" name="Google Shape;218;p13"/>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400" b="1">
                <a:latin typeface="Calibri"/>
                <a:ea typeface="Calibri"/>
                <a:cs typeface="Calibri"/>
                <a:sym typeface="Calibri"/>
              </a:rPr>
              <a:t>… Methodology</a:t>
            </a:r>
          </a:p>
        </p:txBody>
      </p:sp>
      <p:sp>
        <p:nvSpPr>
          <p:cNvPr id="1048632" name="Google Shape;219;p13"/>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33" name="Google Shape;220;p13"/>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34" name="Google Shape;221;p13"/>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635" name="Google Shape;222;p13"/>
          <p:cNvSpPr txBox="1"/>
          <p:nvPr/>
        </p:nvSpPr>
        <p:spPr>
          <a:xfrm>
            <a:off x="1153326" y="1564451"/>
            <a:ext cx="10712986" cy="2545051"/>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chemeClr val="dk1"/>
              </a:buClr>
              <a:buSzPts val="1100"/>
              <a:buFont typeface="Arial"/>
              <a:buNone/>
            </a:pPr>
            <a:r>
              <a:rPr lang="en-US" sz="2400" b="1" i="0" u="none" strike="noStrike" cap="none">
                <a:solidFill>
                  <a:schemeClr val="dk1"/>
                </a:solidFill>
                <a:latin typeface="Times New Roman"/>
                <a:ea typeface="Times New Roman"/>
                <a:cs typeface="Times New Roman"/>
                <a:sym typeface="Times New Roman"/>
              </a:rPr>
              <a:t>Visual Stage</a:t>
            </a:r>
          </a:p>
          <a:p>
            <a:pPr marL="342900" marR="0" lvl="0" indent="-342900" algn="l" rtl="0">
              <a:lnSpc>
                <a:spcPct val="150000"/>
              </a:lnSpc>
              <a:spcBef>
                <a:spcPts val="1200"/>
              </a:spcBef>
              <a:spcAft>
                <a:spcPts val="0"/>
              </a:spcAft>
              <a:buClr>
                <a:schemeClr val="dk1"/>
              </a:buClr>
              <a:buSzPts val="1100"/>
              <a:buFont typeface="Arial"/>
              <a:buChar char="•"/>
            </a:pPr>
            <a:r>
              <a:rPr lang="en-US" sz="2000" b="0" i="0" u="none" strike="noStrike" cap="none">
                <a:solidFill>
                  <a:schemeClr val="dk1"/>
                </a:solidFill>
                <a:latin typeface="Times New Roman"/>
                <a:ea typeface="Times New Roman"/>
                <a:cs typeface="Times New Roman"/>
                <a:sym typeface="Times New Roman"/>
              </a:rPr>
              <a:t>After previous steps, a predicted text would be given as output</a:t>
            </a:r>
          </a:p>
          <a:p>
            <a:pPr marL="342900" marR="0" lvl="0" indent="-342900" algn="l" rtl="0">
              <a:lnSpc>
                <a:spcPct val="150000"/>
              </a:lnSpc>
              <a:spcBef>
                <a:spcPts val="1200"/>
              </a:spcBef>
              <a:spcAft>
                <a:spcPts val="0"/>
              </a:spcAft>
              <a:buClr>
                <a:schemeClr val="dk1"/>
              </a:buClr>
              <a:buSzPts val="1100"/>
              <a:buFont typeface="Arial"/>
              <a:buChar char="•"/>
            </a:pPr>
            <a:r>
              <a:rPr lang="en-US" sz="2000" b="0" i="0" u="none" strike="noStrike" cap="none">
                <a:solidFill>
                  <a:schemeClr val="dk1"/>
                </a:solidFill>
                <a:latin typeface="Times New Roman"/>
                <a:ea typeface="Times New Roman"/>
                <a:cs typeface="Times New Roman"/>
                <a:sym typeface="Times New Roman"/>
              </a:rPr>
              <a:t>We would convert the text-to-voice using the reliable python voice kit</a:t>
            </a:r>
          </a:p>
          <a:p>
            <a:pPr marL="342900" marR="0" lvl="0" indent="-342900" algn="l" rtl="0">
              <a:lnSpc>
                <a:spcPct val="150000"/>
              </a:lnSpc>
              <a:spcBef>
                <a:spcPts val="1200"/>
              </a:spcBef>
              <a:spcAft>
                <a:spcPts val="1200"/>
              </a:spcAft>
              <a:buClr>
                <a:schemeClr val="dk1"/>
              </a:buClr>
              <a:buSzPts val="1100"/>
              <a:buFont typeface="Arial"/>
              <a:buChar char="•"/>
            </a:pPr>
            <a:r>
              <a:rPr lang="en-US" sz="2000" b="0" i="0" u="none" strike="noStrike" cap="none">
                <a:solidFill>
                  <a:schemeClr val="dk1"/>
                </a:solidFill>
                <a:latin typeface="Times New Roman"/>
                <a:ea typeface="Times New Roman"/>
                <a:cs typeface="Times New Roman"/>
                <a:sym typeface="Times New Roman"/>
              </a:rPr>
              <a:t>Audio would be played after conversion</a:t>
            </a:r>
          </a:p>
        </p:txBody>
      </p:sp>
    </p:spTree>
  </p:cSld>
  <p:clrMapOvr>
    <a:masterClrMapping/>
  </p:clrMapOvr>
  <p:transition spd="med">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1048702" name="Google Shape;227;p14"/>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Data Flow Diagram</a:t>
            </a:r>
          </a:p>
        </p:txBody>
      </p:sp>
      <p:sp>
        <p:nvSpPr>
          <p:cNvPr id="1048703" name="Google Shape;228;p14"/>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04" name="Google Shape;229;p14"/>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05" name="Google Shape;230;p14"/>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06" name="Google Shape;231;p14"/>
          <p:cNvSpPr txBox="1"/>
          <p:nvPr/>
        </p:nvSpPr>
        <p:spPr>
          <a:xfrm>
            <a:off x="1153326" y="1564451"/>
            <a:ext cx="10712986" cy="71625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1200"/>
              </a:spcAft>
              <a:buClr>
                <a:schemeClr val="dk1"/>
              </a:buClr>
              <a:buSzPts val="1100"/>
              <a:buFont typeface="Arial"/>
              <a:buNone/>
            </a:pPr>
            <a:r>
              <a:rPr lang="en-US" sz="2400" b="1" i="0" u="none" strike="noStrike" cap="none">
                <a:solidFill>
                  <a:srgbClr val="000000"/>
                </a:solidFill>
                <a:latin typeface="Arial"/>
                <a:ea typeface="Arial"/>
                <a:cs typeface="Arial"/>
                <a:sym typeface="Arial"/>
              </a:rPr>
              <a:t>DFD0</a:t>
            </a:r>
            <a:endParaRPr sz="1100" b="0" i="0" u="none" strike="noStrike" cap="none">
              <a:solidFill>
                <a:schemeClr val="dk1"/>
              </a:solidFill>
              <a:latin typeface="Times New Roman"/>
              <a:ea typeface="Times New Roman"/>
              <a:cs typeface="Times New Roman"/>
              <a:sym typeface="Times New Roman"/>
            </a:endParaRPr>
          </a:p>
        </p:txBody>
      </p:sp>
      <p:pic>
        <p:nvPicPr>
          <p:cNvPr id="2097162" name="Google Shape;232;p14" descr="D:\shital l\Grace\All data\Diagram Sample (1)\Diagram Sample\DFD 0.png"/>
          <p:cNvPicPr preferRelativeResize="0">
            <a:picLocks/>
          </p:cNvPicPr>
          <p:nvPr/>
        </p:nvPicPr>
        <p:blipFill rotWithShape="1">
          <a:blip r:embed="rId3">
            <a:alphaModFix/>
          </a:blip>
          <a:srcRect/>
          <a:stretch>
            <a:fillRect/>
          </a:stretch>
        </p:blipFill>
        <p:spPr>
          <a:xfrm>
            <a:off x="2492610" y="3607379"/>
            <a:ext cx="7206779" cy="833437"/>
          </a:xfrm>
          <a:prstGeom prst="rect">
            <a:avLst/>
          </a:prstGeom>
          <a:noFill/>
          <a:ln>
            <a:noFill/>
          </a:ln>
          <a:effectLst>
            <a:outerShdw blurRad="292100" dist="139700" dir="2700000" algn="tl" rotWithShape="0">
              <a:srgbClr val="333333">
                <a:alpha val="64705"/>
              </a:srgbClr>
            </a:outerShdw>
          </a:effectLst>
        </p:spPr>
      </p:pic>
    </p:spTree>
  </p:cSld>
  <p:clrMapOvr>
    <a:masterClrMapping/>
  </p:clrMapOvr>
  <p:transition spd="med">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1048709" name="Google Shape;237;p15"/>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 Data Flow Diagram</a:t>
            </a:r>
          </a:p>
        </p:txBody>
      </p:sp>
      <p:sp>
        <p:nvSpPr>
          <p:cNvPr id="1048710" name="Google Shape;238;p15"/>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11" name="Google Shape;239;p15"/>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12" name="Google Shape;240;p15"/>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13" name="Google Shape;241;p15"/>
          <p:cNvSpPr txBox="1"/>
          <p:nvPr/>
        </p:nvSpPr>
        <p:spPr>
          <a:xfrm>
            <a:off x="1153326" y="1564451"/>
            <a:ext cx="10712986" cy="71625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1200"/>
              </a:spcAft>
              <a:buClr>
                <a:schemeClr val="dk1"/>
              </a:buClr>
              <a:buSzPts val="1100"/>
              <a:buFont typeface="Arial"/>
              <a:buNone/>
            </a:pPr>
            <a:r>
              <a:rPr lang="en-US" sz="2400" b="1" i="0" u="none" strike="noStrike" cap="none">
                <a:solidFill>
                  <a:srgbClr val="000000"/>
                </a:solidFill>
                <a:latin typeface="Arial"/>
                <a:ea typeface="Arial"/>
                <a:cs typeface="Arial"/>
                <a:sym typeface="Arial"/>
              </a:rPr>
              <a:t>DFD1</a:t>
            </a:r>
            <a:endParaRPr sz="1100" b="0" i="0" u="none" strike="noStrike" cap="none">
              <a:solidFill>
                <a:schemeClr val="dk1"/>
              </a:solidFill>
              <a:latin typeface="Times New Roman"/>
              <a:ea typeface="Times New Roman"/>
              <a:cs typeface="Times New Roman"/>
              <a:sym typeface="Times New Roman"/>
            </a:endParaRPr>
          </a:p>
        </p:txBody>
      </p:sp>
      <p:pic>
        <p:nvPicPr>
          <p:cNvPr id="2097163" name="Google Shape;242;p15" descr="D:\shital l\Grace\21CG170-E Sign Language\diagram\ESdfd1.drawio.png"/>
          <p:cNvPicPr preferRelativeResize="0">
            <a:picLocks/>
          </p:cNvPicPr>
          <p:nvPr/>
        </p:nvPicPr>
        <p:blipFill rotWithShape="1">
          <a:blip r:embed="rId3">
            <a:alphaModFix/>
          </a:blip>
          <a:srcRect/>
          <a:stretch>
            <a:fillRect/>
          </a:stretch>
        </p:blipFill>
        <p:spPr>
          <a:xfrm>
            <a:off x="2176079" y="2849801"/>
            <a:ext cx="7839842" cy="3222609"/>
          </a:xfrm>
          <a:prstGeom prst="rect">
            <a:avLst/>
          </a:prstGeom>
          <a:noFill/>
          <a:ln>
            <a:noFill/>
          </a:ln>
          <a:effectLst>
            <a:outerShdw blurRad="292100" dist="139700" dir="2700000" algn="tl" rotWithShape="0">
              <a:srgbClr val="333333">
                <a:alpha val="64705"/>
              </a:srgbClr>
            </a:outerShdw>
          </a:effectLst>
        </p:spPr>
      </p:pic>
    </p:spTree>
  </p:cSld>
  <p:clrMapOvr>
    <a:masterClrMapping/>
  </p:clrMapOvr>
  <p:transition spd="med">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1048716" name="Google Shape;247;p16"/>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 Data Flow Diagram</a:t>
            </a:r>
          </a:p>
        </p:txBody>
      </p:sp>
      <p:sp>
        <p:nvSpPr>
          <p:cNvPr id="1048717" name="Google Shape;248;p16"/>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18" name="Google Shape;249;p16"/>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19" name="Google Shape;250;p16"/>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20" name="Google Shape;251;p16"/>
          <p:cNvSpPr txBox="1"/>
          <p:nvPr/>
        </p:nvSpPr>
        <p:spPr>
          <a:xfrm>
            <a:off x="1153326" y="1564451"/>
            <a:ext cx="10712986" cy="71625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1200"/>
              </a:spcAft>
              <a:buClr>
                <a:schemeClr val="dk1"/>
              </a:buClr>
              <a:buSzPts val="1100"/>
              <a:buFont typeface="Arial"/>
              <a:buNone/>
            </a:pPr>
            <a:r>
              <a:rPr lang="en-US" sz="2400" b="1" i="0" u="none" strike="noStrike" cap="none">
                <a:solidFill>
                  <a:srgbClr val="000000"/>
                </a:solidFill>
                <a:latin typeface="Arial"/>
                <a:ea typeface="Arial"/>
                <a:cs typeface="Arial"/>
                <a:sym typeface="Arial"/>
              </a:rPr>
              <a:t>DFD2</a:t>
            </a:r>
            <a:endParaRPr sz="1100" b="0" i="0" u="none" strike="noStrike" cap="none">
              <a:solidFill>
                <a:schemeClr val="dk1"/>
              </a:solidFill>
              <a:latin typeface="Times New Roman"/>
              <a:ea typeface="Times New Roman"/>
              <a:cs typeface="Times New Roman"/>
              <a:sym typeface="Times New Roman"/>
            </a:endParaRPr>
          </a:p>
        </p:txBody>
      </p:sp>
      <p:pic>
        <p:nvPicPr>
          <p:cNvPr id="2097164" name="Google Shape;252;p16" descr="D:\shital l\Grace\21CG170-E Sign Language\diagram\ESdfd2.drawio.png"/>
          <p:cNvPicPr preferRelativeResize="0">
            <a:picLocks/>
          </p:cNvPicPr>
          <p:nvPr/>
        </p:nvPicPr>
        <p:blipFill rotWithShape="1">
          <a:blip r:embed="rId3">
            <a:alphaModFix/>
          </a:blip>
          <a:srcRect/>
          <a:stretch>
            <a:fillRect/>
          </a:stretch>
        </p:blipFill>
        <p:spPr>
          <a:xfrm>
            <a:off x="3187859" y="1855676"/>
            <a:ext cx="8549651" cy="4592482"/>
          </a:xfrm>
          <a:prstGeom prst="rect">
            <a:avLst/>
          </a:prstGeom>
          <a:noFill/>
          <a:ln>
            <a:noFill/>
          </a:ln>
          <a:effectLst>
            <a:outerShdw blurRad="292100" dist="139700" dir="2700000" algn="tl" rotWithShape="0">
              <a:srgbClr val="333333">
                <a:alpha val="64705"/>
              </a:srgbClr>
            </a:outerShdw>
          </a:effectLst>
        </p:spPr>
      </p:pic>
    </p:spTree>
  </p:cSld>
  <p:clrMapOvr>
    <a:masterClrMapping/>
  </p:clrMapOvr>
  <p:transition spd="med">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1048723" name="Google Shape;257;p17"/>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UML Diagram</a:t>
            </a:r>
          </a:p>
        </p:txBody>
      </p:sp>
      <p:sp>
        <p:nvSpPr>
          <p:cNvPr id="1048724" name="Google Shape;258;p17"/>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25" name="Google Shape;259;p17"/>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26" name="Google Shape;260;p17"/>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27" name="Google Shape;261;p17"/>
          <p:cNvSpPr txBox="1"/>
          <p:nvPr/>
        </p:nvSpPr>
        <p:spPr>
          <a:xfrm>
            <a:off x="1153326" y="1564451"/>
            <a:ext cx="10712986" cy="71625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1200"/>
              </a:spcAft>
              <a:buClr>
                <a:schemeClr val="dk1"/>
              </a:buClr>
              <a:buSzPts val="1100"/>
              <a:buFont typeface="Arial"/>
              <a:buNone/>
            </a:pPr>
            <a:r>
              <a:rPr lang="en-US" sz="2400" b="1" i="0" u="none" strike="noStrike" cap="none">
                <a:solidFill>
                  <a:srgbClr val="000000"/>
                </a:solidFill>
                <a:latin typeface="Arial"/>
                <a:ea typeface="Arial"/>
                <a:cs typeface="Arial"/>
                <a:sym typeface="Arial"/>
              </a:rPr>
              <a:t>CLASS</a:t>
            </a:r>
            <a:endParaRPr sz="1100" b="0" i="0" u="none" strike="noStrike" cap="none">
              <a:solidFill>
                <a:schemeClr val="dk1"/>
              </a:solidFill>
              <a:latin typeface="Times New Roman"/>
              <a:ea typeface="Times New Roman"/>
              <a:cs typeface="Times New Roman"/>
              <a:sym typeface="Times New Roman"/>
            </a:endParaRPr>
          </a:p>
        </p:txBody>
      </p:sp>
      <p:pic>
        <p:nvPicPr>
          <p:cNvPr id="2097165" name="Google Shape;262;p17" descr="D:\shital l\Grace\21CG170-E Sign Language\diagram\ESclass.drawio.png"/>
          <p:cNvPicPr preferRelativeResize="0">
            <a:picLocks/>
          </p:cNvPicPr>
          <p:nvPr/>
        </p:nvPicPr>
        <p:blipFill rotWithShape="1">
          <a:blip r:embed="rId3">
            <a:alphaModFix/>
          </a:blip>
          <a:srcRect/>
          <a:stretch>
            <a:fillRect/>
          </a:stretch>
        </p:blipFill>
        <p:spPr>
          <a:xfrm>
            <a:off x="3117287" y="2146990"/>
            <a:ext cx="8603806" cy="4134449"/>
          </a:xfrm>
          <a:prstGeom prst="rect">
            <a:avLst/>
          </a:prstGeom>
          <a:noFill/>
          <a:ln>
            <a:noFill/>
          </a:ln>
          <a:effectLst>
            <a:outerShdw blurRad="292100" dist="139700" dir="2700000" algn="tl" rotWithShape="0">
              <a:srgbClr val="333333">
                <a:alpha val="64705"/>
              </a:srgbClr>
            </a:outerShdw>
          </a:effectLst>
        </p:spPr>
      </p:pic>
    </p:spTree>
  </p:cSld>
  <p:clrMapOvr>
    <a:masterClrMapping/>
  </p:clrMapOvr>
  <p:transition spd="med">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1048730" name="Google Shape;267;p18"/>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 UML Diagram</a:t>
            </a:r>
          </a:p>
        </p:txBody>
      </p:sp>
      <p:sp>
        <p:nvSpPr>
          <p:cNvPr id="1048731" name="Google Shape;268;p18"/>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32" name="Google Shape;269;p18"/>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33" name="Google Shape;270;p18"/>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34" name="Google Shape;271;p18"/>
          <p:cNvSpPr txBox="1"/>
          <p:nvPr/>
        </p:nvSpPr>
        <p:spPr>
          <a:xfrm>
            <a:off x="1153326" y="1564451"/>
            <a:ext cx="10712986" cy="71625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1200"/>
              </a:spcAft>
              <a:buClr>
                <a:schemeClr val="dk1"/>
              </a:buClr>
              <a:buSzPts val="1100"/>
              <a:buFont typeface="Arial"/>
              <a:buNone/>
            </a:pPr>
            <a:r>
              <a:rPr lang="en-US" sz="2400" b="1" i="0" u="none" strike="noStrike" cap="none">
                <a:solidFill>
                  <a:srgbClr val="000000"/>
                </a:solidFill>
                <a:latin typeface="Arial"/>
                <a:ea typeface="Arial"/>
                <a:cs typeface="Arial"/>
                <a:sym typeface="Arial"/>
              </a:rPr>
              <a:t>ACTIVITY</a:t>
            </a:r>
            <a:endParaRPr sz="1100" b="0" i="0" u="none" strike="noStrike" cap="none">
              <a:solidFill>
                <a:schemeClr val="dk1"/>
              </a:solidFill>
              <a:latin typeface="Times New Roman"/>
              <a:ea typeface="Times New Roman"/>
              <a:cs typeface="Times New Roman"/>
              <a:sym typeface="Times New Roman"/>
            </a:endParaRPr>
          </a:p>
        </p:txBody>
      </p:sp>
      <p:pic>
        <p:nvPicPr>
          <p:cNvPr id="2097166" name="Google Shape;272;p18" descr="D:\shital l\Grace\21CG170-E Sign Language\diagram\ESactivity.drawio.png"/>
          <p:cNvPicPr preferRelativeResize="0">
            <a:picLocks/>
          </p:cNvPicPr>
          <p:nvPr/>
        </p:nvPicPr>
        <p:blipFill rotWithShape="1">
          <a:blip r:embed="rId3">
            <a:alphaModFix/>
          </a:blip>
          <a:srcRect/>
          <a:stretch>
            <a:fillRect/>
          </a:stretch>
        </p:blipFill>
        <p:spPr>
          <a:xfrm>
            <a:off x="6923312" y="140742"/>
            <a:ext cx="2171527" cy="6576516"/>
          </a:xfrm>
          <a:prstGeom prst="rect">
            <a:avLst/>
          </a:prstGeom>
          <a:noFill/>
          <a:ln>
            <a:noFill/>
          </a:ln>
          <a:effectLst>
            <a:outerShdw blurRad="292100" dist="139700" dir="2700000" algn="tl" rotWithShape="0">
              <a:srgbClr val="333333">
                <a:alpha val="64705"/>
              </a:srgbClr>
            </a:outerShdw>
          </a:effectLst>
        </p:spPr>
      </p:pic>
    </p:spTree>
  </p:cSld>
  <p:clrMapOvr>
    <a:masterClrMapping/>
  </p:clrMapOvr>
  <p:transition spd="med">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1048737" name="Google Shape;277;p19"/>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 UML Diagram</a:t>
            </a:r>
          </a:p>
        </p:txBody>
      </p:sp>
      <p:sp>
        <p:nvSpPr>
          <p:cNvPr id="1048738" name="Google Shape;278;p19"/>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39" name="Google Shape;279;p19"/>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40" name="Google Shape;280;p19"/>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41" name="Google Shape;281;p19"/>
          <p:cNvSpPr txBox="1"/>
          <p:nvPr/>
        </p:nvSpPr>
        <p:spPr>
          <a:xfrm>
            <a:off x="1153326" y="1564451"/>
            <a:ext cx="10712986" cy="71625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1200"/>
              </a:spcAft>
              <a:buClr>
                <a:schemeClr val="dk1"/>
              </a:buClr>
              <a:buSzPts val="1100"/>
              <a:buFont typeface="Arial"/>
              <a:buNone/>
            </a:pPr>
            <a:r>
              <a:rPr lang="en-US" sz="2400" b="1" i="0" u="none" strike="noStrike" cap="none">
                <a:solidFill>
                  <a:srgbClr val="000000"/>
                </a:solidFill>
                <a:latin typeface="Arial"/>
                <a:ea typeface="Arial"/>
                <a:cs typeface="Arial"/>
                <a:sym typeface="Arial"/>
              </a:rPr>
              <a:t>USE CASE</a:t>
            </a:r>
            <a:endParaRPr sz="1100" b="0" i="0" u="none" strike="noStrike" cap="none">
              <a:solidFill>
                <a:schemeClr val="dk1"/>
              </a:solidFill>
              <a:latin typeface="Times New Roman"/>
              <a:ea typeface="Times New Roman"/>
              <a:cs typeface="Times New Roman"/>
              <a:sym typeface="Times New Roman"/>
            </a:endParaRPr>
          </a:p>
        </p:txBody>
      </p:sp>
      <p:pic>
        <p:nvPicPr>
          <p:cNvPr id="2097167" name="Google Shape;282;p19" descr="D:\shital l\Grace\21CG170-E Sign Language\diagram\ESusecase.drawio.png"/>
          <p:cNvPicPr preferRelativeResize="0">
            <a:picLocks/>
          </p:cNvPicPr>
          <p:nvPr/>
        </p:nvPicPr>
        <p:blipFill rotWithShape="1">
          <a:blip r:embed="rId3">
            <a:alphaModFix/>
          </a:blip>
          <a:srcRect/>
          <a:stretch>
            <a:fillRect/>
          </a:stretch>
        </p:blipFill>
        <p:spPr>
          <a:xfrm>
            <a:off x="4866967" y="1421219"/>
            <a:ext cx="6534271" cy="5129402"/>
          </a:xfrm>
          <a:prstGeom prst="rect">
            <a:avLst/>
          </a:prstGeom>
          <a:noFill/>
          <a:ln>
            <a:noFill/>
          </a:ln>
          <a:effectLst>
            <a:outerShdw blurRad="292100" dist="139700" dir="2700000" algn="tl" rotWithShape="0">
              <a:srgbClr val="333333">
                <a:alpha val="64705"/>
              </a:srgbClr>
            </a:outerShdw>
          </a:effectLst>
        </p:spPr>
      </p:pic>
    </p:spTree>
  </p:cSld>
  <p:clrMapOvr>
    <a:masterClrMapping/>
  </p:clrMapOvr>
  <p:transition spd="med">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1048744" name="Google Shape;287;p20"/>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 UML Diagram</a:t>
            </a:r>
          </a:p>
        </p:txBody>
      </p:sp>
      <p:sp>
        <p:nvSpPr>
          <p:cNvPr id="1048745" name="Google Shape;288;p20"/>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46" name="Google Shape;289;p20"/>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47" name="Google Shape;290;p20"/>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48" name="Google Shape;291;p20"/>
          <p:cNvSpPr txBox="1"/>
          <p:nvPr/>
        </p:nvSpPr>
        <p:spPr>
          <a:xfrm>
            <a:off x="1153326" y="1564451"/>
            <a:ext cx="10712986" cy="71625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1200"/>
              </a:spcAft>
              <a:buClr>
                <a:schemeClr val="dk1"/>
              </a:buClr>
              <a:buSzPts val="1100"/>
              <a:buFont typeface="Arial"/>
              <a:buNone/>
            </a:pPr>
            <a:r>
              <a:rPr lang="en-US" sz="2400" b="1" i="0" u="none" strike="noStrike" cap="none">
                <a:solidFill>
                  <a:srgbClr val="000000"/>
                </a:solidFill>
                <a:latin typeface="Arial"/>
                <a:ea typeface="Arial"/>
                <a:cs typeface="Arial"/>
                <a:sym typeface="Arial"/>
              </a:rPr>
              <a:t>SEQUENCE</a:t>
            </a:r>
            <a:endParaRPr sz="1100" b="0" i="0" u="none" strike="noStrike" cap="none">
              <a:solidFill>
                <a:schemeClr val="dk1"/>
              </a:solidFill>
              <a:latin typeface="Times New Roman"/>
              <a:ea typeface="Times New Roman"/>
              <a:cs typeface="Times New Roman"/>
              <a:sym typeface="Times New Roman"/>
            </a:endParaRPr>
          </a:p>
        </p:txBody>
      </p:sp>
      <p:pic>
        <p:nvPicPr>
          <p:cNvPr id="2097168" name="Google Shape;292;p20" descr="D:\shital l\Grace\21CG170-E Sign Language\diagram\Essequence.drawio.png"/>
          <p:cNvPicPr preferRelativeResize="0">
            <a:picLocks/>
          </p:cNvPicPr>
          <p:nvPr/>
        </p:nvPicPr>
        <p:blipFill rotWithShape="1">
          <a:blip r:embed="rId3">
            <a:alphaModFix/>
          </a:blip>
          <a:srcRect/>
          <a:stretch>
            <a:fillRect/>
          </a:stretch>
        </p:blipFill>
        <p:spPr>
          <a:xfrm>
            <a:off x="6351639" y="904566"/>
            <a:ext cx="4948937" cy="5638929"/>
          </a:xfrm>
          <a:prstGeom prst="rect">
            <a:avLst/>
          </a:prstGeom>
          <a:noFill/>
          <a:ln>
            <a:noFill/>
          </a:ln>
          <a:effectLst>
            <a:outerShdw blurRad="292100" dist="139700" dir="2700000" algn="tl" rotWithShape="0">
              <a:srgbClr val="333333">
                <a:alpha val="64705"/>
              </a:srgbClr>
            </a:outerShdw>
          </a:effectLst>
        </p:spPr>
      </p:pic>
    </p:spTree>
  </p:cSld>
  <p:clrMapOvr>
    <a:masterClrMapping/>
  </p:clrMapOvr>
  <p:transition spd="med">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1048751" name="Google Shape;297;p21"/>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11111"/>
              <a:buFont typeface="Calibri"/>
              <a:buNone/>
            </a:pPr>
            <a:r>
              <a:rPr lang="en-US" b="1"/>
              <a:t>Minimum Hardware &amp; Software Requirement</a:t>
            </a:r>
          </a:p>
        </p:txBody>
      </p:sp>
      <p:sp>
        <p:nvSpPr>
          <p:cNvPr id="1048752" name="Google Shape;298;p21"/>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53" name="Google Shape;299;p21"/>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54" name="Google Shape;300;p21"/>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55" name="Google Shape;301;p21"/>
          <p:cNvSpPr txBox="1">
            <a:spLocks noGrp="1"/>
          </p:cNvSpPr>
          <p:nvPr>
            <p:ph type="body" idx="1"/>
          </p:nvPr>
        </p:nvSpPr>
        <p:spPr>
          <a:xfrm>
            <a:off x="1309234" y="1317523"/>
            <a:ext cx="10636960" cy="5329083"/>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SzPts val="2000"/>
              <a:buNone/>
            </a:pPr>
            <a:r>
              <a:rPr lang="en-US" sz="1800" b="1">
                <a:latin typeface="Times New Roman"/>
                <a:ea typeface="Times New Roman"/>
                <a:cs typeface="Times New Roman"/>
                <a:sym typeface="Times New Roman"/>
              </a:rPr>
              <a:t>Software Requirements:</a:t>
            </a:r>
            <a:endParaRPr sz="2400" b="1"/>
          </a:p>
          <a:p>
            <a:pPr marL="0" lvl="0" indent="0" algn="l" rtl="0">
              <a:lnSpc>
                <a:spcPct val="150000"/>
              </a:lnSpc>
              <a:spcBef>
                <a:spcPts val="1000"/>
              </a:spcBef>
              <a:spcAft>
                <a:spcPts val="0"/>
              </a:spcAft>
              <a:buClr>
                <a:schemeClr val="dk1"/>
              </a:buClr>
              <a:buSzPts val="2000"/>
              <a:buNone/>
            </a:pPr>
            <a:r>
              <a:rPr lang="en-US" sz="1800">
                <a:latin typeface="Times New Roman"/>
                <a:ea typeface="Times New Roman"/>
                <a:cs typeface="Times New Roman"/>
                <a:sym typeface="Times New Roman"/>
              </a:rPr>
              <a:t>	Operating system 	:   </a:t>
            </a:r>
            <a:r>
              <a:rPr lang="en-US" sz="1800" b="1">
                <a:latin typeface="Times New Roman"/>
                <a:ea typeface="Times New Roman"/>
                <a:cs typeface="Times New Roman"/>
                <a:sym typeface="Times New Roman"/>
              </a:rPr>
              <a:t>64 bit Windows 10</a:t>
            </a:r>
            <a:endParaRPr sz="2400" b="1"/>
          </a:p>
          <a:p>
            <a:pPr marL="0" lvl="0" indent="0" algn="l" rtl="0">
              <a:lnSpc>
                <a:spcPct val="150000"/>
              </a:lnSpc>
              <a:spcBef>
                <a:spcPts val="1000"/>
              </a:spcBef>
              <a:spcAft>
                <a:spcPts val="0"/>
              </a:spcAft>
              <a:buClr>
                <a:schemeClr val="dk1"/>
              </a:buClr>
              <a:buSzPts val="2000"/>
              <a:buNone/>
            </a:pPr>
            <a:r>
              <a:rPr lang="en-US" sz="1800">
                <a:latin typeface="Times New Roman"/>
                <a:ea typeface="Times New Roman"/>
                <a:cs typeface="Times New Roman"/>
                <a:sym typeface="Times New Roman"/>
              </a:rPr>
              <a:t>	Coding Language	:   </a:t>
            </a:r>
            <a:r>
              <a:rPr lang="en-US" sz="1800" b="1">
                <a:latin typeface="Times New Roman"/>
                <a:ea typeface="Times New Roman"/>
                <a:cs typeface="Times New Roman"/>
                <a:sym typeface="Times New Roman"/>
              </a:rPr>
              <a:t>Python</a:t>
            </a:r>
            <a:endParaRPr sz="2400" b="1"/>
          </a:p>
          <a:p>
            <a:pPr marL="0" lvl="0" indent="0" algn="l" rtl="0">
              <a:lnSpc>
                <a:spcPct val="150000"/>
              </a:lnSpc>
              <a:spcBef>
                <a:spcPts val="1000"/>
              </a:spcBef>
              <a:spcAft>
                <a:spcPts val="0"/>
              </a:spcAft>
              <a:buClr>
                <a:schemeClr val="dk1"/>
              </a:buClr>
              <a:buSzPts val="2000"/>
              <a:buNone/>
            </a:pPr>
            <a:r>
              <a:rPr lang="en-US" sz="1800">
                <a:latin typeface="Times New Roman"/>
                <a:ea typeface="Times New Roman"/>
                <a:cs typeface="Times New Roman"/>
                <a:sym typeface="Times New Roman"/>
              </a:rPr>
              <a:t>	Design constraints	:   </a:t>
            </a:r>
            <a:r>
              <a:rPr lang="en-US" sz="1800" b="1">
                <a:latin typeface="Times New Roman"/>
                <a:ea typeface="Times New Roman"/>
                <a:cs typeface="Times New Roman"/>
                <a:sym typeface="Times New Roman"/>
              </a:rPr>
              <a:t>Spyder</a:t>
            </a:r>
            <a:endParaRPr sz="1800" b="1">
              <a:latin typeface="Times New Roman"/>
              <a:ea typeface="Times New Roman"/>
              <a:cs typeface="Times New Roman"/>
              <a:sym typeface="Times New Roman"/>
            </a:endParaRPr>
          </a:p>
          <a:p>
            <a:pPr marL="0" lvl="0" indent="0" algn="l" rtl="0">
              <a:lnSpc>
                <a:spcPct val="150000"/>
              </a:lnSpc>
              <a:spcBef>
                <a:spcPts val="1000"/>
              </a:spcBef>
              <a:spcAft>
                <a:spcPts val="0"/>
              </a:spcAft>
              <a:buClr>
                <a:schemeClr val="dk1"/>
              </a:buClr>
              <a:buSzPts val="2000"/>
              <a:buNone/>
            </a:pPr>
            <a:r>
              <a:rPr lang="en-US" sz="1800" b="1">
                <a:latin typeface="Times New Roman"/>
                <a:ea typeface="Times New Roman"/>
                <a:cs typeface="Times New Roman"/>
                <a:sym typeface="Times New Roman"/>
              </a:rPr>
              <a:t>Hardware Requirements:</a:t>
            </a:r>
            <a:endParaRPr sz="2400" b="1"/>
          </a:p>
          <a:p>
            <a:pPr marL="0" lvl="0" indent="0" algn="l" rtl="0">
              <a:lnSpc>
                <a:spcPct val="150000"/>
              </a:lnSpc>
              <a:spcBef>
                <a:spcPts val="1000"/>
              </a:spcBef>
              <a:spcAft>
                <a:spcPts val="0"/>
              </a:spcAft>
              <a:buClr>
                <a:schemeClr val="dk1"/>
              </a:buClr>
              <a:buSzPts val="2000"/>
              <a:buNone/>
            </a:pPr>
            <a:r>
              <a:rPr lang="en-US" sz="1800">
                <a:latin typeface="Times New Roman"/>
                <a:ea typeface="Times New Roman"/>
                <a:cs typeface="Times New Roman"/>
                <a:sym typeface="Times New Roman"/>
              </a:rPr>
              <a:t>	System Processors	:  </a:t>
            </a:r>
            <a:r>
              <a:rPr lang="en-US" sz="1800" b="1">
                <a:latin typeface="Times New Roman"/>
                <a:ea typeface="Times New Roman"/>
                <a:cs typeface="Times New Roman"/>
                <a:sym typeface="Times New Roman"/>
              </a:rPr>
              <a:t>Intel i5</a:t>
            </a:r>
            <a:endParaRPr sz="1800" b="1">
              <a:latin typeface="Times New Roman"/>
              <a:ea typeface="Times New Roman"/>
              <a:cs typeface="Times New Roman"/>
              <a:sym typeface="Times New Roman"/>
            </a:endParaRPr>
          </a:p>
          <a:p>
            <a:pPr marL="0" lvl="0" indent="0" algn="l" rtl="0">
              <a:lnSpc>
                <a:spcPct val="150000"/>
              </a:lnSpc>
              <a:spcBef>
                <a:spcPts val="1000"/>
              </a:spcBef>
              <a:spcAft>
                <a:spcPts val="0"/>
              </a:spcAft>
              <a:buClr>
                <a:schemeClr val="dk1"/>
              </a:buClr>
              <a:buSzPts val="2000"/>
              <a:buNone/>
            </a:pPr>
            <a:r>
              <a:rPr lang="en-US" sz="1800">
                <a:latin typeface="Times New Roman"/>
                <a:ea typeface="Times New Roman"/>
                <a:cs typeface="Times New Roman"/>
                <a:sym typeface="Times New Roman"/>
              </a:rPr>
              <a:t>	Speed		:  </a:t>
            </a:r>
            <a:r>
              <a:rPr lang="en-US" sz="1800" b="1">
                <a:latin typeface="Times New Roman"/>
                <a:ea typeface="Times New Roman"/>
                <a:cs typeface="Times New Roman"/>
                <a:sym typeface="Times New Roman"/>
              </a:rPr>
              <a:t>2.4 GHz</a:t>
            </a:r>
            <a:endParaRPr sz="1800" b="1">
              <a:latin typeface="Times New Roman"/>
              <a:ea typeface="Times New Roman"/>
              <a:cs typeface="Times New Roman"/>
              <a:sym typeface="Times New Roman"/>
            </a:endParaRPr>
          </a:p>
          <a:p>
            <a:pPr marL="0" lvl="0" indent="0" algn="l" rtl="0">
              <a:lnSpc>
                <a:spcPct val="150000"/>
              </a:lnSpc>
              <a:spcBef>
                <a:spcPts val="1000"/>
              </a:spcBef>
              <a:spcAft>
                <a:spcPts val="0"/>
              </a:spcAft>
              <a:buClr>
                <a:schemeClr val="dk1"/>
              </a:buClr>
              <a:buSzPts val="2000"/>
              <a:buNone/>
            </a:pPr>
            <a:r>
              <a:rPr lang="en-US" sz="1800">
                <a:latin typeface="Times New Roman"/>
                <a:ea typeface="Times New Roman"/>
                <a:cs typeface="Times New Roman"/>
                <a:sym typeface="Times New Roman"/>
              </a:rPr>
              <a:t>	Hard Disk        	:  </a:t>
            </a:r>
            <a:r>
              <a:rPr lang="en-US" sz="1800" b="1">
                <a:latin typeface="Times New Roman"/>
                <a:ea typeface="Times New Roman"/>
                <a:cs typeface="Times New Roman"/>
                <a:sym typeface="Times New Roman"/>
              </a:rPr>
              <a:t>150 GB</a:t>
            </a:r>
            <a:endParaRPr sz="2400" b="1"/>
          </a:p>
          <a:p>
            <a:pPr marL="0" lvl="0" indent="0" algn="l" rtl="0">
              <a:lnSpc>
                <a:spcPct val="150000"/>
              </a:lnSpc>
              <a:spcBef>
                <a:spcPts val="1000"/>
              </a:spcBef>
              <a:spcAft>
                <a:spcPts val="0"/>
              </a:spcAft>
              <a:buClr>
                <a:schemeClr val="dk1"/>
              </a:buClr>
              <a:buSzPts val="2000"/>
              <a:buNone/>
            </a:pPr>
            <a:r>
              <a:rPr lang="en-US" sz="1800">
                <a:latin typeface="Times New Roman"/>
                <a:ea typeface="Times New Roman"/>
                <a:cs typeface="Times New Roman"/>
                <a:sym typeface="Times New Roman"/>
              </a:rPr>
              <a:t>	RAM 		:  </a:t>
            </a:r>
            <a:r>
              <a:rPr lang="en-US" sz="1800" b="1">
                <a:latin typeface="Times New Roman"/>
                <a:ea typeface="Times New Roman"/>
                <a:cs typeface="Times New Roman"/>
                <a:sym typeface="Times New Roman"/>
              </a:rPr>
              <a:t>8 GB</a:t>
            </a:r>
            <a:endParaRPr sz="1800" b="1">
              <a:latin typeface="Times New Roman"/>
              <a:ea typeface="Times New Roman"/>
              <a:cs typeface="Times New Roman"/>
              <a:sym typeface="Times New Roman"/>
            </a:endParaRPr>
          </a:p>
          <a:p>
            <a:pPr marL="0" lvl="0" indent="0" algn="l" rtl="0">
              <a:lnSpc>
                <a:spcPct val="150000"/>
              </a:lnSpc>
              <a:spcBef>
                <a:spcPts val="1000"/>
              </a:spcBef>
              <a:spcAft>
                <a:spcPts val="0"/>
              </a:spcAft>
              <a:buClr>
                <a:schemeClr val="dk1"/>
              </a:buClr>
              <a:buSzPts val="2000"/>
              <a:buNone/>
            </a:pPr>
            <a:r>
              <a:rPr lang="en-US" sz="1800">
                <a:latin typeface="Times New Roman"/>
                <a:ea typeface="Times New Roman"/>
                <a:cs typeface="Times New Roman"/>
                <a:sym typeface="Times New Roman"/>
              </a:rPr>
              <a:t>	Graphic Card	:  </a:t>
            </a:r>
            <a:r>
              <a:rPr lang="en-US" sz="1800" b="1">
                <a:latin typeface="Times New Roman"/>
                <a:ea typeface="Times New Roman"/>
                <a:cs typeface="Times New Roman"/>
                <a:sym typeface="Times New Roman"/>
              </a:rPr>
              <a:t>2 GB</a:t>
            </a:r>
            <a:endParaRPr sz="2400" b="1"/>
          </a:p>
          <a:p>
            <a:pPr marL="228600" lvl="0" indent="-158750" algn="l" rtl="0">
              <a:lnSpc>
                <a:spcPct val="150000"/>
              </a:lnSpc>
              <a:spcBef>
                <a:spcPts val="1000"/>
              </a:spcBef>
              <a:spcAft>
                <a:spcPts val="0"/>
              </a:spcAft>
              <a:buClr>
                <a:schemeClr val="dk1"/>
              </a:buClr>
              <a:buSzPts val="1100"/>
              <a:buNone/>
            </a:pPr>
            <a:endParaRPr sz="1050"/>
          </a:p>
        </p:txBody>
      </p:sp>
    </p:spTree>
  </p:cSld>
  <p:clrMapOvr>
    <a:masterClrMapping/>
  </p:clrMapOvr>
  <p:transition spd="med">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1048758" name="Google Shape;306;p22"/>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Conclusion</a:t>
            </a:r>
          </a:p>
        </p:txBody>
      </p:sp>
      <p:sp>
        <p:nvSpPr>
          <p:cNvPr id="1048759" name="Google Shape;307;p22"/>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60" name="Google Shape;308;p22"/>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61" name="Google Shape;309;p22"/>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62" name="Google Shape;310;p22"/>
          <p:cNvSpPr txBox="1"/>
          <p:nvPr/>
        </p:nvSpPr>
        <p:spPr>
          <a:xfrm>
            <a:off x="1386348" y="1523999"/>
            <a:ext cx="10481187" cy="5132439"/>
          </a:xfrm>
          <a:prstGeom prst="rect">
            <a:avLst/>
          </a:prstGeom>
          <a:noFill/>
          <a:ln>
            <a:noFill/>
          </a:ln>
        </p:spPr>
        <p:txBody>
          <a:bodyPr spcFirstLastPara="1" wrap="square" lIns="91425" tIns="45700" rIns="91425" bIns="45700" anchor="t" anchorCtr="0">
            <a:normAutofit/>
          </a:bodyPr>
          <a:lstStyle/>
          <a:p>
            <a:pPr marL="228600" marR="0" lvl="0" indent="-228600" algn="just" rtl="0">
              <a:lnSpc>
                <a:spcPct val="150000"/>
              </a:lnSpc>
              <a:spcBef>
                <a:spcPts val="0"/>
              </a:spcBef>
              <a:spcAft>
                <a:spcPts val="0"/>
              </a:spcAft>
              <a:buClr>
                <a:schemeClr val="dk1"/>
              </a:buClr>
              <a:buSzPts val="2400"/>
              <a:buFont typeface="Arial"/>
              <a:buChar char="•"/>
            </a:pPr>
            <a:r>
              <a:rPr lang="en-US" sz="2000" b="0" i="0" u="none" strike="noStrike" cap="none">
                <a:solidFill>
                  <a:schemeClr val="dk1"/>
                </a:solidFill>
                <a:latin typeface="Times New Roman"/>
                <a:ea typeface="Times New Roman"/>
                <a:cs typeface="Times New Roman"/>
                <a:sym typeface="Times New Roman"/>
              </a:rPr>
              <a:t>A  neural network  based  method  for  </a:t>
            </a:r>
            <a:r>
              <a:rPr lang="en-US" sz="2000" b="1" i="0" u="none" strike="noStrike" cap="none">
                <a:solidFill>
                  <a:schemeClr val="dk1"/>
                </a:solidFill>
                <a:latin typeface="Times New Roman"/>
                <a:ea typeface="Times New Roman"/>
                <a:cs typeface="Times New Roman"/>
                <a:sym typeface="Times New Roman"/>
              </a:rPr>
              <a:t>automatically  recognizing  the  finger spelling  in  Indian  sign  language  </a:t>
            </a:r>
            <a:r>
              <a:rPr lang="en-US" sz="2000" b="0" i="0" u="none" strike="noStrike" cap="none">
                <a:solidFill>
                  <a:schemeClr val="dk1"/>
                </a:solidFill>
                <a:latin typeface="Times New Roman"/>
                <a:ea typeface="Times New Roman"/>
                <a:cs typeface="Times New Roman"/>
                <a:sym typeface="Times New Roman"/>
              </a:rPr>
              <a:t>is  developed in this project.  </a:t>
            </a:r>
            <a:endParaRPr sz="2000" b="0" i="0" u="none" strike="noStrike" cap="none">
              <a:solidFill>
                <a:schemeClr val="dk1"/>
              </a:solidFill>
              <a:latin typeface="Calibri"/>
              <a:ea typeface="Calibri"/>
              <a:cs typeface="Calibri"/>
              <a:sym typeface="Calibri"/>
            </a:endParaRPr>
          </a:p>
          <a:p>
            <a:pPr marL="228600" marR="0" lvl="0" indent="-228600" algn="just" rtl="0">
              <a:lnSpc>
                <a:spcPct val="150000"/>
              </a:lnSpc>
              <a:spcBef>
                <a:spcPts val="1000"/>
              </a:spcBef>
              <a:spcAft>
                <a:spcPts val="0"/>
              </a:spcAft>
              <a:buClr>
                <a:schemeClr val="dk1"/>
              </a:buClr>
              <a:buSzPts val="2400"/>
              <a:buFont typeface="Arial"/>
              <a:buChar char="•"/>
            </a:pPr>
            <a:r>
              <a:rPr lang="en-US" sz="2000" b="0" i="0" u="none" strike="noStrike" cap="none">
                <a:solidFill>
                  <a:schemeClr val="dk1"/>
                </a:solidFill>
                <a:latin typeface="Times New Roman"/>
                <a:ea typeface="Times New Roman"/>
                <a:cs typeface="Times New Roman"/>
                <a:sym typeface="Times New Roman"/>
              </a:rPr>
              <a:t>The  signs  are  identified  by  the  </a:t>
            </a:r>
            <a:r>
              <a:rPr lang="en-US" sz="2000" b="1" i="0" u="none" strike="noStrike" cap="none">
                <a:solidFill>
                  <a:schemeClr val="dk1"/>
                </a:solidFill>
                <a:latin typeface="Times New Roman"/>
                <a:ea typeface="Times New Roman"/>
                <a:cs typeface="Times New Roman"/>
                <a:sym typeface="Times New Roman"/>
              </a:rPr>
              <a:t>features  extracted  from  the  hand  shapes</a:t>
            </a:r>
            <a:r>
              <a:rPr lang="en-US" sz="2000" b="0" i="0" u="none" strike="noStrike" cap="none">
                <a:solidFill>
                  <a:schemeClr val="dk1"/>
                </a:solidFill>
                <a:latin typeface="Times New Roman"/>
                <a:ea typeface="Times New Roman"/>
                <a:cs typeface="Times New Roman"/>
                <a:sym typeface="Times New Roman"/>
              </a:rPr>
              <a:t>. </a:t>
            </a:r>
            <a:endParaRPr sz="2000" b="0" i="0" u="none" strike="noStrike" cap="none">
              <a:solidFill>
                <a:schemeClr val="dk1"/>
              </a:solidFill>
              <a:latin typeface="Calibri"/>
              <a:ea typeface="Calibri"/>
              <a:cs typeface="Calibri"/>
              <a:sym typeface="Calibri"/>
            </a:endParaRPr>
          </a:p>
          <a:p>
            <a:pPr marL="228600" marR="0" lvl="0" indent="-228600" algn="just" rtl="0">
              <a:lnSpc>
                <a:spcPct val="150000"/>
              </a:lnSpc>
              <a:spcBef>
                <a:spcPts val="1000"/>
              </a:spcBef>
              <a:spcAft>
                <a:spcPts val="0"/>
              </a:spcAft>
              <a:buClr>
                <a:schemeClr val="dk1"/>
              </a:buClr>
              <a:buSzPts val="2400"/>
              <a:buFont typeface="Arial"/>
              <a:buChar char="•"/>
            </a:pPr>
            <a:r>
              <a:rPr lang="en-US" sz="2000" b="0" i="0" u="none" strike="noStrike" cap="none">
                <a:solidFill>
                  <a:schemeClr val="dk1"/>
                </a:solidFill>
                <a:latin typeface="Times New Roman"/>
                <a:ea typeface="Times New Roman"/>
                <a:cs typeface="Times New Roman"/>
                <a:sym typeface="Times New Roman"/>
              </a:rPr>
              <a:t>The  method is implemented completely by </a:t>
            </a:r>
            <a:r>
              <a:rPr lang="en-US" sz="2000" b="1" i="0" u="none" strike="noStrike" cap="none">
                <a:solidFill>
                  <a:schemeClr val="dk1"/>
                </a:solidFill>
                <a:latin typeface="Times New Roman"/>
                <a:ea typeface="Times New Roman"/>
                <a:cs typeface="Times New Roman"/>
                <a:sym typeface="Times New Roman"/>
              </a:rPr>
              <a:t>utilizing digital image  processing techniques </a:t>
            </a:r>
            <a:r>
              <a:rPr lang="en-US" sz="2000" b="0" i="0" u="none" strike="noStrike" cap="none">
                <a:solidFill>
                  <a:schemeClr val="dk1"/>
                </a:solidFill>
                <a:latin typeface="Times New Roman"/>
                <a:ea typeface="Times New Roman"/>
                <a:cs typeface="Times New Roman"/>
                <a:sym typeface="Times New Roman"/>
              </a:rPr>
              <a:t>so the user </a:t>
            </a:r>
            <a:r>
              <a:rPr lang="en-US" sz="2000" b="1" i="0" u="none" strike="noStrike" cap="none">
                <a:solidFill>
                  <a:schemeClr val="dk1"/>
                </a:solidFill>
                <a:latin typeface="Times New Roman"/>
                <a:ea typeface="Times New Roman"/>
                <a:cs typeface="Times New Roman"/>
                <a:sym typeface="Times New Roman"/>
              </a:rPr>
              <a:t>does not have to wear any  special hardware device or gloves </a:t>
            </a:r>
            <a:r>
              <a:rPr lang="en-US" sz="2000" b="0" i="0" u="none" strike="noStrike" cap="none">
                <a:solidFill>
                  <a:schemeClr val="dk1"/>
                </a:solidFill>
                <a:latin typeface="Times New Roman"/>
                <a:ea typeface="Times New Roman"/>
                <a:cs typeface="Times New Roman"/>
                <a:sym typeface="Times New Roman"/>
              </a:rPr>
              <a:t>to get the features of the hand shape.  </a:t>
            </a:r>
            <a:endParaRPr sz="2000" b="0" i="0" u="none" strike="noStrike" cap="none">
              <a:solidFill>
                <a:schemeClr val="dk1"/>
              </a:solidFill>
              <a:latin typeface="Calibri"/>
              <a:ea typeface="Calibri"/>
              <a:cs typeface="Calibri"/>
              <a:sym typeface="Calibri"/>
            </a:endParaRPr>
          </a:p>
          <a:p>
            <a:pPr marL="228600" marR="0" lvl="0" indent="-228600" algn="just" rtl="0">
              <a:lnSpc>
                <a:spcPct val="150000"/>
              </a:lnSpc>
              <a:spcBef>
                <a:spcPts val="1000"/>
              </a:spcBef>
              <a:spcAft>
                <a:spcPts val="0"/>
              </a:spcAft>
              <a:buClr>
                <a:schemeClr val="dk1"/>
              </a:buClr>
              <a:buSzPts val="2400"/>
              <a:buFont typeface="Arial"/>
              <a:buChar char="•"/>
            </a:pPr>
            <a:r>
              <a:rPr lang="en-US" sz="2000" b="0" i="0" u="none" strike="noStrike" cap="none">
                <a:solidFill>
                  <a:schemeClr val="dk1"/>
                </a:solidFill>
                <a:latin typeface="Times New Roman"/>
                <a:ea typeface="Times New Roman"/>
                <a:cs typeface="Times New Roman"/>
                <a:sym typeface="Times New Roman"/>
              </a:rPr>
              <a:t>Our  proposed  method  has  </a:t>
            </a:r>
            <a:r>
              <a:rPr lang="en-US" sz="2000" b="1" i="0" u="none" strike="noStrike" cap="none">
                <a:solidFill>
                  <a:schemeClr val="dk1"/>
                </a:solidFill>
                <a:latin typeface="Times New Roman"/>
                <a:ea typeface="Times New Roman"/>
                <a:cs typeface="Times New Roman"/>
                <a:sym typeface="Times New Roman"/>
              </a:rPr>
              <a:t>low  computational  complexity  and  very  high  accuracy  </a:t>
            </a:r>
            <a:r>
              <a:rPr lang="en-US" sz="2000" b="0" i="0" u="none" strike="noStrike" cap="none">
                <a:solidFill>
                  <a:schemeClr val="dk1"/>
                </a:solidFill>
                <a:latin typeface="Times New Roman"/>
                <a:ea typeface="Times New Roman"/>
                <a:cs typeface="Times New Roman"/>
                <a:sym typeface="Times New Roman"/>
              </a:rPr>
              <a:t>when  compared to the existing methods.</a:t>
            </a:r>
            <a:endParaRPr sz="2000" b="0" i="0" u="none" strike="noStrike" cap="none">
              <a:solidFill>
                <a:schemeClr val="dk1"/>
              </a:solidFill>
              <a:latin typeface="Calibri"/>
              <a:ea typeface="Calibri"/>
              <a:cs typeface="Calibri"/>
              <a:sym typeface="Calibri"/>
            </a:endParaRPr>
          </a:p>
        </p:txBody>
      </p:sp>
    </p:spTree>
  </p:cSld>
  <p:clrMapOvr>
    <a:masterClrMapping/>
  </p:clrMapOvr>
  <p:transition spd="med">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1048765" name="Google Shape;315;p23"/>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References</a:t>
            </a:r>
          </a:p>
        </p:txBody>
      </p:sp>
      <p:sp>
        <p:nvSpPr>
          <p:cNvPr id="1048766" name="Google Shape;316;p23"/>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67" name="Google Shape;317;p23"/>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68" name="Google Shape;318;p23"/>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69" name="Google Shape;319;p23"/>
          <p:cNvSpPr txBox="1">
            <a:spLocks noGrp="1"/>
          </p:cNvSpPr>
          <p:nvPr>
            <p:ph type="body" idx="1"/>
          </p:nvPr>
        </p:nvSpPr>
        <p:spPr>
          <a:xfrm>
            <a:off x="1170039" y="1288029"/>
            <a:ext cx="10736825" cy="5191432"/>
          </a:xfrm>
          <a:prstGeom prst="rect">
            <a:avLst/>
          </a:prstGeom>
          <a:noFill/>
          <a:ln>
            <a:noFill/>
          </a:ln>
        </p:spPr>
        <p:txBody>
          <a:bodyPr spcFirstLastPara="1" wrap="square" lIns="91425" tIns="45700" rIns="91425" bIns="45700" anchor="t" anchorCtr="0">
            <a:noAutofit/>
          </a:bodyPr>
          <a:lstStyle/>
          <a:p>
            <a:pPr marL="457200" lvl="0" indent="-329882" algn="l" rtl="0">
              <a:lnSpc>
                <a:spcPct val="200000"/>
              </a:lnSpc>
              <a:spcBef>
                <a:spcPts val="0"/>
              </a:spcBef>
              <a:spcAft>
                <a:spcPts val="0"/>
              </a:spcAft>
              <a:buSzPts val="1595"/>
              <a:buFont typeface="Times New Roman"/>
              <a:buChar char="•"/>
            </a:pPr>
            <a:r>
              <a:rPr lang="en-US" sz="1400">
                <a:latin typeface="Times New Roman"/>
                <a:ea typeface="Times New Roman"/>
                <a:cs typeface="Times New Roman"/>
                <a:sym typeface="Times New Roman"/>
              </a:rPr>
              <a:t>Yufei Yan,Qunzhu Tao,Chenyu Liu Research on Dynamic Sign Language Algorithm Based on Sign Language Trajectory and Key Frame Extraction.gupta, Journal of Communications Technology, Electronics and Computer Science,2019</a:t>
            </a:r>
            <a:endParaRPr sz="1400">
              <a:latin typeface="Times New Roman"/>
              <a:ea typeface="Times New Roman"/>
              <a:cs typeface="Times New Roman"/>
              <a:sym typeface="Times New Roman"/>
            </a:endParaRPr>
          </a:p>
          <a:p>
            <a:pPr marL="457200" lvl="0" indent="-329882" algn="l" rtl="0">
              <a:lnSpc>
                <a:spcPct val="200000"/>
              </a:lnSpc>
              <a:spcBef>
                <a:spcPts val="0"/>
              </a:spcBef>
              <a:spcAft>
                <a:spcPts val="0"/>
              </a:spcAft>
              <a:buSzPts val="1595"/>
              <a:buFont typeface="Times New Roman"/>
              <a:buChar char="•"/>
            </a:pPr>
            <a:r>
              <a:rPr lang="en-US" sz="1400">
                <a:latin typeface="Times New Roman"/>
                <a:ea typeface="Times New Roman"/>
                <a:cs typeface="Times New Roman"/>
                <a:sym typeface="Times New Roman"/>
              </a:rPr>
              <a:t>Akash. Asl alphabet. [Online]. Available: https://www.kaggle.com/grassknoted/asl-alphabet, 2018.</a:t>
            </a:r>
            <a:endParaRPr sz="1400">
              <a:latin typeface="Times New Roman"/>
              <a:ea typeface="Times New Roman"/>
              <a:cs typeface="Times New Roman"/>
              <a:sym typeface="Times New Roman"/>
            </a:endParaRPr>
          </a:p>
          <a:p>
            <a:pPr marL="457200" lvl="0" indent="-329882" algn="l" rtl="0">
              <a:lnSpc>
                <a:spcPct val="200000"/>
              </a:lnSpc>
              <a:spcBef>
                <a:spcPts val="0"/>
              </a:spcBef>
              <a:spcAft>
                <a:spcPts val="0"/>
              </a:spcAft>
              <a:buSzPts val="1595"/>
              <a:buFont typeface="Times New Roman"/>
              <a:buChar char="•"/>
            </a:pPr>
            <a:r>
              <a:rPr lang="en-US" sz="1400">
                <a:latin typeface="Times New Roman"/>
                <a:ea typeface="Times New Roman"/>
                <a:cs typeface="Times New Roman"/>
                <a:sym typeface="Times New Roman"/>
              </a:rPr>
              <a:t>Galib Ibne Haidar,Hasin Ishraq Reefat, Glove Based American Sign Language Interpretation Using Convolutional Neural Network and Data Glass.2020 IEEE Region 10 Symposium (TENSYMP), 5-7 June 2020, Dhaka, Bangladesh</a:t>
            </a:r>
            <a:endParaRPr sz="1400">
              <a:latin typeface="Times New Roman"/>
              <a:ea typeface="Times New Roman"/>
              <a:cs typeface="Times New Roman"/>
              <a:sym typeface="Times New Roman"/>
            </a:endParaRPr>
          </a:p>
          <a:p>
            <a:pPr marL="457200" lvl="0" indent="-329882" algn="l" rtl="0">
              <a:lnSpc>
                <a:spcPct val="200000"/>
              </a:lnSpc>
              <a:spcBef>
                <a:spcPts val="0"/>
              </a:spcBef>
              <a:spcAft>
                <a:spcPts val="0"/>
              </a:spcAft>
              <a:buSzPts val="1595"/>
              <a:buFont typeface="Times New Roman"/>
              <a:buChar char="•"/>
            </a:pPr>
            <a:r>
              <a:rPr lang="en-US" sz="1400">
                <a:latin typeface="Times New Roman"/>
                <a:ea typeface="Times New Roman"/>
                <a:cs typeface="Times New Roman"/>
                <a:sym typeface="Times New Roman"/>
              </a:rPr>
              <a:t>Myasoedova M.A.,Myasoedova Z., Multimedia technologies to teach Sign Language in a written form,Journal of Communications Technology, Electronics and Computer Science,2020</a:t>
            </a:r>
            <a:endParaRPr sz="1400">
              <a:latin typeface="Times New Roman"/>
              <a:ea typeface="Times New Roman"/>
              <a:cs typeface="Times New Roman"/>
              <a:sym typeface="Times New Roman"/>
            </a:endParaRPr>
          </a:p>
          <a:p>
            <a:pPr marL="457200" lvl="0" indent="-329882" algn="l" rtl="0">
              <a:lnSpc>
                <a:spcPct val="200000"/>
              </a:lnSpc>
              <a:spcBef>
                <a:spcPts val="0"/>
              </a:spcBef>
              <a:spcAft>
                <a:spcPts val="0"/>
              </a:spcAft>
              <a:buSzPts val="1595"/>
              <a:buFont typeface="Times New Roman"/>
              <a:buChar char="•"/>
            </a:pPr>
            <a:r>
              <a:rPr lang="en-US" sz="1400">
                <a:latin typeface="Times New Roman"/>
                <a:ea typeface="Times New Roman"/>
                <a:cs typeface="Times New Roman"/>
                <a:sym typeface="Times New Roman"/>
              </a:rPr>
              <a:t>Aditya Das, Shantanu Gawde, Khyati Suratwala, and Dhananjay Kalbande. Sign language recognition using deep learning on custom processed static gesture images. In 2019 International Conference on Smart City and Emerging Technology (ICSCET), pages 1–6. IEEE, 2019.</a:t>
            </a:r>
            <a:endParaRPr sz="1400">
              <a:latin typeface="Times New Roman"/>
              <a:ea typeface="Times New Roman"/>
              <a:cs typeface="Times New Roman"/>
              <a:sym typeface="Times New Roman"/>
            </a:endParaRPr>
          </a:p>
          <a:p>
            <a:pPr marL="457200" lvl="0" indent="-329882" algn="l" rtl="0">
              <a:lnSpc>
                <a:spcPct val="200000"/>
              </a:lnSpc>
              <a:spcBef>
                <a:spcPts val="0"/>
              </a:spcBef>
              <a:spcAft>
                <a:spcPts val="0"/>
              </a:spcAft>
              <a:buSzPts val="1595"/>
              <a:buChar char="•"/>
            </a:pPr>
            <a:r>
              <a:rPr lang="en-US" sz="1400">
                <a:latin typeface="Times New Roman"/>
                <a:ea typeface="Times New Roman"/>
                <a:cs typeface="Times New Roman"/>
                <a:sym typeface="Times New Roman"/>
              </a:rPr>
              <a:t>S. Albawi, T. A. Mohammed and S. Al-Zawi, “Understanding of a Convolutional neural network,” 2017 International Conference on Engineering and Technology (ICET), Antalya, 2019, pp. 1-6, doi:10.1109/ICEngTechnol.2017.8308186. </a:t>
            </a:r>
            <a:endParaRPr sz="1400">
              <a:latin typeface="Times New Roman"/>
              <a:ea typeface="Times New Roman"/>
              <a:cs typeface="Times New Roman"/>
              <a:sym typeface="Times New Roman"/>
            </a:endParaRPr>
          </a:p>
        </p:txBody>
      </p:sp>
    </p:spTree>
  </p:cSld>
  <p:clrMapOvr>
    <a:masterClrMapping/>
  </p:clrMapOvr>
  <p:transition spd="med">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1048772" name="Google Shape;324;p24"/>
          <p:cNvSpPr/>
          <p:nvPr/>
        </p:nvSpPr>
        <p:spPr>
          <a:xfrm>
            <a:off x="-1327355" y="0"/>
            <a:ext cx="13519354" cy="6858000"/>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773" name="Google Shape;325;p24"/>
          <p:cNvSpPr txBox="1">
            <a:spLocks noGrp="1"/>
          </p:cNvSpPr>
          <p:nvPr>
            <p:ph type="title"/>
          </p:nvPr>
        </p:nvSpPr>
        <p:spPr>
          <a:xfrm>
            <a:off x="-1331088" y="34850"/>
            <a:ext cx="13600252" cy="686173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b="1"/>
              <a:t>Thank You</a:t>
            </a:r>
          </a:p>
        </p:txBody>
      </p:sp>
    </p:spTree>
  </p:cSld>
  <p:clrMapOvr>
    <a:masterClrMapping/>
  </p:clrMapOvr>
  <p:transition spd="med">
    <p:wipe/>
  </p:transition>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G. H. Raisoni Institute of Engineering and Technology, Wagholi, Pune Department of Computer</vt:lpstr>
      <vt:lpstr>INTRODUCTION</vt:lpstr>
      <vt:lpstr>Video Demonstration</vt:lpstr>
      <vt:lpstr>OBJECTIVE</vt:lpstr>
      <vt:lpstr>PROBLEM STATEMENT</vt:lpstr>
      <vt:lpstr>PURPOSE</vt:lpstr>
      <vt:lpstr>Literature Survey</vt:lpstr>
      <vt:lpstr>System Architecture</vt:lpstr>
      <vt:lpstr>Methodology</vt:lpstr>
      <vt:lpstr>… Methodology</vt:lpstr>
      <vt:lpstr>… Methodology</vt:lpstr>
      <vt:lpstr>Data Flow Diagram</vt:lpstr>
      <vt:lpstr>… Data Flow Diagram</vt:lpstr>
      <vt:lpstr>… Data Flow Diagram</vt:lpstr>
      <vt:lpstr>UML Diagram</vt:lpstr>
      <vt:lpstr>… UML Diagram</vt:lpstr>
      <vt:lpstr>… UML Diagram</vt:lpstr>
      <vt:lpstr>… UML Diagram</vt:lpstr>
      <vt:lpstr>Minimum Hardware &amp; Software Requirement</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 H. Raisoni Institute of Engineering and Technology, Wagholi, Pune Department of Computer</dc:title>
  <dc:creator>Redmi Note 4</dc:creator>
  <cp:revision>14</cp:revision>
  <dcterms:created xsi:type="dcterms:W3CDTF">2022-01-04T21:58:40Z</dcterms:created>
  <dcterms:modified xsi:type="dcterms:W3CDTF">2022-05-15T18:23:12Z</dcterms:modified>
</cp:coreProperties>
</file>