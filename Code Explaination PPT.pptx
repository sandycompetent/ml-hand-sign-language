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8"/>
  </p:notesMasterIdLst>
  <p:sldIdLst>
    <p:sldId id="257" r:id="rId2"/>
    <p:sldId id="258" r:id="rId3"/>
    <p:sldId id="261" r:id="rId4"/>
    <p:sldId id="264" r:id="rId5"/>
    <p:sldId id="265" r:id="rId6"/>
    <p:sldId id="268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85" r:id="rId17"/>
    <p:sldId id="290" r:id="rId18"/>
    <p:sldId id="282" r:id="rId19"/>
    <p:sldId id="286" r:id="rId20"/>
    <p:sldId id="287" r:id="rId21"/>
    <p:sldId id="283" r:id="rId22"/>
    <p:sldId id="284" r:id="rId23"/>
    <p:sldId id="289" r:id="rId24"/>
    <p:sldId id="288" r:id="rId25"/>
    <p:sldId id="279" r:id="rId26"/>
    <p:sldId id="281" r:id="rId2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C44EE8-7676-4859-97A3-99AFE2CE51D3}" v="4" dt="2022-05-15T18:16:47.557"/>
    <p1510:client id="{F9D84AD3-04A6-4BA7-AEAF-F8DBDCE41712}" v="16" dt="2022-05-15T17:19:30.303"/>
  </p1510:revLst>
</p1510:revInfo>
</file>

<file path=ppt/tableStyles.xml><?xml version="1.0" encoding="utf-8"?>
<a:tblStyleLst xmlns:a="http://schemas.openxmlformats.org/drawingml/2006/main" def="{5C22544A-7EE6-4342-B048-85BDC9FD1C3A}">
  <a:tblStyle styleId="{2F766FBE-8AF5-4515-8E5C-107FC7148F5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  <a:fill>
          <a:solidFill>
            <a:srgbClr val="CDD4EA"/>
          </a:solidFill>
        </a:fill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  <a:fill>
          <a:solidFill>
            <a:srgbClr val="CDD4EA"/>
          </a:solidFill>
        </a:fill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seCell>
    <a:swCell>
      <a:tcTxStyle b="off" i="off"/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neCell>
    <a:nwCell>
      <a:tcTxStyle b="off" i="off"/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778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824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8825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0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661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8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669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1" name="Google Shape;13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692" name="Google Shape;13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9" name="Google Shape;16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630" name="Google Shape;16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3" name="Google Shape;16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614" name="Google Shape;17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5" name="Google Shape;20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606" name="Google Shape;20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637" name="Google Shape;21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7" name="Google Shape;224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08" name="Google Shape;22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4" name="Google Shape;23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15" name="Google Shape;23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1" name="Google Shape;24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22" name="Google Shape;24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Google Shape;254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29" name="Google Shape;25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35" name="Google Shape;264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36" name="Google Shape;26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42" name="Google Shape;274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43" name="Google Shape;27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49" name="Google Shape;28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50" name="Google Shape;28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6" name="Google Shape;294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57" name="Google Shape;29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6" name="Google Shape;294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57" name="Google Shape;29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690576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6" name="Google Shape;294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57" name="Google Shape;29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536685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6" name="Google Shape;294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57" name="Google Shape;29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666313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6" name="Google Shape;294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57" name="Google Shape;29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889595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6" name="Google Shape;294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57" name="Google Shape;29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231478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6" name="Google Shape;294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57" name="Google Shape;29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075662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6" name="Google Shape;294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57" name="Google Shape;29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236118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63" name="Google Shape;30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64" name="Google Shape;30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328223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63" name="Google Shape;30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64" name="Google Shape;30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309977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63" name="Google Shape;30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64" name="Google Shape;30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74" name="Google Shape;321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8775" name="Google Shape;32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Google Shape;12;p26"/>
          <p:cNvSpPr txBox="1"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3" name="Google Shape;13;p2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048644" name="Google Shape;14;p2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15;p2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6" name="Google Shape;16;p2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Google Shape;18;p27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582" name="Google Shape;19;p2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9pPr>
          </a:lstStyle>
          <a:p>
            <a:endParaRPr/>
          </a:p>
        </p:txBody>
      </p:sp>
      <p:sp>
        <p:nvSpPr>
          <p:cNvPr id="1048583" name="Google Shape;20;p2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584" name="Google Shape;21;p2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585" name="Google Shape;22;p2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808" name="Google Shape;24;p28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809" name="Google Shape;25;p28"/>
          <p:cNvSpPr txBox="1"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48810" name="Google Shape;26;p28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811" name="Google Shape;27;p28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812" name="Google Shape;28;p28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76" name="Google Shape;30;p29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777" name="Google Shape;31;p2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9pPr>
          </a:lstStyle>
          <a:p>
            <a:endParaRPr/>
          </a:p>
        </p:txBody>
      </p:sp>
      <p:sp>
        <p:nvSpPr>
          <p:cNvPr id="1048778" name="Google Shape;32;p2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9pPr>
          </a:lstStyle>
          <a:p>
            <a:endParaRPr/>
          </a:p>
        </p:txBody>
      </p:sp>
      <p:sp>
        <p:nvSpPr>
          <p:cNvPr id="1048779" name="Google Shape;33;p2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780" name="Google Shape;34;p2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781" name="Google Shape;35;p2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82" name="Google Shape;37;p30"/>
          <p:cNvSpPr txBox="1"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783" name="Google Shape;38;p3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48784" name="Google Shape;39;p3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9pPr>
          </a:lstStyle>
          <a:p>
            <a:endParaRPr/>
          </a:p>
        </p:txBody>
      </p:sp>
      <p:sp>
        <p:nvSpPr>
          <p:cNvPr id="1048785" name="Google Shape;40;p30"/>
          <p:cNvSpPr txBox="1">
            <a:spLocks noGrp="1"/>
          </p:cNvSpPr>
          <p:nvPr>
            <p:ph type="body" idx="3"/>
          </p:nvPr>
        </p:nvSpPr>
        <p:spPr>
          <a:xfrm>
            <a:off x="6172201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48786" name="Google Shape;41;p30"/>
          <p:cNvSpPr txBox="1">
            <a:spLocks noGrp="1"/>
          </p:cNvSpPr>
          <p:nvPr>
            <p:ph type="body" idx="4"/>
          </p:nvPr>
        </p:nvSpPr>
        <p:spPr>
          <a:xfrm>
            <a:off x="6172201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9pPr>
          </a:lstStyle>
          <a:p>
            <a:endParaRPr/>
          </a:p>
        </p:txBody>
      </p:sp>
      <p:sp>
        <p:nvSpPr>
          <p:cNvPr id="1048787" name="Google Shape;42;p30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788" name="Google Shape;43;p30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789" name="Google Shape;44;p30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99" name="Google Shape;51;p3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800" name="Google Shape;52;p3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801" name="Google Shape;53;p3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818" name="Google Shape;55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819" name="Google Shape;56;p33"/>
          <p:cNvSpPr txBox="1">
            <a:spLocks noGrp="1"/>
          </p:cNvSpPr>
          <p:nvPr>
            <p:ph type="body" idx="1"/>
          </p:nvPr>
        </p:nvSpPr>
        <p:spPr>
          <a:xfrm>
            <a:off x="5183188" y="987427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048820" name="Google Shape;57;p3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048821" name="Google Shape;58;p3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822" name="Google Shape;59;p3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823" name="Google Shape;60;p3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802" name="Google Shape;62;p3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803" name="Google Shape;63;p34"/>
          <p:cNvSpPr>
            <a:spLocks noGrp="1"/>
          </p:cNvSpPr>
          <p:nvPr>
            <p:ph type="pic" idx="2"/>
          </p:nvPr>
        </p:nvSpPr>
        <p:spPr>
          <a:xfrm>
            <a:off x="5183188" y="987427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048804" name="Google Shape;64;p3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048805" name="Google Shape;65;p34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806" name="Google Shape;66;p34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807" name="Google Shape;67;p34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813" name="Google Shape;69;p35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814" name="Google Shape;70;p3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9pPr>
          </a:lstStyle>
          <a:p>
            <a:endParaRPr/>
          </a:p>
        </p:txBody>
      </p:sp>
      <p:sp>
        <p:nvSpPr>
          <p:cNvPr id="1048815" name="Google Shape;71;p3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816" name="Google Shape;72;p3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817" name="Google Shape;73;p3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94" name="Google Shape;75;p36"/>
          <p:cNvSpPr txBox="1">
            <a:spLocks noGrp="1"/>
          </p:cNvSpPr>
          <p:nvPr>
            <p:ph type="title"/>
          </p:nvPr>
        </p:nvSpPr>
        <p:spPr>
          <a:xfrm rot="5400000">
            <a:off x="7133432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795" name="Google Shape;76;p36"/>
          <p:cNvSpPr txBox="1">
            <a:spLocks noGrp="1"/>
          </p:cNvSpPr>
          <p:nvPr>
            <p:ph type="body" idx="1"/>
          </p:nvPr>
        </p:nvSpPr>
        <p:spPr>
          <a:xfrm rot="5400000">
            <a:off x="1799432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9pPr>
          </a:lstStyle>
          <a:p>
            <a:endParaRPr/>
          </a:p>
        </p:txBody>
      </p:sp>
      <p:sp>
        <p:nvSpPr>
          <p:cNvPr id="1048796" name="Google Shape;77;p3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797" name="Google Shape;78;p3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798" name="Google Shape;79;p3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6;p25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48577" name="Google Shape;7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578" name="Google Shape;8;p2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579" name="Google Shape;9;p2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580" name="Google Shape;10;p2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7" name="Google Shape;84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48" name="Google Shape;85;p1"/>
          <p:cNvSpPr/>
          <p:nvPr/>
        </p:nvSpPr>
        <p:spPr>
          <a:xfrm rot="2700000">
            <a:off x="82782" y="-1386168"/>
            <a:ext cx="2424873" cy="3611191"/>
          </a:xfrm>
          <a:custGeom>
            <a:avLst/>
            <a:gdLst/>
            <a:ahLst/>
            <a:cxnLst/>
            <a:rect l="l" t="t" r="r" b="b"/>
            <a:pathLst>
              <a:path w="2424873" h="3611191" extrusionOk="0">
                <a:moveTo>
                  <a:pt x="0" y="2424874"/>
                </a:moveTo>
                <a:lnTo>
                  <a:pt x="2424873" y="0"/>
                </a:lnTo>
                <a:lnTo>
                  <a:pt x="2424873" y="3611191"/>
                </a:lnTo>
                <a:lnTo>
                  <a:pt x="1186317" y="3611191"/>
                </a:lnTo>
                <a:close/>
              </a:path>
            </a:pathLst>
          </a:custGeom>
          <a:solidFill>
            <a:schemeClr val="accent4">
              <a:alpha val="4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49" name="Google Shape;86;p1"/>
          <p:cNvSpPr/>
          <p:nvPr/>
        </p:nvSpPr>
        <p:spPr>
          <a:xfrm rot="2700000">
            <a:off x="1571000" y="-338582"/>
            <a:ext cx="1635955" cy="1635955"/>
          </a:xfrm>
          <a:custGeom>
            <a:avLst/>
            <a:gdLst/>
            <a:ahLst/>
            <a:cxnLst/>
            <a:rect l="l" t="t" r="r" b="b"/>
            <a:pathLst>
              <a:path w="1635955" h="1635955" extrusionOk="0">
                <a:moveTo>
                  <a:pt x="0" y="957987"/>
                </a:moveTo>
                <a:lnTo>
                  <a:pt x="957987" y="0"/>
                </a:lnTo>
                <a:lnTo>
                  <a:pt x="1635955" y="0"/>
                </a:lnTo>
                <a:lnTo>
                  <a:pt x="1635955" y="1635955"/>
                </a:lnTo>
                <a:lnTo>
                  <a:pt x="0" y="1635955"/>
                </a:lnTo>
                <a:close/>
              </a:path>
            </a:pathLst>
          </a:custGeom>
          <a:solidFill>
            <a:schemeClr val="accent4">
              <a:alpha val="4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50" name="Google Shape;87;p1"/>
          <p:cNvSpPr/>
          <p:nvPr/>
        </p:nvSpPr>
        <p:spPr>
          <a:xfrm rot="2700000">
            <a:off x="9627985" y="-6588"/>
            <a:ext cx="4059393" cy="2548110"/>
          </a:xfrm>
          <a:custGeom>
            <a:avLst/>
            <a:gdLst/>
            <a:ahLst/>
            <a:cxnLst/>
            <a:rect l="l" t="t" r="r" b="b"/>
            <a:pathLst>
              <a:path w="4059393" h="2548110" extrusionOk="0">
                <a:moveTo>
                  <a:pt x="0" y="1511282"/>
                </a:moveTo>
                <a:lnTo>
                  <a:pt x="1511282" y="0"/>
                </a:lnTo>
                <a:lnTo>
                  <a:pt x="4059393" y="2548110"/>
                </a:lnTo>
                <a:lnTo>
                  <a:pt x="0" y="2548110"/>
                </a:lnTo>
                <a:close/>
              </a:path>
            </a:pathLst>
          </a:custGeom>
          <a:solidFill>
            <a:schemeClr val="accent1">
              <a:alpha val="29411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51" name="Google Shape;88;p1"/>
          <p:cNvSpPr/>
          <p:nvPr/>
        </p:nvSpPr>
        <p:spPr>
          <a:xfrm rot="2700000">
            <a:off x="10262924" y="1465780"/>
            <a:ext cx="1185708" cy="1185708"/>
          </a:xfrm>
          <a:prstGeom prst="rect">
            <a:avLst/>
          </a:prstGeom>
          <a:solidFill>
            <a:schemeClr val="accent1">
              <a:alpha val="29411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52" name="Google Shape;89;p1"/>
          <p:cNvSpPr/>
          <p:nvPr/>
        </p:nvSpPr>
        <p:spPr>
          <a:xfrm rot="2700000">
            <a:off x="-29557" y="5198743"/>
            <a:ext cx="2444907" cy="2366116"/>
          </a:xfrm>
          <a:custGeom>
            <a:avLst/>
            <a:gdLst/>
            <a:ahLst/>
            <a:cxnLst/>
            <a:rect l="l" t="t" r="r" b="b"/>
            <a:pathLst>
              <a:path w="2203753" h="2132734" extrusionOk="0">
                <a:moveTo>
                  <a:pt x="0" y="0"/>
                </a:moveTo>
                <a:lnTo>
                  <a:pt x="2203753" y="0"/>
                </a:lnTo>
                <a:lnTo>
                  <a:pt x="2203753" y="576461"/>
                </a:lnTo>
                <a:lnTo>
                  <a:pt x="647480" y="2132734"/>
                </a:lnTo>
                <a:lnTo>
                  <a:pt x="0" y="1485255"/>
                </a:lnTo>
                <a:close/>
              </a:path>
            </a:pathLst>
          </a:custGeom>
          <a:solidFill>
            <a:schemeClr val="accent1">
              <a:alpha val="29411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53" name="Google Shape;90;p1"/>
          <p:cNvSpPr/>
          <p:nvPr/>
        </p:nvSpPr>
        <p:spPr>
          <a:xfrm rot="2700000">
            <a:off x="1769787" y="5439893"/>
            <a:ext cx="928467" cy="928467"/>
          </a:xfrm>
          <a:prstGeom prst="rect">
            <a:avLst/>
          </a:prstGeom>
          <a:solidFill>
            <a:schemeClr val="accent1">
              <a:alpha val="29411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54" name="Google Shape;91;p1"/>
          <p:cNvSpPr/>
          <p:nvPr/>
        </p:nvSpPr>
        <p:spPr>
          <a:xfrm rot="2700000">
            <a:off x="3401311" y="734311"/>
            <a:ext cx="5389379" cy="5389379"/>
          </a:xfrm>
          <a:custGeom>
            <a:avLst/>
            <a:gdLst/>
            <a:ahLst/>
            <a:cxnLst/>
            <a:rect l="l" t="t" r="r" b="b"/>
            <a:pathLst>
              <a:path w="5389379" h="5389379" extrusionOk="0">
                <a:moveTo>
                  <a:pt x="0" y="540040"/>
                </a:moveTo>
                <a:lnTo>
                  <a:pt x="540040" y="0"/>
                </a:lnTo>
                <a:lnTo>
                  <a:pt x="5389379" y="0"/>
                </a:lnTo>
                <a:lnTo>
                  <a:pt x="5389379" y="4838655"/>
                </a:lnTo>
                <a:lnTo>
                  <a:pt x="4838655" y="5389379"/>
                </a:lnTo>
                <a:lnTo>
                  <a:pt x="0" y="538937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55" name="Google Shape;92;p1"/>
          <p:cNvSpPr/>
          <p:nvPr/>
        </p:nvSpPr>
        <p:spPr>
          <a:xfrm rot="2700000">
            <a:off x="2700283" y="33283"/>
            <a:ext cx="6791435" cy="6791435"/>
          </a:xfrm>
          <a:custGeom>
            <a:avLst/>
            <a:gdLst/>
            <a:ahLst/>
            <a:cxnLst/>
            <a:rect l="l" t="t" r="r" b="b"/>
            <a:pathLst>
              <a:path w="6791435" h="6791435" extrusionOk="0">
                <a:moveTo>
                  <a:pt x="1860938" y="81158"/>
                </a:moveTo>
                <a:lnTo>
                  <a:pt x="1942096" y="0"/>
                </a:lnTo>
                <a:lnTo>
                  <a:pt x="6791435" y="0"/>
                </a:lnTo>
                <a:lnTo>
                  <a:pt x="6791435" y="4838655"/>
                </a:lnTo>
                <a:lnTo>
                  <a:pt x="6710277" y="4919813"/>
                </a:lnTo>
                <a:lnTo>
                  <a:pt x="6710277" y="81158"/>
                </a:lnTo>
                <a:close/>
                <a:moveTo>
                  <a:pt x="0" y="1942096"/>
                </a:moveTo>
                <a:lnTo>
                  <a:pt x="81158" y="1860938"/>
                </a:lnTo>
                <a:lnTo>
                  <a:pt x="81158" y="6710277"/>
                </a:lnTo>
                <a:lnTo>
                  <a:pt x="4919813" y="6710277"/>
                </a:lnTo>
                <a:lnTo>
                  <a:pt x="4838655" y="6791435"/>
                </a:lnTo>
                <a:lnTo>
                  <a:pt x="0" y="67914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56" name="Google Shape;93;p1"/>
          <p:cNvSpPr txBox="1">
            <a:spLocks noGrp="1"/>
          </p:cNvSpPr>
          <p:nvPr>
            <p:ph type="ctrTitle"/>
          </p:nvPr>
        </p:nvSpPr>
        <p:spPr>
          <a:xfrm>
            <a:off x="2141348" y="297348"/>
            <a:ext cx="9791483" cy="1440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0808"/>
              </a:buClr>
              <a:buSzPts val="3500"/>
              <a:buFont typeface="Calibri"/>
              <a:buNone/>
            </a:pPr>
            <a:r>
              <a:rPr lang="en-US" sz="3500" b="1">
                <a:solidFill>
                  <a:srgbClr val="080808"/>
                </a:solidFill>
              </a:rPr>
              <a:t>G. H. Raisoni Institute of Engineering and Technology, Wagholi, Pune</a:t>
            </a:r>
            <a:br>
              <a:rPr lang="en-US" sz="3500" b="1"/>
            </a:br>
            <a:r>
              <a:rPr lang="en-US" sz="3500" b="1">
                <a:solidFill>
                  <a:srgbClr val="080808"/>
                </a:solidFill>
              </a:rPr>
              <a:t>Department of Computer</a:t>
            </a:r>
            <a:endParaRPr sz="3600">
              <a:solidFill>
                <a:srgbClr val="080808"/>
              </a:solidFill>
            </a:endParaRPr>
          </a:p>
        </p:txBody>
      </p:sp>
      <p:sp>
        <p:nvSpPr>
          <p:cNvPr id="1048657" name="Google Shape;94;p1"/>
          <p:cNvSpPr/>
          <p:nvPr/>
        </p:nvSpPr>
        <p:spPr>
          <a:xfrm rot="2700000">
            <a:off x="9629823" y="5457591"/>
            <a:ext cx="2231794" cy="2568811"/>
          </a:xfrm>
          <a:custGeom>
            <a:avLst/>
            <a:gdLst/>
            <a:ahLst/>
            <a:cxnLst/>
            <a:rect l="l" t="t" r="r" b="b"/>
            <a:pathLst>
              <a:path w="2940086" h="3384061" extrusionOk="0">
                <a:moveTo>
                  <a:pt x="0" y="0"/>
                </a:moveTo>
                <a:lnTo>
                  <a:pt x="2496112" y="0"/>
                </a:lnTo>
                <a:lnTo>
                  <a:pt x="2940086" y="443975"/>
                </a:lnTo>
                <a:lnTo>
                  <a:pt x="0" y="3384061"/>
                </a:lnTo>
                <a:close/>
              </a:path>
            </a:pathLst>
          </a:custGeom>
          <a:solidFill>
            <a:schemeClr val="accent4">
              <a:alpha val="4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58" name="Google Shape;95;p1"/>
          <p:cNvSpPr/>
          <p:nvPr/>
        </p:nvSpPr>
        <p:spPr>
          <a:xfrm rot="2700000">
            <a:off x="9720059" y="5243545"/>
            <a:ext cx="959985" cy="959985"/>
          </a:xfrm>
          <a:prstGeom prst="rect">
            <a:avLst/>
          </a:prstGeom>
          <a:solidFill>
            <a:schemeClr val="accent4">
              <a:alpha val="4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59" name="Google Shape;96;p1"/>
          <p:cNvSpPr txBox="1"/>
          <p:nvPr/>
        </p:nvSpPr>
        <p:spPr>
          <a:xfrm>
            <a:off x="259168" y="2243451"/>
            <a:ext cx="11673663" cy="434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NAME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Real-time Sign Language To English Language Conversion Using CNN For Disabled People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GROUP MEMBERS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Vaibhavi Padamwar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Sandeep Malviya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Harshada Patil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Sanghavi Appam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GUIDE NAME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Prof. Disha Deotale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97155" name="Google Shape;97;p1" descr="Logo  Description automatically generated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259168" y="241077"/>
            <a:ext cx="1733550" cy="1543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2" name="Google Shape;102;p2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/>
              <a:t>INTRODUCTION</a:t>
            </a:r>
          </a:p>
        </p:txBody>
      </p:sp>
      <p:sp>
        <p:nvSpPr>
          <p:cNvPr id="1048663" name="Google Shape;103;p2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64" name="Google Shape;104;p2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65" name="Google Shape;105;p2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66" name="Google Shape;106;p2"/>
          <p:cNvSpPr txBox="1">
            <a:spLocks noGrp="1"/>
          </p:cNvSpPr>
          <p:nvPr>
            <p:ph type="body" idx="1"/>
          </p:nvPr>
        </p:nvSpPr>
        <p:spPr>
          <a:xfrm>
            <a:off x="1219200" y="1406012"/>
            <a:ext cx="10785987" cy="1117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There are people who are facing illnesses such as deafness or dumbness. </a:t>
            </a:r>
            <a:r>
              <a:rPr lang="en-US" sz="2000" b="1">
                <a:latin typeface="Times New Roman"/>
                <a:ea typeface="Times New Roman"/>
                <a:cs typeface="Times New Roman"/>
                <a:sym typeface="Times New Roman"/>
              </a:rPr>
              <a:t>They face difficulty interacting with others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. Previously developed techniques are all sensors based and they didn’t give the general solution. 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6" name="Google Shape;107;p2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8288326" y="2556392"/>
            <a:ext cx="3636883" cy="3655616"/>
          </a:xfrm>
          <a:prstGeom prst="rect">
            <a:avLst/>
          </a:prstGeom>
          <a:noFill/>
          <a:ln>
            <a:noFill/>
          </a:ln>
        </p:spPr>
      </p:pic>
      <p:sp>
        <p:nvSpPr>
          <p:cNvPr id="1048667" name="Google Shape;108;p2"/>
          <p:cNvSpPr txBox="1"/>
          <p:nvPr/>
        </p:nvSpPr>
        <p:spPr>
          <a:xfrm>
            <a:off x="1219200" y="2438399"/>
            <a:ext cx="6870741" cy="4168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7955"/>
          </a:bodyPr>
          <a:lstStyle/>
          <a:p>
            <a:pPr marL="228600" marR="0" lvl="0" indent="-228600" algn="just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8108"/>
              <a:buFont typeface="Arial"/>
              <a:buChar char="•"/>
            </a:pPr>
            <a:r>
              <a:rPr lang="en-US" sz="2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This presentation explains a new technique of </a:t>
            </a:r>
            <a:r>
              <a:rPr lang="en-US" sz="22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virtual talking without sensors</a:t>
            </a:r>
            <a:r>
              <a:rPr lang="en-US" sz="2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Convolutional Neural Network has been used to train the System. Web Camera is used to take the image of different gestures and that will be used as input to the </a:t>
            </a:r>
            <a:r>
              <a:rPr lang="en-US" sz="22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MATLAB</a:t>
            </a:r>
            <a:r>
              <a:rPr lang="en-US" sz="2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 </a:t>
            </a:r>
          </a:p>
          <a:p>
            <a:pPr marL="228600" marR="0" lvl="0" indent="-228600" algn="just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8108"/>
              <a:buFont typeface="Arial"/>
              <a:buChar char="•"/>
            </a:pPr>
            <a:r>
              <a:rPr lang="en-US" sz="2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</a:t>
            </a:r>
            <a:r>
              <a:rPr lang="en-US" sz="22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software will recognize the image </a:t>
            </a:r>
            <a:r>
              <a:rPr lang="en-US" sz="2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and identify the cores sign language and convert them to English language and give voice output using a voice replay kit.</a:t>
            </a:r>
          </a:p>
          <a:p>
            <a:pPr marL="228600" marR="0" lvl="0" indent="-228600" algn="just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8108"/>
              <a:buFont typeface="Arial"/>
              <a:buChar char="•"/>
            </a:pPr>
            <a:r>
              <a:rPr lang="en-US" sz="2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Such as two-way communications between the dumb and normal people would be capable by converting the sign language to text and voice for various uses such as on video conference.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86" name="Google Shape;134;p5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/>
              <a:t>PROBLEM STATEMENT</a:t>
            </a:r>
          </a:p>
        </p:txBody>
      </p:sp>
      <p:sp>
        <p:nvSpPr>
          <p:cNvPr id="1048687" name="Google Shape;135;p5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88" name="Google Shape;136;p5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89" name="Google Shape;137;p5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90" name="Google Shape;138;p5"/>
          <p:cNvSpPr txBox="1">
            <a:spLocks noGrp="1"/>
          </p:cNvSpPr>
          <p:nvPr>
            <p:ph type="body" idx="1"/>
          </p:nvPr>
        </p:nvSpPr>
        <p:spPr>
          <a:xfrm>
            <a:off x="1337186" y="1445341"/>
            <a:ext cx="10609007" cy="5083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Around 46 Million people in the world are handicap who can’t speak or listen properly.</a:t>
            </a:r>
            <a:endParaRPr sz="2400"/>
          </a:p>
          <a:p>
            <a:pPr marL="228600" lvl="0" indent="-22860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Dumb people use hand signs to communicate, hence normal people face problem in recognizing their language by signs made.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The hearing impaired people always have problem in communicating with normal people. </a:t>
            </a:r>
            <a:endParaRPr sz="2400"/>
          </a:p>
          <a:p>
            <a:pPr marL="228600" lvl="0" indent="-22860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They have problem in conveying their thoughts and ideas to normal people who have very limited or sometimes no knowledge in sign language. 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This makes the hearing impaired community lose interest in common activities and they avoid communicating with normal people at times and live in isolation. 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2" name="Google Shape;163;p8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System Architecture</a:t>
            </a:r>
          </a:p>
        </p:txBody>
      </p:sp>
      <p:sp>
        <p:nvSpPr>
          <p:cNvPr id="1048623" name="Google Shape;164;p8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24" name="Google Shape;165;p8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25" name="Google Shape;166;p8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97154" name="Google Shape;167;p8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1220943" y="1522152"/>
            <a:ext cx="10251383" cy="5335848"/>
          </a:xfrm>
          <a:prstGeom prst="rect">
            <a:avLst/>
          </a:prstGeom>
          <a:noFill/>
          <a:ln>
            <a:noFill/>
          </a:ln>
        </p:spPr>
      </p:pic>
      <p:sp>
        <p:nvSpPr>
          <p:cNvPr id="1048626" name="TextBox 1048625"/>
          <p:cNvSpPr txBox="1"/>
          <p:nvPr/>
        </p:nvSpPr>
        <p:spPr>
          <a:xfrm>
            <a:off x="10558289" y="5217726"/>
            <a:ext cx="1122514" cy="2311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rgbClr val="000000"/>
                </a:solidFill>
              </a:rPr>
              <a:t>Text as a output</a:t>
            </a:r>
            <a:endParaRPr lang="en-IN" sz="1000">
              <a:solidFill>
                <a:srgbClr val="000000"/>
              </a:solidFill>
            </a:endParaRPr>
          </a:p>
        </p:txBody>
      </p:sp>
      <p:sp>
        <p:nvSpPr>
          <p:cNvPr id="1048627" name="Rectangle 1048626"/>
          <p:cNvSpPr/>
          <p:nvPr/>
        </p:nvSpPr>
        <p:spPr>
          <a:xfrm rot="10800000" flipV="1">
            <a:off x="1984997" y="5134438"/>
            <a:ext cx="991196" cy="628859"/>
          </a:xfrm>
          <a:prstGeom prst="rect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</p:spPr>
        <p:txBody>
          <a:bodyPr anchor="ctr"/>
          <a:lstStyle/>
          <a:p>
            <a:pPr algn="ctr"/>
            <a:r>
              <a:rPr lang="en-US"/>
              <a:t>Train module</a:t>
            </a:r>
            <a:endParaRPr lang="en-IN"/>
          </a:p>
        </p:txBody>
      </p:sp>
      <p:sp>
        <p:nvSpPr>
          <p:cNvPr id="1048628" name="TextBox 1048627"/>
          <p:cNvSpPr txBox="1"/>
          <p:nvPr/>
        </p:nvSpPr>
        <p:spPr>
          <a:xfrm>
            <a:off x="8245044" y="1190196"/>
            <a:ext cx="1309354" cy="2692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rgbClr val="000000"/>
                </a:solidFill>
              </a:rPr>
              <a:t>Test module</a:t>
            </a:r>
            <a:endParaRPr lang="en-IN" sz="1200">
              <a:solidFill>
                <a:srgbClr val="000000"/>
              </a:solidFill>
            </a:endParaRP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7" name="Google Shape;172;p9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b="1">
                <a:latin typeface="Calibri"/>
                <a:ea typeface="Calibri"/>
                <a:cs typeface="Calibri"/>
                <a:sym typeface="Calibri"/>
              </a:rPr>
              <a:t>Methodology</a:t>
            </a:r>
          </a:p>
        </p:txBody>
      </p:sp>
      <p:sp>
        <p:nvSpPr>
          <p:cNvPr id="1048608" name="Google Shape;173;p9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09" name="Google Shape;174;p9"/>
          <p:cNvSpPr/>
          <p:nvPr/>
        </p:nvSpPr>
        <p:spPr>
          <a:xfrm>
            <a:off x="-109475" y="1227720"/>
            <a:ext cx="12191999" cy="5700850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10" name="Google Shape;175;p9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11" name="Google Shape;176;p9"/>
          <p:cNvSpPr txBox="1"/>
          <p:nvPr/>
        </p:nvSpPr>
        <p:spPr>
          <a:xfrm>
            <a:off x="1223175" y="1190195"/>
            <a:ext cx="4998030" cy="2887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Modeling Stage</a:t>
            </a: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would take, video feed as input, from which </a:t>
            </a:r>
            <a:r>
              <a:rPr lang="en-US" sz="22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Image would be extracted.</a:t>
            </a: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Image would be cropped and scaled to fixed ratio.</a:t>
            </a: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Colored image would be converted to </a:t>
            </a:r>
            <a:r>
              <a:rPr lang="en-US" sz="2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grayscale</a:t>
            </a:r>
            <a:r>
              <a:rPr lang="en-US" sz="2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image</a:t>
            </a:r>
          </a:p>
        </p:txBody>
      </p:sp>
      <p:sp>
        <p:nvSpPr>
          <p:cNvPr id="1048612" name="TextBox 1048611"/>
          <p:cNvSpPr txBox="1"/>
          <p:nvPr/>
        </p:nvSpPr>
        <p:spPr>
          <a:xfrm>
            <a:off x="6096000" y="4078145"/>
            <a:ext cx="5684077" cy="1615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Convolutional Layer</a:t>
            </a: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 a typical neural network each input neuron is connected to the next hidden layer. </a:t>
            </a: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 CNN, only a small region of the input layer neurons connect to the neuron hidden layer.</a:t>
            </a:r>
            <a:endParaRPr lang="en-IN" sz="2800">
              <a:solidFill>
                <a:srgbClr val="000000"/>
              </a:solidFill>
            </a:endParaRPr>
          </a:p>
        </p:txBody>
      </p:sp>
      <p:sp>
        <p:nvSpPr>
          <p:cNvPr id="1048826" name="Google Shape;187;p10"/>
          <p:cNvSpPr/>
          <p:nvPr/>
        </p:nvSpPr>
        <p:spPr>
          <a:xfrm>
            <a:off x="2288701" y="5349363"/>
            <a:ext cx="1527300" cy="1081500"/>
          </a:xfrm>
          <a:prstGeom prst="ellipse">
            <a:avLst/>
          </a:prstGeom>
          <a:solidFill>
            <a:srgbClr val="CFE2F3"/>
          </a:solidFill>
          <a:ln w="9525" cap="flat" cmpd="sng">
            <a:solidFill>
              <a:srgbClr val="351C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Training Model</a:t>
            </a:r>
            <a:endParaRPr sz="13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(CNN Algorithm)</a:t>
            </a:r>
            <a:endParaRPr sz="13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827" name="Google Shape;186;p10"/>
          <p:cNvSpPr/>
          <p:nvPr/>
        </p:nvSpPr>
        <p:spPr>
          <a:xfrm>
            <a:off x="125029" y="5426614"/>
            <a:ext cx="1693248" cy="1081500"/>
          </a:xfrm>
          <a:prstGeom prst="ellipse">
            <a:avLst/>
          </a:prstGeom>
          <a:solidFill>
            <a:srgbClr val="CFE2F3"/>
          </a:solidFill>
          <a:ln w="9525" cap="flat" cmpd="sng">
            <a:solidFill>
              <a:srgbClr val="351C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Collection Of Data</a:t>
            </a:r>
            <a:endParaRPr sz="13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828" name="Google Shape;188;p10"/>
          <p:cNvSpPr/>
          <p:nvPr/>
        </p:nvSpPr>
        <p:spPr>
          <a:xfrm>
            <a:off x="4812195" y="5349363"/>
            <a:ext cx="1668600" cy="1018200"/>
          </a:xfrm>
          <a:prstGeom prst="ellipse">
            <a:avLst/>
          </a:prstGeom>
          <a:solidFill>
            <a:srgbClr val="CFE2F3"/>
          </a:solidFill>
          <a:ln w="9525" cap="flat" cmpd="sng">
            <a:solidFill>
              <a:srgbClr val="351C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Real Time Application</a:t>
            </a:r>
            <a:endParaRPr sz="13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829" name="Google Shape;192;p10"/>
          <p:cNvSpPr/>
          <p:nvPr/>
        </p:nvSpPr>
        <p:spPr>
          <a:xfrm>
            <a:off x="3549533" y="4402764"/>
            <a:ext cx="1734000" cy="3117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rgbClr val="351C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Connect with frontend</a:t>
            </a:r>
            <a:endParaRPr sz="10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830" name="Google Shape;191;p10"/>
          <p:cNvSpPr/>
          <p:nvPr/>
        </p:nvSpPr>
        <p:spPr>
          <a:xfrm>
            <a:off x="1111477" y="4402763"/>
            <a:ext cx="1413600" cy="3117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rgbClr val="351C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CNN Algorithm</a:t>
            </a:r>
            <a:endParaRPr sz="10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45730" name="Google Shape;189;p10"/>
          <p:cNvCxnSpPr>
            <a:cxnSpLocks/>
          </p:cNvCxnSpPr>
          <p:nvPr/>
        </p:nvCxnSpPr>
        <p:spPr>
          <a:xfrm rot="-5400000" flipH="1" flipV="1">
            <a:off x="1988050" y="4110363"/>
            <a:ext cx="36160" cy="2893456"/>
          </a:xfrm>
          <a:prstGeom prst="curvedConnector3">
            <a:avLst>
              <a:gd name="adj1" fmla="val -1243392"/>
            </a:avLst>
          </a:prstGeom>
          <a:noFill/>
          <a:ln w="9525" cap="flat" cmpd="sng">
            <a:solidFill>
              <a:srgbClr val="351C7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145731" name="Google Shape;189;p10"/>
          <p:cNvCxnSpPr>
            <a:cxnSpLocks/>
          </p:cNvCxnSpPr>
          <p:nvPr/>
        </p:nvCxnSpPr>
        <p:spPr>
          <a:xfrm rot="16200000" flipH="1" flipV="1">
            <a:off x="4201942" y="3936827"/>
            <a:ext cx="32019" cy="2857087"/>
          </a:xfrm>
          <a:prstGeom prst="curvedConnector3">
            <a:avLst>
              <a:gd name="adj1" fmla="val -1243392"/>
            </a:avLst>
          </a:prstGeom>
          <a:noFill/>
          <a:ln w="9525" cap="flat" cmpd="sng">
            <a:solidFill>
              <a:srgbClr val="351C7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48831" name="Google Shape;193;p10"/>
          <p:cNvSpPr/>
          <p:nvPr/>
        </p:nvSpPr>
        <p:spPr>
          <a:xfrm rot="4931228">
            <a:off x="4164872" y="4864580"/>
            <a:ext cx="106158" cy="170986"/>
          </a:xfrm>
          <a:prstGeom prst="triangle">
            <a:avLst>
              <a:gd name="adj" fmla="val 50000"/>
            </a:avLst>
          </a:prstGeom>
          <a:solidFill>
            <a:srgbClr val="CFE2F3"/>
          </a:solidFill>
          <a:ln w="9525" cap="flat" cmpd="sng">
            <a:solidFill>
              <a:srgbClr val="351C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832" name="Google Shape;193;p10"/>
          <p:cNvSpPr/>
          <p:nvPr/>
        </p:nvSpPr>
        <p:spPr>
          <a:xfrm rot="4931228">
            <a:off x="1857112" y="5017796"/>
            <a:ext cx="106158" cy="170986"/>
          </a:xfrm>
          <a:prstGeom prst="triangle">
            <a:avLst>
              <a:gd name="adj" fmla="val 50000"/>
            </a:avLst>
          </a:prstGeom>
          <a:solidFill>
            <a:srgbClr val="CFE2F3"/>
          </a:solidFill>
          <a:ln w="9525" cap="flat" cmpd="sng">
            <a:solidFill>
              <a:srgbClr val="351C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Picture 2" descr="Chart&#10;&#10;Description automatically generated">
            <a:extLst>
              <a:ext uri="{FF2B5EF4-FFF2-40B4-BE49-F238E27FC236}">
                <a16:creationId xmlns:a16="http://schemas.microsoft.com/office/drawing/2014/main" id="{00B5A549-9A4B-4A67-23CE-F4BC162628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6426" y="1364428"/>
            <a:ext cx="4980971" cy="2701598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0" name="Google Shape;209;p12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b="1">
                <a:latin typeface="Calibri"/>
                <a:ea typeface="Calibri"/>
                <a:cs typeface="Calibri"/>
                <a:sym typeface="Calibri"/>
              </a:rPr>
              <a:t>… Methodology</a:t>
            </a:r>
          </a:p>
        </p:txBody>
      </p:sp>
      <p:sp>
        <p:nvSpPr>
          <p:cNvPr id="1048601" name="Google Shape;210;p12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02" name="Google Shape;211;p12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03" name="Google Shape;212;p12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04" name="Google Shape;213;p12"/>
          <p:cNvSpPr txBox="1"/>
          <p:nvPr/>
        </p:nvSpPr>
        <p:spPr>
          <a:xfrm>
            <a:off x="1153326" y="1564451"/>
            <a:ext cx="4611878" cy="2976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Fully-Connected layer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Fully Connected Layers form the last few layers in the network. 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input to the fully connected layer is the output from the final Pooling or Convolutional Layer, which is flattened and then fed into the fully connected layer.</a:t>
            </a:r>
            <a:endParaRPr sz="2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48833" name="TextBox 1048832"/>
          <p:cNvSpPr txBox="1"/>
          <p:nvPr/>
        </p:nvSpPr>
        <p:spPr>
          <a:xfrm>
            <a:off x="7514193" y="1564451"/>
            <a:ext cx="4000000" cy="2885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Pooling Layer</a:t>
            </a:r>
            <a:endParaRPr sz="2800"/>
          </a:p>
          <a:p>
            <a:pPr marL="457200" marR="0" lvl="0" indent="-4572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pooling layer is used to reduce the dimensionality of the feature map.</a:t>
            </a:r>
            <a:endParaRPr sz="2800"/>
          </a:p>
          <a:p>
            <a:pPr marL="457200" marR="0" lvl="0" indent="-457200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There will be multiple activation &amp; pooling layers inside the hidden layer of the CNN.</a:t>
            </a:r>
            <a:endParaRPr lang="en-IN" sz="2800">
              <a:solidFill>
                <a:srgbClr val="000000"/>
              </a:solidFill>
            </a:endParaRP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1" name="Google Shape;218;p13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b="1">
                <a:latin typeface="Calibri"/>
                <a:ea typeface="Calibri"/>
                <a:cs typeface="Calibri"/>
                <a:sym typeface="Calibri"/>
              </a:rPr>
              <a:t>… Methodology</a:t>
            </a:r>
          </a:p>
        </p:txBody>
      </p:sp>
      <p:sp>
        <p:nvSpPr>
          <p:cNvPr id="1048632" name="Google Shape;219;p13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33" name="Google Shape;220;p13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34" name="Google Shape;221;p13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35" name="Google Shape;222;p13"/>
          <p:cNvSpPr txBox="1"/>
          <p:nvPr/>
        </p:nvSpPr>
        <p:spPr>
          <a:xfrm>
            <a:off x="1153326" y="1564451"/>
            <a:ext cx="10712986" cy="2545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Visual Stage</a:t>
            </a:r>
          </a:p>
          <a:p>
            <a:pPr marL="342900" marR="0" lvl="0" indent="-3429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After previous steps, a predicted text would be given as output</a:t>
            </a:r>
          </a:p>
          <a:p>
            <a:pPr marL="342900" marR="0" lvl="0" indent="-3429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We would convert the text-to-voice using the reliable python voice kit</a:t>
            </a:r>
          </a:p>
          <a:p>
            <a:pPr marL="342900" marR="0" lvl="0" indent="-34290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Audio would be played after conversion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2" name="Google Shape;227;p14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/>
              <a:t>Data Flow Diagram</a:t>
            </a:r>
          </a:p>
        </p:txBody>
      </p:sp>
      <p:sp>
        <p:nvSpPr>
          <p:cNvPr id="1048703" name="Google Shape;228;p14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04" name="Google Shape;229;p14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05" name="Google Shape;230;p14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06" name="Google Shape;231;p14"/>
          <p:cNvSpPr txBox="1"/>
          <p:nvPr/>
        </p:nvSpPr>
        <p:spPr>
          <a:xfrm>
            <a:off x="1153326" y="1564451"/>
            <a:ext cx="10712986" cy="71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DFD0</a:t>
            </a:r>
            <a:endParaRPr sz="11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62" name="Google Shape;232;p14" descr="D:\shital l\Grace\All data\Diagram Sample (1)\Diagram Sample\DFD 0.png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2492610" y="3607379"/>
            <a:ext cx="7206779" cy="833437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9" name="Google Shape;237;p15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/>
              <a:t>… Data Flow Diagram</a:t>
            </a:r>
          </a:p>
        </p:txBody>
      </p:sp>
      <p:sp>
        <p:nvSpPr>
          <p:cNvPr id="1048710" name="Google Shape;238;p15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11" name="Google Shape;239;p15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12" name="Google Shape;240;p15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13" name="Google Shape;241;p15"/>
          <p:cNvSpPr txBox="1"/>
          <p:nvPr/>
        </p:nvSpPr>
        <p:spPr>
          <a:xfrm>
            <a:off x="1153326" y="1564451"/>
            <a:ext cx="10712986" cy="71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DFD1</a:t>
            </a:r>
            <a:endParaRPr sz="11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63" name="Google Shape;242;p15" descr="D:\shital l\Grace\21CG170-E Sign Language\diagram\ESdfd1.drawio.png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2176079" y="2849801"/>
            <a:ext cx="7839842" cy="3222609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6" name="Google Shape;247;p16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/>
              <a:t>… Data Flow Diagram</a:t>
            </a:r>
          </a:p>
        </p:txBody>
      </p:sp>
      <p:sp>
        <p:nvSpPr>
          <p:cNvPr id="1048717" name="Google Shape;248;p16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18" name="Google Shape;249;p16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19" name="Google Shape;250;p16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20" name="Google Shape;251;p16"/>
          <p:cNvSpPr txBox="1"/>
          <p:nvPr/>
        </p:nvSpPr>
        <p:spPr>
          <a:xfrm>
            <a:off x="1153326" y="1564451"/>
            <a:ext cx="10712986" cy="71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DFD2</a:t>
            </a:r>
            <a:endParaRPr sz="11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64" name="Google Shape;252;p16" descr="D:\shital l\Grace\21CG170-E Sign Language\diagram\ESdfd2.drawio.png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3187859" y="1855676"/>
            <a:ext cx="8549651" cy="4592482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3" name="Google Shape;257;p17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/>
              <a:t>UML Diagram</a:t>
            </a:r>
          </a:p>
        </p:txBody>
      </p:sp>
      <p:sp>
        <p:nvSpPr>
          <p:cNvPr id="1048724" name="Google Shape;258;p17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25" name="Google Shape;259;p17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26" name="Google Shape;260;p17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27" name="Google Shape;261;p17"/>
          <p:cNvSpPr txBox="1"/>
          <p:nvPr/>
        </p:nvSpPr>
        <p:spPr>
          <a:xfrm>
            <a:off x="1153326" y="1564451"/>
            <a:ext cx="10712986" cy="71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</a:t>
            </a:r>
            <a:endParaRPr sz="11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65" name="Google Shape;262;p17" descr="D:\shital l\Grace\21CG170-E Sign Language\diagram\ESclass.drawio.png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3117287" y="2146990"/>
            <a:ext cx="8603806" cy="4134449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30" name="Google Shape;267;p18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/>
              <a:t>… UML Diagram</a:t>
            </a:r>
          </a:p>
        </p:txBody>
      </p:sp>
      <p:sp>
        <p:nvSpPr>
          <p:cNvPr id="1048731" name="Google Shape;268;p18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32" name="Google Shape;269;p18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33" name="Google Shape;270;p18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34" name="Google Shape;271;p18"/>
          <p:cNvSpPr txBox="1"/>
          <p:nvPr/>
        </p:nvSpPr>
        <p:spPr>
          <a:xfrm>
            <a:off x="1153326" y="1564451"/>
            <a:ext cx="10712986" cy="71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ACTIVITY</a:t>
            </a:r>
            <a:endParaRPr sz="11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66" name="Google Shape;272;p18" descr="D:\shital l\Grace\21CG170-E Sign Language\diagram\ESactivity.drawio.png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6923312" y="140742"/>
            <a:ext cx="2171527" cy="6576516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37" name="Google Shape;277;p19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/>
              <a:t>… UML Diagram</a:t>
            </a:r>
          </a:p>
        </p:txBody>
      </p:sp>
      <p:sp>
        <p:nvSpPr>
          <p:cNvPr id="1048738" name="Google Shape;278;p19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39" name="Google Shape;279;p19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40" name="Google Shape;280;p19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41" name="Google Shape;281;p19"/>
          <p:cNvSpPr txBox="1"/>
          <p:nvPr/>
        </p:nvSpPr>
        <p:spPr>
          <a:xfrm>
            <a:off x="1153326" y="1564451"/>
            <a:ext cx="10712986" cy="71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 CASE</a:t>
            </a:r>
            <a:endParaRPr sz="11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67" name="Google Shape;282;p19" descr="D:\shital l\Grace\21CG170-E Sign Language\diagram\ESusecase.drawio.png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4866967" y="1421219"/>
            <a:ext cx="6534271" cy="5129402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44" name="Google Shape;287;p20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/>
              <a:t>… UML Diagram</a:t>
            </a:r>
          </a:p>
        </p:txBody>
      </p:sp>
      <p:sp>
        <p:nvSpPr>
          <p:cNvPr id="1048745" name="Google Shape;288;p20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46" name="Google Shape;289;p20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47" name="Google Shape;290;p20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48" name="Google Shape;291;p20"/>
          <p:cNvSpPr txBox="1"/>
          <p:nvPr/>
        </p:nvSpPr>
        <p:spPr>
          <a:xfrm>
            <a:off x="1153326" y="1564451"/>
            <a:ext cx="10712986" cy="71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SEQUENCE</a:t>
            </a:r>
            <a:endParaRPr sz="11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68" name="Google Shape;292;p20" descr="D:\shital l\Grace\21CG170-E Sign Language\diagram\Essequence.drawio.png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6351639" y="904566"/>
            <a:ext cx="4948937" cy="5638929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1" name="Google Shape;297;p21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11111"/>
              <a:buFont typeface="Calibri"/>
              <a:buNone/>
            </a:pPr>
            <a:r>
              <a:rPr lang="en-US" b="1"/>
              <a:t>Minimum Hardware &amp; Software Requirement</a:t>
            </a:r>
          </a:p>
        </p:txBody>
      </p:sp>
      <p:sp>
        <p:nvSpPr>
          <p:cNvPr id="1048752" name="Google Shape;298;p21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3" name="Google Shape;299;p21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4" name="Google Shape;300;p21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5" name="Google Shape;301;p21"/>
          <p:cNvSpPr txBox="1">
            <a:spLocks noGrp="1"/>
          </p:cNvSpPr>
          <p:nvPr>
            <p:ph type="body" idx="1"/>
          </p:nvPr>
        </p:nvSpPr>
        <p:spPr>
          <a:xfrm>
            <a:off x="1309234" y="1317523"/>
            <a:ext cx="10636960" cy="5329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1800" b="1">
                <a:latin typeface="Times New Roman"/>
                <a:ea typeface="Times New Roman"/>
                <a:cs typeface="Times New Roman"/>
                <a:sym typeface="Times New Roman"/>
              </a:rPr>
              <a:t>Software Requirements:</a:t>
            </a:r>
            <a:endParaRPr sz="2400" b="1"/>
          </a:p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	Operating system 	:   </a:t>
            </a:r>
            <a:r>
              <a:rPr lang="en-US" sz="1800" b="1">
                <a:latin typeface="Times New Roman"/>
                <a:ea typeface="Times New Roman"/>
                <a:cs typeface="Times New Roman"/>
                <a:sym typeface="Times New Roman"/>
              </a:rPr>
              <a:t>64 bit Windows 10</a:t>
            </a:r>
            <a:endParaRPr sz="2400" b="1"/>
          </a:p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	Coding Language	:   </a:t>
            </a:r>
            <a:r>
              <a:rPr lang="en-US" sz="1800" b="1">
                <a:latin typeface="Times New Roman"/>
                <a:ea typeface="Times New Roman"/>
                <a:cs typeface="Times New Roman"/>
                <a:sym typeface="Times New Roman"/>
              </a:rPr>
              <a:t>Python</a:t>
            </a:r>
            <a:endParaRPr sz="2400" b="1"/>
          </a:p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	Design constraints	:   </a:t>
            </a:r>
            <a:r>
              <a:rPr lang="en-US" sz="1800" b="1">
                <a:latin typeface="Times New Roman"/>
                <a:ea typeface="Times New Roman"/>
                <a:cs typeface="Times New Roman"/>
                <a:sym typeface="Times New Roman"/>
              </a:rPr>
              <a:t>Spyder</a:t>
            </a:r>
            <a:endParaRPr sz="1800"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1800" b="1">
                <a:latin typeface="Times New Roman"/>
                <a:ea typeface="Times New Roman"/>
                <a:cs typeface="Times New Roman"/>
                <a:sym typeface="Times New Roman"/>
              </a:rPr>
              <a:t>Hardware Requirements:</a:t>
            </a:r>
            <a:endParaRPr sz="2400" b="1"/>
          </a:p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	System Processors	:  </a:t>
            </a:r>
            <a:r>
              <a:rPr lang="en-US" sz="1800" b="1">
                <a:latin typeface="Times New Roman"/>
                <a:ea typeface="Times New Roman"/>
                <a:cs typeface="Times New Roman"/>
                <a:sym typeface="Times New Roman"/>
              </a:rPr>
              <a:t>Intel i5</a:t>
            </a:r>
            <a:endParaRPr sz="1800"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	Speed		:  </a:t>
            </a:r>
            <a:r>
              <a:rPr lang="en-US" sz="1800" b="1">
                <a:latin typeface="Times New Roman"/>
                <a:ea typeface="Times New Roman"/>
                <a:cs typeface="Times New Roman"/>
                <a:sym typeface="Times New Roman"/>
              </a:rPr>
              <a:t>2.4 GHz</a:t>
            </a:r>
            <a:endParaRPr sz="1800"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	Hard Disk        	:  </a:t>
            </a:r>
            <a:r>
              <a:rPr lang="en-US" sz="1800" b="1">
                <a:latin typeface="Times New Roman"/>
                <a:ea typeface="Times New Roman"/>
                <a:cs typeface="Times New Roman"/>
                <a:sym typeface="Times New Roman"/>
              </a:rPr>
              <a:t>150 GB</a:t>
            </a:r>
            <a:endParaRPr sz="2400" b="1"/>
          </a:p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	RAM 		:  </a:t>
            </a:r>
            <a:r>
              <a:rPr lang="en-US" sz="1800" b="1">
                <a:latin typeface="Times New Roman"/>
                <a:ea typeface="Times New Roman"/>
                <a:cs typeface="Times New Roman"/>
                <a:sym typeface="Times New Roman"/>
              </a:rPr>
              <a:t>8 GB</a:t>
            </a:r>
            <a:endParaRPr sz="1800"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	Graphic Card	:  </a:t>
            </a:r>
            <a:r>
              <a:rPr lang="en-US" sz="1800" b="1">
                <a:latin typeface="Times New Roman"/>
                <a:ea typeface="Times New Roman"/>
                <a:cs typeface="Times New Roman"/>
                <a:sym typeface="Times New Roman"/>
              </a:rPr>
              <a:t>2 GB</a:t>
            </a:r>
            <a:endParaRPr sz="2400" b="1"/>
          </a:p>
          <a:p>
            <a:pPr marL="228600" lvl="0" indent="-1587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1050"/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1" name="Google Shape;297;p21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11111"/>
              <a:buFont typeface="Calibri"/>
              <a:buNone/>
            </a:pPr>
            <a:r>
              <a:rPr lang="en-US" b="1" dirty="0"/>
              <a:t>Python Function Used</a:t>
            </a:r>
          </a:p>
        </p:txBody>
      </p:sp>
      <p:sp>
        <p:nvSpPr>
          <p:cNvPr id="1048752" name="Google Shape;298;p21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3" name="Google Shape;299;p21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4" name="Google Shape;300;p21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A7DB88-BEE3-476D-AB66-74A33045F3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24027" y="1668309"/>
            <a:ext cx="10515600" cy="4351338"/>
          </a:xfrm>
        </p:spPr>
        <p:txBody>
          <a:bodyPr/>
          <a:lstStyle/>
          <a:p>
            <a:r>
              <a:rPr lang="en-IN" dirty="0" err="1"/>
              <a:t>Tensorflow</a:t>
            </a:r>
            <a:endParaRPr lang="en-IN" dirty="0"/>
          </a:p>
          <a:p>
            <a:r>
              <a:rPr lang="en-IN" dirty="0" err="1"/>
              <a:t>Keras</a:t>
            </a:r>
            <a:endParaRPr lang="en-IN" dirty="0"/>
          </a:p>
          <a:p>
            <a:r>
              <a:rPr lang="en-IN" dirty="0" err="1"/>
              <a:t>Numpy</a:t>
            </a:r>
            <a:endParaRPr lang="en-IN" dirty="0"/>
          </a:p>
          <a:p>
            <a:r>
              <a:rPr lang="en-IN" dirty="0"/>
              <a:t>Matplotlib</a:t>
            </a:r>
          </a:p>
        </p:txBody>
      </p:sp>
    </p:spTree>
    <p:extLst>
      <p:ext uri="{BB962C8B-B14F-4D97-AF65-F5344CB8AC3E}">
        <p14:creationId xmlns:p14="http://schemas.microsoft.com/office/powerpoint/2010/main" val="3922119911"/>
      </p:ext>
    </p:extLst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2" name="Google Shape;298;p21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3" name="Google Shape;299;p21"/>
          <p:cNvSpPr/>
          <p:nvPr/>
        </p:nvSpPr>
        <p:spPr>
          <a:xfrm>
            <a:off x="1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4" name="Google Shape;300;p21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A7DB88-BEE3-476D-AB66-74A33045F3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0"/>
            <a:ext cx="12192000" cy="6858000"/>
          </a:xfrm>
        </p:spPr>
        <p:txBody>
          <a:bodyPr anchor="ctr">
            <a:normAutofit/>
          </a:bodyPr>
          <a:lstStyle/>
          <a:p>
            <a:pPr marL="114300" indent="0" algn="ctr">
              <a:buNone/>
            </a:pPr>
            <a:r>
              <a:rPr lang="en-IN" sz="4000" b="1" dirty="0"/>
              <a:t>CODE EXPLAINATION</a:t>
            </a:r>
          </a:p>
        </p:txBody>
      </p:sp>
    </p:spTree>
    <p:extLst>
      <p:ext uri="{BB962C8B-B14F-4D97-AF65-F5344CB8AC3E}">
        <p14:creationId xmlns:p14="http://schemas.microsoft.com/office/powerpoint/2010/main" val="1936583860"/>
      </p:ext>
    </p:extLst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1" name="Google Shape;297;p21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11111"/>
              <a:buFont typeface="Calibri"/>
              <a:buNone/>
            </a:pPr>
            <a:r>
              <a:rPr lang="en-US" b="1" dirty="0"/>
              <a:t>Code General Info</a:t>
            </a:r>
          </a:p>
        </p:txBody>
      </p:sp>
      <p:sp>
        <p:nvSpPr>
          <p:cNvPr id="1048752" name="Google Shape;298;p21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3" name="Google Shape;299;p21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4" name="Google Shape;300;p21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A7DB88-BEE3-476D-AB66-74A33045F3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24027" y="1668309"/>
            <a:ext cx="10515600" cy="4351338"/>
          </a:xfrm>
        </p:spPr>
        <p:txBody>
          <a:bodyPr/>
          <a:lstStyle/>
          <a:p>
            <a:pPr lvl="1"/>
            <a:r>
              <a:rPr lang="en-IN" b="1" dirty="0"/>
              <a:t>For Training</a:t>
            </a:r>
          </a:p>
          <a:p>
            <a:pPr marL="571500" lvl="1" indent="0">
              <a:buNone/>
            </a:pPr>
            <a:r>
              <a:rPr lang="en-IN" dirty="0"/>
              <a:t>		2002 Image</a:t>
            </a:r>
          </a:p>
          <a:p>
            <a:pPr lvl="1"/>
            <a:r>
              <a:rPr lang="en-IN" b="1" dirty="0"/>
              <a:t>For Testing</a:t>
            </a:r>
          </a:p>
          <a:p>
            <a:pPr marL="1485900" lvl="3" indent="0">
              <a:buNone/>
            </a:pPr>
            <a:r>
              <a:rPr lang="en-IN" sz="2400" dirty="0"/>
              <a:t>	44 Images</a:t>
            </a:r>
          </a:p>
          <a:p>
            <a:pPr lvl="1"/>
            <a:r>
              <a:rPr lang="en-IN" b="1" dirty="0"/>
              <a:t>Batch Size</a:t>
            </a:r>
          </a:p>
          <a:p>
            <a:pPr marL="1485900" lvl="3" indent="0">
              <a:buNone/>
            </a:pPr>
            <a:r>
              <a:rPr lang="en-IN" sz="2400" dirty="0"/>
              <a:t>	10</a:t>
            </a:r>
          </a:p>
          <a:p>
            <a:pPr lvl="1"/>
            <a:r>
              <a:rPr lang="en-IN" b="1" dirty="0"/>
              <a:t>Epoch</a:t>
            </a:r>
          </a:p>
          <a:p>
            <a:pPr marL="1485900" lvl="3" indent="0">
              <a:buNone/>
            </a:pPr>
            <a:r>
              <a:rPr lang="en-IN" sz="2400" dirty="0"/>
              <a:t>	10</a:t>
            </a:r>
          </a:p>
          <a:p>
            <a:pPr marL="1485900" lvl="3" indent="0">
              <a:buNone/>
            </a:pPr>
            <a:endParaRPr lang="en-IN" sz="2400" dirty="0"/>
          </a:p>
          <a:p>
            <a:pPr marL="1485900" lvl="3" indent="0">
              <a:buNone/>
            </a:pPr>
            <a:endParaRPr lang="en-IN" sz="2400" dirty="0"/>
          </a:p>
          <a:p>
            <a:pPr marL="1485900" lvl="3" indent="0">
              <a:buNone/>
            </a:pPr>
            <a:endParaRPr lang="en-IN" sz="2400" dirty="0"/>
          </a:p>
          <a:p>
            <a:pPr marL="1485900" lvl="3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987841977"/>
      </p:ext>
    </p:extLst>
  </p:cSld>
  <p:clrMapOvr>
    <a:masterClrMapping/>
  </p:clrMapOvr>
  <p:transition spd="med">
    <p:wip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1" name="Google Shape;297;p21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11111"/>
              <a:buFont typeface="Calibri"/>
              <a:buNone/>
            </a:pPr>
            <a:r>
              <a:rPr lang="en-US" b="1" dirty="0"/>
              <a:t>Trained Sign</a:t>
            </a:r>
          </a:p>
        </p:txBody>
      </p:sp>
      <p:sp>
        <p:nvSpPr>
          <p:cNvPr id="1048752" name="Google Shape;298;p21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3" name="Google Shape;299;p21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4" name="Google Shape;300;p21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1E802F-B4AA-4135-9703-6AD5F0151D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2231703"/>
          </a:xfrm>
        </p:spPr>
        <p:txBody>
          <a:bodyPr numCol="2"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1800" dirty="0"/>
              <a:t>I am good, how you?</a:t>
            </a:r>
          </a:p>
          <a:p>
            <a:pPr>
              <a:buFont typeface="+mj-lt"/>
              <a:buAutoNum type="arabicPeriod"/>
            </a:pPr>
            <a:r>
              <a:rPr lang="en-US" sz="1800" dirty="0"/>
              <a:t>Good! See you later.</a:t>
            </a:r>
          </a:p>
          <a:p>
            <a:pPr>
              <a:buFont typeface="+mj-lt"/>
              <a:buAutoNum type="arabicPeriod"/>
            </a:pPr>
            <a:r>
              <a:rPr lang="en-US" sz="1800" dirty="0"/>
              <a:t>Good! See you later.</a:t>
            </a:r>
          </a:p>
          <a:p>
            <a:pPr>
              <a:buFont typeface="+mj-lt"/>
              <a:buAutoNum type="arabicPeriod"/>
            </a:pPr>
            <a:r>
              <a:rPr lang="en-US" sz="1800" dirty="0"/>
              <a:t>I am fine, all okay</a:t>
            </a:r>
          </a:p>
          <a:p>
            <a:pPr>
              <a:buFont typeface="+mj-lt"/>
              <a:buAutoNum type="arabicPeriod"/>
            </a:pPr>
            <a:r>
              <a:rPr lang="en-US" sz="1800" dirty="0"/>
              <a:t>I am good, how you?  </a:t>
            </a:r>
          </a:p>
          <a:p>
            <a:pPr>
              <a:buFont typeface="+mj-lt"/>
              <a:buAutoNum type="arabicPeriod"/>
            </a:pPr>
            <a:r>
              <a:rPr lang="en-US" sz="1800" dirty="0"/>
              <a:t>Hello! How are you?  </a:t>
            </a:r>
          </a:p>
          <a:p>
            <a:pPr>
              <a:buFont typeface="+mj-lt"/>
              <a:buAutoNum type="arabicPeriod"/>
            </a:pPr>
            <a:r>
              <a:rPr lang="en-US" sz="1800" dirty="0"/>
              <a:t>I am good, how you? </a:t>
            </a:r>
          </a:p>
          <a:p>
            <a:pPr>
              <a:buFont typeface="+mj-lt"/>
              <a:buAutoNum type="arabicPeriod"/>
            </a:pPr>
            <a:r>
              <a:rPr lang="en-US" sz="1800" dirty="0"/>
              <a:t> I am fine, all okay  </a:t>
            </a:r>
          </a:p>
          <a:p>
            <a:pPr>
              <a:buFont typeface="+mj-lt"/>
              <a:buAutoNum type="arabicPeriod"/>
            </a:pPr>
            <a:r>
              <a:rPr lang="en-US" sz="1800" dirty="0"/>
              <a:t>I am fine, all okay  </a:t>
            </a:r>
          </a:p>
          <a:p>
            <a:pPr>
              <a:buFont typeface="+mj-lt"/>
              <a:buAutoNum type="arabicPeriod"/>
            </a:pPr>
            <a:r>
              <a:rPr lang="en-US" sz="1800" dirty="0"/>
              <a:t>Hello! How are you?</a:t>
            </a:r>
            <a:endParaRPr lang="en-IN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81F717-3A30-4D5D-9D2D-9498D055B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36" y="4224968"/>
            <a:ext cx="10515600" cy="357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209851"/>
      </p:ext>
    </p:extLst>
  </p:cSld>
  <p:clrMapOvr>
    <a:masterClrMapping/>
  </p:clrMapOvr>
  <p:transition spd="med">
    <p:wip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1" name="Google Shape;297;p21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11111"/>
              <a:buFont typeface="Calibri"/>
              <a:buNone/>
            </a:pPr>
            <a:r>
              <a:rPr lang="en-US" b="1" dirty="0"/>
              <a:t>Epoch Output</a:t>
            </a:r>
          </a:p>
        </p:txBody>
      </p:sp>
      <p:sp>
        <p:nvSpPr>
          <p:cNvPr id="1048752" name="Google Shape;298;p21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3" name="Google Shape;299;p21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4" name="Google Shape;300;p21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81F717-3A30-4D5D-9D2D-9498D055B6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31040" y="1546460"/>
            <a:ext cx="8329919" cy="495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669576"/>
      </p:ext>
    </p:extLst>
  </p:cSld>
  <p:clrMapOvr>
    <a:masterClrMapping/>
  </p:clrMapOvr>
  <p:transition spd="med">
    <p:wip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1" name="Google Shape;297;p21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11111"/>
              <a:buFont typeface="Calibri"/>
              <a:buNone/>
            </a:pPr>
            <a:r>
              <a:rPr lang="en-US" b="1" dirty="0"/>
              <a:t>Code Output</a:t>
            </a:r>
          </a:p>
        </p:txBody>
      </p:sp>
      <p:sp>
        <p:nvSpPr>
          <p:cNvPr id="1048752" name="Google Shape;298;p21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3" name="Google Shape;299;p21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4" name="Google Shape;300;p21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1E802F-B4AA-4135-9703-6AD5F0151D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AB5310-1226-4ECD-89C2-E98162E5A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068" y="1992774"/>
            <a:ext cx="4634064" cy="30666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197D84-8ABD-463A-9610-E799E6AADE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984891"/>
            <a:ext cx="5088971" cy="3066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509778"/>
      </p:ext>
    </p:extLst>
  </p:cSld>
  <p:clrMapOvr>
    <a:masterClrMapping/>
  </p:clrMapOvr>
  <p:transition spd="med">
    <p:wip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1" name="Google Shape;297;p21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11111"/>
              <a:buFont typeface="Calibri"/>
              <a:buNone/>
            </a:pPr>
            <a:r>
              <a:rPr lang="en-US" b="1" dirty="0"/>
              <a:t>Code Output…</a:t>
            </a:r>
          </a:p>
        </p:txBody>
      </p:sp>
      <p:sp>
        <p:nvSpPr>
          <p:cNvPr id="1048752" name="Google Shape;298;p21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3" name="Google Shape;299;p21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54" name="Google Shape;300;p21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1E802F-B4AA-4135-9703-6AD5F0151D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AB5310-1226-4ECD-89C2-E98162E5A4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50068" y="2129837"/>
            <a:ext cx="4634064" cy="27924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197D84-8ABD-463A-9610-E799E6AADE4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6000" y="3004555"/>
            <a:ext cx="5010956" cy="3066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700818"/>
      </p:ext>
    </p:extLst>
  </p:cSld>
  <p:clrMapOvr>
    <a:masterClrMapping/>
  </p:clrMapOvr>
  <p:transition spd="med">
    <p:wip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8" name="Google Shape;306;p22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 dirty="0"/>
              <a:t>Limitation of Our Project</a:t>
            </a:r>
          </a:p>
        </p:txBody>
      </p:sp>
      <p:sp>
        <p:nvSpPr>
          <p:cNvPr id="1048759" name="Google Shape;307;p22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60" name="Google Shape;308;p22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61" name="Google Shape;309;p22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62" name="Google Shape;310;p22"/>
          <p:cNvSpPr txBox="1"/>
          <p:nvPr/>
        </p:nvSpPr>
        <p:spPr>
          <a:xfrm>
            <a:off x="1386348" y="1523999"/>
            <a:ext cx="10481187" cy="5132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create gesture, proper setup is needed with proper lighting, best webcam or camera</a:t>
            </a:r>
          </a:p>
          <a:p>
            <a:pPr marL="228600" marR="0" lvl="0" indent="-2286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000" dirty="0">
                <a:solidFill>
                  <a:schemeClr val="dk1"/>
                </a:solidFill>
                <a:latin typeface="Times New Roman"/>
                <a:ea typeface="Calibri"/>
                <a:cs typeface="Times New Roman"/>
                <a:sym typeface="Times New Roman"/>
              </a:rPr>
              <a:t>Huge dataset – Sign gesture of multi person is needed to be done so to increase accuracy.</a:t>
            </a:r>
          </a:p>
          <a:p>
            <a:pPr marL="228600" marR="0" lvl="0" indent="-2286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000" dirty="0">
                <a:solidFill>
                  <a:schemeClr val="dk1"/>
                </a:solidFill>
                <a:latin typeface="Times New Roman"/>
                <a:ea typeface="Calibri"/>
                <a:cs typeface="Times New Roman"/>
                <a:sym typeface="Times New Roman"/>
              </a:rPr>
              <a:t>High end CPU is needed to perform complex computation.</a:t>
            </a:r>
          </a:p>
          <a:p>
            <a:pPr marL="228600" marR="0" lvl="0" indent="-2286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000" dirty="0">
                <a:solidFill>
                  <a:schemeClr val="dk1"/>
                </a:solidFill>
                <a:latin typeface="Times New Roman"/>
                <a:ea typeface="Calibri"/>
                <a:cs typeface="Times New Roman"/>
                <a:sym typeface="Times New Roman"/>
              </a:rPr>
              <a:t>Program lag due to lack to RAM allocation and GPU.</a:t>
            </a:r>
          </a:p>
        </p:txBody>
      </p:sp>
    </p:spTree>
    <p:extLst>
      <p:ext uri="{BB962C8B-B14F-4D97-AF65-F5344CB8AC3E}">
        <p14:creationId xmlns:p14="http://schemas.microsoft.com/office/powerpoint/2010/main" val="2347854230"/>
      </p:ext>
    </p:extLst>
  </p:cSld>
  <p:clrMapOvr>
    <a:masterClrMapping/>
  </p:clrMapOvr>
  <p:transition spd="med">
    <p:wip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8" name="Google Shape;306;p22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 dirty="0"/>
              <a:t>Future Work Scope</a:t>
            </a:r>
          </a:p>
        </p:txBody>
      </p:sp>
      <p:sp>
        <p:nvSpPr>
          <p:cNvPr id="1048759" name="Google Shape;307;p22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60" name="Google Shape;308;p22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61" name="Google Shape;309;p22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62" name="Google Shape;310;p22"/>
          <p:cNvSpPr txBox="1"/>
          <p:nvPr/>
        </p:nvSpPr>
        <p:spPr>
          <a:xfrm>
            <a:off x="1386348" y="1523999"/>
            <a:ext cx="10481187" cy="5132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make sentence as per multi gesture</a:t>
            </a:r>
          </a:p>
          <a:p>
            <a:pPr marL="228600" marR="0" lvl="0" indent="-2286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000" b="0" i="0" u="none" strike="noStrike" cap="none" dirty="0">
                <a:solidFill>
                  <a:schemeClr val="dk1"/>
                </a:solidFill>
                <a:latin typeface="Times New Roman"/>
                <a:ea typeface="Calibri"/>
                <a:cs typeface="Times New Roman"/>
                <a:sym typeface="Times New Roman"/>
              </a:rPr>
              <a:t>Take video input as dataset, such as to identify </a:t>
            </a:r>
            <a:r>
              <a:rPr lang="en-IN" sz="2000" dirty="0">
                <a:solidFill>
                  <a:schemeClr val="dk1"/>
                </a:solidFill>
                <a:latin typeface="Times New Roman"/>
                <a:ea typeface="Calibri"/>
                <a:cs typeface="Times New Roman"/>
                <a:sym typeface="Times New Roman"/>
              </a:rPr>
              <a:t>hand shake</a:t>
            </a:r>
          </a:p>
          <a:p>
            <a:pPr marL="228600" marR="0" lvl="0" indent="-2286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000" dirty="0">
                <a:solidFill>
                  <a:schemeClr val="dk1"/>
                </a:solidFill>
                <a:latin typeface="Times New Roman"/>
                <a:ea typeface="Calibri"/>
                <a:cs typeface="Times New Roman"/>
                <a:sym typeface="Times New Roman"/>
              </a:rPr>
              <a:t>To integrate emotional sentiments,</a:t>
            </a:r>
          </a:p>
          <a:p>
            <a:pPr marR="0" lvl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</a:pPr>
            <a:r>
              <a:rPr lang="en-IN" sz="2000" dirty="0">
                <a:solidFill>
                  <a:schemeClr val="dk1"/>
                </a:solidFill>
                <a:latin typeface="Times New Roman"/>
                <a:ea typeface="Calibri"/>
                <a:cs typeface="Times New Roman"/>
                <a:sym typeface="Times New Roman"/>
              </a:rPr>
              <a:t>	</a:t>
            </a:r>
            <a:r>
              <a:rPr lang="en-IN" sz="2000" dirty="0" err="1">
                <a:solidFill>
                  <a:schemeClr val="dk1"/>
                </a:solidFill>
                <a:latin typeface="Times New Roman"/>
                <a:ea typeface="Calibri"/>
                <a:cs typeface="Times New Roman"/>
                <a:sym typeface="Times New Roman"/>
              </a:rPr>
              <a:t>Eg.</a:t>
            </a:r>
            <a:r>
              <a:rPr lang="en-IN" sz="2000" dirty="0">
                <a:solidFill>
                  <a:schemeClr val="dk1"/>
                </a:solidFill>
                <a:latin typeface="Times New Roman"/>
                <a:ea typeface="Calibri"/>
                <a:cs typeface="Times New Roman"/>
                <a:sym typeface="Times New Roman"/>
              </a:rPr>
              <a:t> “Hello” and “Bye” have same signature so we have  to identify what conversation was going on.</a:t>
            </a:r>
          </a:p>
        </p:txBody>
      </p:sp>
    </p:spTree>
    <p:extLst>
      <p:ext uri="{BB962C8B-B14F-4D97-AF65-F5344CB8AC3E}">
        <p14:creationId xmlns:p14="http://schemas.microsoft.com/office/powerpoint/2010/main" val="3543672964"/>
      </p:ext>
    </p:extLst>
  </p:cSld>
  <p:clrMapOvr>
    <a:masterClrMapping/>
  </p:clrMapOvr>
  <p:transition spd="med">
    <p:wip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8" name="Google Shape;306;p22"/>
          <p:cNvSpPr txBox="1">
            <a:spLocks noGrp="1"/>
          </p:cNvSpPr>
          <p:nvPr>
            <p:ph type="title"/>
          </p:nvPr>
        </p:nvSpPr>
        <p:spPr>
          <a:xfrm>
            <a:off x="1764099" y="-3732"/>
            <a:ext cx="10318425" cy="1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/>
              <a:t>Conclusion</a:t>
            </a:r>
          </a:p>
        </p:txBody>
      </p:sp>
      <p:sp>
        <p:nvSpPr>
          <p:cNvPr id="1048759" name="Google Shape;307;p22"/>
          <p:cNvSpPr/>
          <p:nvPr/>
        </p:nvSpPr>
        <p:spPr>
          <a:xfrm>
            <a:off x="1" y="0"/>
            <a:ext cx="1764099" cy="1022556"/>
          </a:xfrm>
          <a:custGeom>
            <a:avLst/>
            <a:gdLst/>
            <a:ahLst/>
            <a:cxnLst/>
            <a:rect l="l" t="t" r="r" b="b"/>
            <a:pathLst>
              <a:path w="1764099" h="1558212" extrusionOk="0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60" name="Google Shape;308;p22"/>
          <p:cNvSpPr/>
          <p:nvPr/>
        </p:nvSpPr>
        <p:spPr>
          <a:xfrm>
            <a:off x="1" y="1190196"/>
            <a:ext cx="12191999" cy="5667804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61" name="Google Shape;309;p22"/>
          <p:cNvSpPr/>
          <p:nvPr/>
        </p:nvSpPr>
        <p:spPr>
          <a:xfrm>
            <a:off x="0" y="1190196"/>
            <a:ext cx="971654" cy="2096979"/>
          </a:xfrm>
          <a:custGeom>
            <a:avLst/>
            <a:gdLst/>
            <a:ahLst/>
            <a:cxnLst/>
            <a:rect l="l" t="t" r="r" b="b"/>
            <a:pathLst>
              <a:path w="971654" h="2096979" extrusionOk="0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62" name="Google Shape;310;p22"/>
          <p:cNvSpPr txBox="1"/>
          <p:nvPr/>
        </p:nvSpPr>
        <p:spPr>
          <a:xfrm>
            <a:off x="1386348" y="1523999"/>
            <a:ext cx="10481187" cy="5132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 neural network  based  method  for  </a:t>
            </a:r>
            <a:r>
              <a:rPr lang="en-US"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automatically  recognizing  the  finger spelling  in  Indian  sign  language  </a:t>
            </a: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  developed in this project.  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 signs  are  identified  by  the  </a:t>
            </a:r>
            <a:r>
              <a:rPr lang="en-US"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features  extracted  from  the  hand  shapes</a:t>
            </a: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 method is implemented completely by </a:t>
            </a:r>
            <a:r>
              <a:rPr lang="en-US"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utilizing digital image  processing techniques </a:t>
            </a: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 the user </a:t>
            </a:r>
            <a:r>
              <a:rPr lang="en-US"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does not have to wear any  special hardware device or gloves </a:t>
            </a: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get the features of the hand shape.  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Our  proposed  method  has  </a:t>
            </a:r>
            <a:r>
              <a:rPr lang="en-US"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low  computational  complexity  and  very  high  accuracy  </a:t>
            </a: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when  compared to the existing methods.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wip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72" name="Google Shape;324;p24"/>
          <p:cNvSpPr/>
          <p:nvPr/>
        </p:nvSpPr>
        <p:spPr>
          <a:xfrm>
            <a:off x="-1327355" y="0"/>
            <a:ext cx="13519354" cy="6858000"/>
          </a:xfrm>
          <a:custGeom>
            <a:avLst/>
            <a:gdLst/>
            <a:ahLst/>
            <a:cxnLst/>
            <a:rect l="l" t="t" r="r" b="b"/>
            <a:pathLst>
              <a:path w="12191999" h="5166360" extrusionOk="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73" name="Google Shape;325;p24"/>
          <p:cNvSpPr txBox="1">
            <a:spLocks noGrp="1"/>
          </p:cNvSpPr>
          <p:nvPr>
            <p:ph type="title"/>
          </p:nvPr>
        </p:nvSpPr>
        <p:spPr>
          <a:xfrm>
            <a:off x="-1331088" y="34850"/>
            <a:ext cx="13600252" cy="68617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/>
              <a:t>Thank You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901</Words>
  <Application>Microsoft Office PowerPoint</Application>
  <PresentationFormat>Widescreen</PresentationFormat>
  <Paragraphs>129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Times New Roman</vt:lpstr>
      <vt:lpstr>Office Theme</vt:lpstr>
      <vt:lpstr>G. H. Raisoni Institute of Engineering and Technology, Wagholi, Pune Department of Computer</vt:lpstr>
      <vt:lpstr>INTRODUCTION</vt:lpstr>
      <vt:lpstr>PROBLEM STATEMENT</vt:lpstr>
      <vt:lpstr>System Architecture</vt:lpstr>
      <vt:lpstr>Methodology</vt:lpstr>
      <vt:lpstr>… Methodology</vt:lpstr>
      <vt:lpstr>… Methodology</vt:lpstr>
      <vt:lpstr>Data Flow Diagram</vt:lpstr>
      <vt:lpstr>… Data Flow Diagram</vt:lpstr>
      <vt:lpstr>… Data Flow Diagram</vt:lpstr>
      <vt:lpstr>UML Diagram</vt:lpstr>
      <vt:lpstr>… UML Diagram</vt:lpstr>
      <vt:lpstr>… UML Diagram</vt:lpstr>
      <vt:lpstr>… UML Diagram</vt:lpstr>
      <vt:lpstr>Minimum Hardware &amp; Software Requirement</vt:lpstr>
      <vt:lpstr>Python Function Used</vt:lpstr>
      <vt:lpstr>PowerPoint Presentation</vt:lpstr>
      <vt:lpstr>Code General Info</vt:lpstr>
      <vt:lpstr>Trained Sign</vt:lpstr>
      <vt:lpstr>Epoch Output</vt:lpstr>
      <vt:lpstr>Code Output</vt:lpstr>
      <vt:lpstr>Code Output…</vt:lpstr>
      <vt:lpstr>Limitation of Our Project</vt:lpstr>
      <vt:lpstr>Future Work Scope</vt:lpstr>
      <vt:lpstr>Conclusion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G. H. Raisoni Institute of Engineering and Technology, Wagholi, Pune Department of Computer</dc:title>
  <dc:creator>Redmi Note 4</dc:creator>
  <cp:lastModifiedBy>Sandeep Malviya</cp:lastModifiedBy>
  <cp:revision>22</cp:revision>
  <dcterms:created xsi:type="dcterms:W3CDTF">2022-01-04T21:58:40Z</dcterms:created>
  <dcterms:modified xsi:type="dcterms:W3CDTF">2022-05-16T09:40:28Z</dcterms:modified>
</cp:coreProperties>
</file>