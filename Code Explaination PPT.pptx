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61" r:id="rId4"/>
    <p:sldId id="264" r:id="rId5"/>
    <p:sldId id="265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85" r:id="rId16"/>
    <p:sldId id="282" r:id="rId17"/>
    <p:sldId id="286" r:id="rId18"/>
    <p:sldId id="283" r:id="rId19"/>
    <p:sldId id="284" r:id="rId20"/>
    <p:sldId id="278" r:id="rId21"/>
    <p:sldId id="279" r:id="rId22"/>
    <p:sldId id="281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C44EE8-7676-4859-97A3-99AFE2CE51D3}" v="4" dt="2022-05-15T18:16:47.557"/>
    <p1510:client id="{F9D84AD3-04A6-4BA7-AEAF-F8DBDCE41712}" v="16" dt="2022-05-15T17:19:30.303"/>
  </p1510:revLst>
</p1510:revInfo>
</file>

<file path=ppt/tableStyles.xml><?xml version="1.0" encoding="utf-8"?>
<a:tblStyleLst xmlns:a="http://schemas.openxmlformats.org/drawingml/2006/main" def="{5C22544A-7EE6-4342-B048-85BDC9FD1C3A}">
  <a:tblStyle styleId="{2F766FBE-8AF5-4515-8E5C-107FC7148F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  <a:fill>
          <a:solidFill>
            <a:srgbClr val="CDD4EA"/>
          </a:solidFill>
        </a:fill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  <a:fill>
          <a:solidFill>
            <a:srgbClr val="CDD4EA"/>
          </a:solidFill>
        </a:fill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seCell>
    <a:swCell>
      <a:tcTxStyle b="off" i="off"/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neCell>
    <a:nwCell>
      <a:tcTxStyle b="off" i="off"/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825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661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669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69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630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614" name="Google Shape;1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606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637" name="Google Shape;2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Google Shape;22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08" name="Google Shape;2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Google Shape;23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15" name="Google Shape;2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Google Shape;24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22" name="Google Shape;24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Google Shape;25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29" name="Google Shape;25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Google Shape;26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36" name="Google Shape;2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Google Shape;27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43" name="Google Shape;27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Google Shape;28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50" name="Google Shape;2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Google Shape;2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57" name="Google Shape;2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9057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Google Shape;2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57" name="Google Shape;2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66313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Google Shape;2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57" name="Google Shape;2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89595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Google Shape;2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57" name="Google Shape;2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75662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Google Shape;2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57" name="Google Shape;2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36118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Google Shape;2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57" name="Google Shape;2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Google Shape;30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64" name="Google Shape;30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Google Shape;32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8775" name="Google Shape;32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Google Shape;12;p26"/>
          <p:cNvSpPr txBox="1"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3" name="Google Shape;13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48644" name="Google Shape;14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15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8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9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83" name="Google Shape;20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4" name="Google Shape;21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22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Google Shape;24;p2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09" name="Google Shape;25;p2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810" name="Google Shape;26;p2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11" name="Google Shape;27;p2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12" name="Google Shape;28;p2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Google Shape;30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77" name="Google Shape;3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778" name="Google Shape;32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779" name="Google Shape;33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80" name="Google Shape;34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81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Google Shape;37;p3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83" name="Google Shape;38;p3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84" name="Google Shape;39;p3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785" name="Google Shape;40;p3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86" name="Google Shape;41;p3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787" name="Google Shape;42;p3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88" name="Google Shape;43;p3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89" name="Google Shape;44;p3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9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00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01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Google Shape;55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19" name="Google Shape;56;p3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820" name="Google Shape;57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48821" name="Google Shape;58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22" name="Google Shape;59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23" name="Google Shape;60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Google Shape;62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03" name="Google Shape;63;p3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48804" name="Google Shape;64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48805" name="Google Shape;65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06" name="Google Shape;66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07" name="Google Shape;67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Google Shape;69;p3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14" name="Google Shape;70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815" name="Google Shape;71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16" name="Google Shape;72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17" name="Google Shape;73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Google Shape;75;p36"/>
          <p:cNvSpPr txBox="1">
            <a:spLocks noGrp="1"/>
          </p:cNvSpPr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95" name="Google Shape;76;p36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796" name="Google Shape;77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97" name="Google Shape;78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98" name="Google Shape;79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8577" name="Google Shape;7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8" name="Google Shape;8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9" name="Google Shape;9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80" name="Google Shape;10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med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8" name="Google Shape;85;p1"/>
          <p:cNvSpPr/>
          <p:nvPr/>
        </p:nvSpPr>
        <p:spPr>
          <a:xfrm rot="2700000">
            <a:off x="82782" y="-1386168"/>
            <a:ext cx="2424873" cy="3611191"/>
          </a:xfrm>
          <a:custGeom>
            <a:avLst/>
            <a:gdLst/>
            <a:ahLst/>
            <a:cxnLst/>
            <a:rect l="l" t="t" r="r" b="b"/>
            <a:pathLst>
              <a:path w="2424873" h="3611191" extrusionOk="0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9" name="Google Shape;86;p1"/>
          <p:cNvSpPr/>
          <p:nvPr/>
        </p:nvSpPr>
        <p:spPr>
          <a:xfrm rot="2700000">
            <a:off x="1571000" y="-338582"/>
            <a:ext cx="1635955" cy="1635955"/>
          </a:xfrm>
          <a:custGeom>
            <a:avLst/>
            <a:gdLst/>
            <a:ahLst/>
            <a:cxnLst/>
            <a:rect l="l" t="t" r="r" b="b"/>
            <a:pathLst>
              <a:path w="1635955" h="1635955" extrusionOk="0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0" name="Google Shape;87;p1"/>
          <p:cNvSpPr/>
          <p:nvPr/>
        </p:nvSpPr>
        <p:spPr>
          <a:xfrm rot="2700000">
            <a:off x="9627985" y="-6588"/>
            <a:ext cx="4059393" cy="2548110"/>
          </a:xfrm>
          <a:custGeom>
            <a:avLst/>
            <a:gdLst/>
            <a:ahLst/>
            <a:cxnLst/>
            <a:rect l="l" t="t" r="r" b="b"/>
            <a:pathLst>
              <a:path w="4059393" h="2548110" extrusionOk="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2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1" name="Google Shape;88;p1"/>
          <p:cNvSpPr/>
          <p:nvPr/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2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2" name="Google Shape;89;p1"/>
          <p:cNvSpPr/>
          <p:nvPr/>
        </p:nvSpPr>
        <p:spPr>
          <a:xfrm rot="2700000">
            <a:off x="-29557" y="5198743"/>
            <a:ext cx="2444907" cy="2366116"/>
          </a:xfrm>
          <a:custGeom>
            <a:avLst/>
            <a:gdLst/>
            <a:ahLst/>
            <a:cxnLst/>
            <a:rect l="l" t="t" r="r" b="b"/>
            <a:pathLst>
              <a:path w="2203753" h="2132734" extrusionOk="0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2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3" name="Google Shape;90;p1"/>
          <p:cNvSpPr/>
          <p:nvPr/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2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4" name="Google Shape;91;p1"/>
          <p:cNvSpPr/>
          <p:nvPr/>
        </p:nvSpPr>
        <p:spPr>
          <a:xfrm rot="2700000">
            <a:off x="3401311" y="734311"/>
            <a:ext cx="5389379" cy="5389379"/>
          </a:xfrm>
          <a:custGeom>
            <a:avLst/>
            <a:gdLst/>
            <a:ahLst/>
            <a:cxnLst/>
            <a:rect l="l" t="t" r="r" b="b"/>
            <a:pathLst>
              <a:path w="5389379" h="5389379" extrusionOk="0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5" name="Google Shape;92;p1"/>
          <p:cNvSpPr/>
          <p:nvPr/>
        </p:nvSpPr>
        <p:spPr>
          <a:xfrm rot="2700000">
            <a:off x="2700283" y="33283"/>
            <a:ext cx="6791435" cy="6791435"/>
          </a:xfrm>
          <a:custGeom>
            <a:avLst/>
            <a:gdLst/>
            <a:ahLst/>
            <a:cxnLst/>
            <a:rect l="l" t="t" r="r" b="b"/>
            <a:pathLst>
              <a:path w="6791435" h="6791435" extrusionOk="0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6" name="Google Shape;93;p1"/>
          <p:cNvSpPr txBox="1">
            <a:spLocks noGrp="1"/>
          </p:cNvSpPr>
          <p:nvPr>
            <p:ph type="ctrTitle"/>
          </p:nvPr>
        </p:nvSpPr>
        <p:spPr>
          <a:xfrm>
            <a:off x="2141348" y="297348"/>
            <a:ext cx="9791483" cy="1440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500"/>
              <a:buFont typeface="Calibri"/>
              <a:buNone/>
            </a:pPr>
            <a:r>
              <a:rPr lang="en-US" sz="3500" b="1">
                <a:solidFill>
                  <a:srgbClr val="080808"/>
                </a:solidFill>
              </a:rPr>
              <a:t>G. H. Raisoni Institute of Engineering and Technology, Wagholi, Pune</a:t>
            </a:r>
            <a:br>
              <a:rPr lang="en-US" sz="3500" b="1"/>
            </a:br>
            <a:r>
              <a:rPr lang="en-US" sz="3500" b="1">
                <a:solidFill>
                  <a:srgbClr val="080808"/>
                </a:solidFill>
              </a:rPr>
              <a:t>Department of Computer</a:t>
            </a:r>
            <a:endParaRPr sz="3600">
              <a:solidFill>
                <a:srgbClr val="080808"/>
              </a:solidFill>
            </a:endParaRPr>
          </a:p>
        </p:txBody>
      </p:sp>
      <p:sp>
        <p:nvSpPr>
          <p:cNvPr id="1048657" name="Google Shape;94;p1"/>
          <p:cNvSpPr/>
          <p:nvPr/>
        </p:nvSpPr>
        <p:spPr>
          <a:xfrm rot="2700000">
            <a:off x="9629823" y="5457591"/>
            <a:ext cx="2231794" cy="2568811"/>
          </a:xfrm>
          <a:custGeom>
            <a:avLst/>
            <a:gdLst/>
            <a:ahLst/>
            <a:cxnLst/>
            <a:rect l="l" t="t" r="r" b="b"/>
            <a:pathLst>
              <a:path w="2940086" h="3384061" extrusionOk="0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8" name="Google Shape;95;p1"/>
          <p:cNvSpPr/>
          <p:nvPr/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9" name="Google Shape;96;p1"/>
          <p:cNvSpPr txBox="1"/>
          <p:nvPr/>
        </p:nvSpPr>
        <p:spPr>
          <a:xfrm>
            <a:off x="259168" y="2243451"/>
            <a:ext cx="11673663" cy="4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NAME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Sign Language To English Language Conversion Using CNN For Disabled People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Vaibhavi Padamwar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Sandeep Malviya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Harshada Patil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Sanghavi Appam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Disha Deotale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7155" name="Google Shape;97;p1" descr="Logo  Description automatically generated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59168" y="241077"/>
            <a:ext cx="1733550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Google Shape;102;p2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INTRODUCTION</a:t>
            </a:r>
          </a:p>
        </p:txBody>
      </p:sp>
      <p:sp>
        <p:nvSpPr>
          <p:cNvPr id="1048663" name="Google Shape;103;p2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4" name="Google Shape;104;p2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5" name="Google Shape;105;p2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6" name="Google Shape;106;p2"/>
          <p:cNvSpPr txBox="1">
            <a:spLocks noGrp="1"/>
          </p:cNvSpPr>
          <p:nvPr>
            <p:ph type="body" idx="1"/>
          </p:nvPr>
        </p:nvSpPr>
        <p:spPr>
          <a:xfrm>
            <a:off x="1219200" y="1406012"/>
            <a:ext cx="10785987" cy="111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There are people who are facing illnesses such as deafness or dumbness.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They face difficulty interacting with others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. Previously developed techniques are all sensors based and they didn’t give the general solution.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6" name="Google Shape;107;p2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8288326" y="2556392"/>
            <a:ext cx="3636883" cy="3655616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67" name="Google Shape;108;p2"/>
          <p:cNvSpPr txBox="1"/>
          <p:nvPr/>
        </p:nvSpPr>
        <p:spPr>
          <a:xfrm>
            <a:off x="1219200" y="2438399"/>
            <a:ext cx="6870741" cy="416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7955"/>
          </a:bodyPr>
          <a:lstStyle/>
          <a:p>
            <a:pPr marL="228600" marR="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presentation explains a new technique of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 talking without sensors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Convolutional Neural Network has been used to train the System. Web Camera is used to take the image of different gestures and that will be used as input to the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MATLAB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 </a:t>
            </a:r>
          </a:p>
          <a:p>
            <a:pPr marL="228600" marR="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will recognize the image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identify the cores sign language and convert them to English language and give voice output using a voice replay kit.</a:t>
            </a:r>
          </a:p>
          <a:p>
            <a:pPr marL="228600" marR="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as two-way communications between the dumb and normal people would be capable by converting the sign language to text and voice for various uses such as on video conference.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Google Shape;134;p5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PROBLEM STATEMENT</a:t>
            </a:r>
          </a:p>
        </p:txBody>
      </p:sp>
      <p:sp>
        <p:nvSpPr>
          <p:cNvPr id="1048687" name="Google Shape;135;p5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8" name="Google Shape;136;p5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9" name="Google Shape;137;p5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90" name="Google Shape;138;p5"/>
          <p:cNvSpPr txBox="1">
            <a:spLocks noGrp="1"/>
          </p:cNvSpPr>
          <p:nvPr>
            <p:ph type="body" idx="1"/>
          </p:nvPr>
        </p:nvSpPr>
        <p:spPr>
          <a:xfrm>
            <a:off x="1337186" y="1445341"/>
            <a:ext cx="10609007" cy="5083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Around 46 Million people in the world are handicap who can’t speak or listen properly.</a:t>
            </a:r>
            <a:endParaRPr sz="240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Dumb people use hand signs to communicate, hence normal people face problem in recognizing their language by signs made.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hearing impaired people always have problem in communicating with normal people. </a:t>
            </a:r>
            <a:endParaRPr sz="240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They have problem in conveying their thoughts and ideas to normal people who have very limited or sometimes no knowledge in sign language. 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makes the hearing impaired community lose interest in common activities and they avoid communicating with normal people at times and live in isolation. 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63;p8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</a:p>
        </p:txBody>
      </p:sp>
      <p:sp>
        <p:nvSpPr>
          <p:cNvPr id="1048623" name="Google Shape;164;p8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4" name="Google Shape;165;p8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5" name="Google Shape;166;p8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54" name="Google Shape;167;p8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220943" y="1522152"/>
            <a:ext cx="10251383" cy="5335848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26" name="TextBox 1048625"/>
          <p:cNvSpPr txBox="1"/>
          <p:nvPr/>
        </p:nvSpPr>
        <p:spPr>
          <a:xfrm>
            <a:off x="10558289" y="5217726"/>
            <a:ext cx="1122514" cy="2311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Text as a output</a:t>
            </a:r>
            <a:endParaRPr lang="en-IN" sz="1000">
              <a:solidFill>
                <a:srgbClr val="000000"/>
              </a:solidFill>
            </a:endParaRPr>
          </a:p>
        </p:txBody>
      </p:sp>
      <p:sp>
        <p:nvSpPr>
          <p:cNvPr id="1048627" name="Rectangle 1048626"/>
          <p:cNvSpPr/>
          <p:nvPr/>
        </p:nvSpPr>
        <p:spPr>
          <a:xfrm rot="10800000" flipV="1">
            <a:off x="1984997" y="5134438"/>
            <a:ext cx="991196" cy="628859"/>
          </a:xfrm>
          <a:prstGeom prst="rect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/>
          <a:p>
            <a:pPr algn="ctr"/>
            <a:r>
              <a:rPr lang="en-US"/>
              <a:t>Train module</a:t>
            </a:r>
            <a:endParaRPr lang="en-IN"/>
          </a:p>
        </p:txBody>
      </p:sp>
      <p:sp>
        <p:nvSpPr>
          <p:cNvPr id="1048628" name="TextBox 1048627"/>
          <p:cNvSpPr txBox="1"/>
          <p:nvPr/>
        </p:nvSpPr>
        <p:spPr>
          <a:xfrm>
            <a:off x="8245044" y="1190196"/>
            <a:ext cx="1309354" cy="2692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Test module</a:t>
            </a:r>
            <a:endParaRPr lang="en-IN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Google Shape;172;p9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</p:txBody>
      </p:sp>
      <p:sp>
        <p:nvSpPr>
          <p:cNvPr id="1048608" name="Google Shape;173;p9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9" name="Google Shape;174;p9"/>
          <p:cNvSpPr/>
          <p:nvPr/>
        </p:nvSpPr>
        <p:spPr>
          <a:xfrm>
            <a:off x="-109475" y="1227720"/>
            <a:ext cx="12191999" cy="5700850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0" name="Google Shape;175;p9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1" name="Google Shape;176;p9"/>
          <p:cNvSpPr txBox="1"/>
          <p:nvPr/>
        </p:nvSpPr>
        <p:spPr>
          <a:xfrm>
            <a:off x="1223175" y="1190195"/>
            <a:ext cx="4998030" cy="288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 Stage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would take, video feed as input, from which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would be extracted.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would be cropped and scaled to fixed ratio.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Colored image would be converted to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grayscale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image</a:t>
            </a:r>
          </a:p>
        </p:txBody>
      </p:sp>
      <p:sp>
        <p:nvSpPr>
          <p:cNvPr id="1048612" name="TextBox 1048611"/>
          <p:cNvSpPr txBox="1"/>
          <p:nvPr/>
        </p:nvSpPr>
        <p:spPr>
          <a:xfrm>
            <a:off x="6096000" y="4078145"/>
            <a:ext cx="5684077" cy="1615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Convolutional Layer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typical neural network each input neuron is connected to the next hidden layer. 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CNN, only a small region of the input layer neurons connect to the neuron hidden layer.</a:t>
            </a:r>
            <a:endParaRPr lang="en-IN" sz="2800">
              <a:solidFill>
                <a:srgbClr val="000000"/>
              </a:solidFill>
            </a:endParaRPr>
          </a:p>
        </p:txBody>
      </p:sp>
      <p:sp>
        <p:nvSpPr>
          <p:cNvPr id="1048826" name="Google Shape;187;p10"/>
          <p:cNvSpPr/>
          <p:nvPr/>
        </p:nvSpPr>
        <p:spPr>
          <a:xfrm>
            <a:off x="2288701" y="5349363"/>
            <a:ext cx="1527300" cy="10815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Model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(CNN Algorithm)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27" name="Google Shape;186;p10"/>
          <p:cNvSpPr/>
          <p:nvPr/>
        </p:nvSpPr>
        <p:spPr>
          <a:xfrm>
            <a:off x="125029" y="5426614"/>
            <a:ext cx="1693248" cy="10815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Collection Of Data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28" name="Google Shape;188;p10"/>
          <p:cNvSpPr/>
          <p:nvPr/>
        </p:nvSpPr>
        <p:spPr>
          <a:xfrm>
            <a:off x="4812195" y="5349363"/>
            <a:ext cx="1668600" cy="10182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Time Application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29" name="Google Shape;192;p10"/>
          <p:cNvSpPr/>
          <p:nvPr/>
        </p:nvSpPr>
        <p:spPr>
          <a:xfrm>
            <a:off x="3549533" y="4402764"/>
            <a:ext cx="1734000" cy="3117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 with frontend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30" name="Google Shape;191;p10"/>
          <p:cNvSpPr/>
          <p:nvPr/>
        </p:nvSpPr>
        <p:spPr>
          <a:xfrm>
            <a:off x="1111477" y="4402763"/>
            <a:ext cx="1413600" cy="3117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 Algorithm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5730" name="Google Shape;189;p10"/>
          <p:cNvCxnSpPr>
            <a:cxnSpLocks/>
          </p:cNvCxnSpPr>
          <p:nvPr/>
        </p:nvCxnSpPr>
        <p:spPr>
          <a:xfrm rot="-5400000" flipH="1" flipV="1">
            <a:off x="1988050" y="4110363"/>
            <a:ext cx="36160" cy="2893456"/>
          </a:xfrm>
          <a:prstGeom prst="curvedConnector3">
            <a:avLst>
              <a:gd name="adj1" fmla="val -1243392"/>
            </a:avLst>
          </a:prstGeom>
          <a:noFill/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45731" name="Google Shape;189;p10"/>
          <p:cNvCxnSpPr>
            <a:cxnSpLocks/>
          </p:cNvCxnSpPr>
          <p:nvPr/>
        </p:nvCxnSpPr>
        <p:spPr>
          <a:xfrm rot="16200000" flipH="1" flipV="1">
            <a:off x="4201942" y="3936827"/>
            <a:ext cx="32019" cy="2857087"/>
          </a:xfrm>
          <a:prstGeom prst="curvedConnector3">
            <a:avLst>
              <a:gd name="adj1" fmla="val -1243392"/>
            </a:avLst>
          </a:prstGeom>
          <a:noFill/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8831" name="Google Shape;193;p10"/>
          <p:cNvSpPr/>
          <p:nvPr/>
        </p:nvSpPr>
        <p:spPr>
          <a:xfrm rot="4931228">
            <a:off x="4164872" y="4864580"/>
            <a:ext cx="106158" cy="170986"/>
          </a:xfrm>
          <a:prstGeom prst="triangle">
            <a:avLst>
              <a:gd name="adj" fmla="val 50000"/>
            </a:avLst>
          </a:prstGeom>
          <a:solidFill>
            <a:srgbClr val="CFE2F3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32" name="Google Shape;193;p10"/>
          <p:cNvSpPr/>
          <p:nvPr/>
        </p:nvSpPr>
        <p:spPr>
          <a:xfrm rot="4931228">
            <a:off x="1857112" y="5017796"/>
            <a:ext cx="106158" cy="170986"/>
          </a:xfrm>
          <a:prstGeom prst="triangle">
            <a:avLst>
              <a:gd name="adj" fmla="val 50000"/>
            </a:avLst>
          </a:prstGeom>
          <a:solidFill>
            <a:srgbClr val="CFE2F3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" descr="Chart&#10;&#10;Description automatically generated">
            <a:extLst>
              <a:ext uri="{FF2B5EF4-FFF2-40B4-BE49-F238E27FC236}">
                <a16:creationId xmlns:a16="http://schemas.microsoft.com/office/drawing/2014/main" id="{00B5A549-9A4B-4A67-23CE-F4BC16262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426" y="1364428"/>
            <a:ext cx="4980971" cy="2701598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209;p12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… Methodology</a:t>
            </a:r>
          </a:p>
        </p:txBody>
      </p:sp>
      <p:sp>
        <p:nvSpPr>
          <p:cNvPr id="1048601" name="Google Shape;210;p12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2" name="Google Shape;211;p12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3" name="Google Shape;212;p12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4" name="Google Shape;213;p12"/>
          <p:cNvSpPr txBox="1"/>
          <p:nvPr/>
        </p:nvSpPr>
        <p:spPr>
          <a:xfrm>
            <a:off x="1153326" y="1564451"/>
            <a:ext cx="4611878" cy="297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Fully-Connected layer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Connected Layers form the last few layers in the network. 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input to the fully connected layer is the output from the final Pooling or Convolutional Layer, which is flattened and then fed into the fully connected layer.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833" name="TextBox 1048832"/>
          <p:cNvSpPr txBox="1"/>
          <p:nvPr/>
        </p:nvSpPr>
        <p:spPr>
          <a:xfrm>
            <a:off x="7514193" y="1564451"/>
            <a:ext cx="4000000" cy="2885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Pooling Layer</a:t>
            </a:r>
            <a:endParaRPr sz="2800"/>
          </a:p>
          <a:p>
            <a:pPr marL="457200" marR="0" lvl="0" indent="-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pooling layer is used to reduce the dimensionality of the feature map.</a:t>
            </a:r>
            <a:endParaRPr sz="2800"/>
          </a:p>
          <a:p>
            <a:pPr marL="457200" marR="0" lvl="0" indent="-4572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will be multiple activation &amp; pooling layers inside the hidden layer of the CNN.</a:t>
            </a:r>
            <a:endParaRPr lang="en-IN" sz="2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Google Shape;218;p13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… Methodology</a:t>
            </a:r>
          </a:p>
        </p:txBody>
      </p:sp>
      <p:sp>
        <p:nvSpPr>
          <p:cNvPr id="1048632" name="Google Shape;219;p13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3" name="Google Shape;220;p13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4" name="Google Shape;221;p13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5" name="Google Shape;222;p13"/>
          <p:cNvSpPr txBox="1"/>
          <p:nvPr/>
        </p:nvSpPr>
        <p:spPr>
          <a:xfrm>
            <a:off x="1153326" y="1564451"/>
            <a:ext cx="10712986" cy="2545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Stage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previous steps, a predicted text would be given as output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would convert the text-to-voice using the reliable python voice kit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 would be played after conversion</a:t>
            </a: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Google Shape;227;p14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Data Flow Diagram</a:t>
            </a:r>
          </a:p>
        </p:txBody>
      </p:sp>
      <p:sp>
        <p:nvSpPr>
          <p:cNvPr id="1048703" name="Google Shape;228;p14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4" name="Google Shape;229;p14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5" name="Google Shape;230;p14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6" name="Google Shape;231;p14"/>
          <p:cNvSpPr txBox="1"/>
          <p:nvPr/>
        </p:nvSpPr>
        <p:spPr>
          <a:xfrm>
            <a:off x="1153326" y="1564451"/>
            <a:ext cx="10712986" cy="7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DFD0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62" name="Google Shape;232;p14" descr="D:\shital l\Grace\All data\Diagram Sample (1)\Diagram Sample\DFD 0.png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492610" y="3607379"/>
            <a:ext cx="7206779" cy="83343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Google Shape;237;p15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… Data Flow Diagram</a:t>
            </a:r>
          </a:p>
        </p:txBody>
      </p:sp>
      <p:sp>
        <p:nvSpPr>
          <p:cNvPr id="1048710" name="Google Shape;238;p15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1" name="Google Shape;239;p15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2" name="Google Shape;240;p15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3" name="Google Shape;241;p15"/>
          <p:cNvSpPr txBox="1"/>
          <p:nvPr/>
        </p:nvSpPr>
        <p:spPr>
          <a:xfrm>
            <a:off x="1153326" y="1564451"/>
            <a:ext cx="10712986" cy="7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DFD1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63" name="Google Shape;242;p15" descr="D:\shital l\Grace\21CG170-E Sign Language\diagram\ESdfd1.drawio.png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176079" y="2849801"/>
            <a:ext cx="7839842" cy="3222609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Google Shape;247;p16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… Data Flow Diagram</a:t>
            </a:r>
          </a:p>
        </p:txBody>
      </p:sp>
      <p:sp>
        <p:nvSpPr>
          <p:cNvPr id="1048717" name="Google Shape;248;p16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8" name="Google Shape;249;p16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9" name="Google Shape;250;p16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20" name="Google Shape;251;p16"/>
          <p:cNvSpPr txBox="1"/>
          <p:nvPr/>
        </p:nvSpPr>
        <p:spPr>
          <a:xfrm>
            <a:off x="1153326" y="1564451"/>
            <a:ext cx="10712986" cy="7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DFD2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64" name="Google Shape;252;p16" descr="D:\shital l\Grace\21CG170-E Sign Language\diagram\ESdfd2.drawio.png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3187859" y="1855676"/>
            <a:ext cx="8549651" cy="459248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med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Google Shape;257;p17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UML Diagram</a:t>
            </a:r>
          </a:p>
        </p:txBody>
      </p:sp>
      <p:sp>
        <p:nvSpPr>
          <p:cNvPr id="1048724" name="Google Shape;258;p17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25" name="Google Shape;259;p17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26" name="Google Shape;260;p17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27" name="Google Shape;261;p17"/>
          <p:cNvSpPr txBox="1"/>
          <p:nvPr/>
        </p:nvSpPr>
        <p:spPr>
          <a:xfrm>
            <a:off x="1153326" y="1564451"/>
            <a:ext cx="10712986" cy="7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65" name="Google Shape;262;p17" descr="D:\shital l\Grace\21CG170-E Sign Language\diagram\ESclass.drawio.png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3117287" y="2146990"/>
            <a:ext cx="8603806" cy="4134449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med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Google Shape;267;p18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… UML Diagram</a:t>
            </a:r>
          </a:p>
        </p:txBody>
      </p:sp>
      <p:sp>
        <p:nvSpPr>
          <p:cNvPr id="1048731" name="Google Shape;268;p18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2" name="Google Shape;269;p18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3" name="Google Shape;270;p18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4" name="Google Shape;271;p18"/>
          <p:cNvSpPr txBox="1"/>
          <p:nvPr/>
        </p:nvSpPr>
        <p:spPr>
          <a:xfrm>
            <a:off x="1153326" y="1564451"/>
            <a:ext cx="10712986" cy="7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66" name="Google Shape;272;p18" descr="D:\shital l\Grace\21CG170-E Sign Language\diagram\ESactivity.drawio.png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6923312" y="140742"/>
            <a:ext cx="2171527" cy="657651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med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Google Shape;277;p19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… UML Diagram</a:t>
            </a:r>
          </a:p>
        </p:txBody>
      </p:sp>
      <p:sp>
        <p:nvSpPr>
          <p:cNvPr id="1048738" name="Google Shape;278;p19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9" name="Google Shape;279;p19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0" name="Google Shape;280;p19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1" name="Google Shape;281;p19"/>
          <p:cNvSpPr txBox="1"/>
          <p:nvPr/>
        </p:nvSpPr>
        <p:spPr>
          <a:xfrm>
            <a:off x="1153326" y="1564451"/>
            <a:ext cx="10712986" cy="7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67" name="Google Shape;282;p19" descr="D:\shital l\Grace\21CG170-E Sign Language\diagram\ESusecase.drawio.png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4866967" y="1421219"/>
            <a:ext cx="6534271" cy="512940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med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Google Shape;287;p20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… UML Diagram</a:t>
            </a:r>
          </a:p>
        </p:txBody>
      </p:sp>
      <p:sp>
        <p:nvSpPr>
          <p:cNvPr id="1048745" name="Google Shape;288;p20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6" name="Google Shape;289;p20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7" name="Google Shape;290;p20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8" name="Google Shape;291;p20"/>
          <p:cNvSpPr txBox="1"/>
          <p:nvPr/>
        </p:nvSpPr>
        <p:spPr>
          <a:xfrm>
            <a:off x="1153326" y="1564451"/>
            <a:ext cx="10712986" cy="7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68" name="Google Shape;292;p20" descr="D:\shital l\Grace\21CG170-E Sign Language\diagram\Essequence.drawio.png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6351639" y="904566"/>
            <a:ext cx="4948937" cy="5638929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med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297;p21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b="1" dirty="0"/>
              <a:t>Python Function Used</a:t>
            </a:r>
          </a:p>
        </p:txBody>
      </p:sp>
      <p:sp>
        <p:nvSpPr>
          <p:cNvPr id="1048752" name="Google Shape;298;p21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3" name="Google Shape;299;p21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4" name="Google Shape;300;p21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7DB88-BEE3-476D-AB66-74A33045F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4027" y="1668309"/>
            <a:ext cx="10515600" cy="4351338"/>
          </a:xfrm>
        </p:spPr>
        <p:txBody>
          <a:bodyPr/>
          <a:lstStyle/>
          <a:p>
            <a:r>
              <a:rPr lang="en-IN" dirty="0" err="1"/>
              <a:t>Tensorflow</a:t>
            </a:r>
            <a:endParaRPr lang="en-IN" dirty="0"/>
          </a:p>
          <a:p>
            <a:r>
              <a:rPr lang="en-IN" dirty="0" err="1"/>
              <a:t>Keras</a:t>
            </a:r>
            <a:endParaRPr lang="en-IN" dirty="0"/>
          </a:p>
          <a:p>
            <a:r>
              <a:rPr lang="en-IN" dirty="0" err="1"/>
              <a:t>Numpy</a:t>
            </a:r>
            <a:endParaRPr lang="en-IN" dirty="0"/>
          </a:p>
          <a:p>
            <a:r>
              <a:rPr lang="en-IN" dirty="0"/>
              <a:t>Matplotlib</a:t>
            </a:r>
          </a:p>
        </p:txBody>
      </p:sp>
    </p:spTree>
    <p:extLst>
      <p:ext uri="{BB962C8B-B14F-4D97-AF65-F5344CB8AC3E}">
        <p14:creationId xmlns:p14="http://schemas.microsoft.com/office/powerpoint/2010/main" val="3922119911"/>
      </p:ext>
    </p:extLst>
  </p:cSld>
  <p:clrMapOvr>
    <a:masterClrMapping/>
  </p:clrMapOvr>
  <p:transition spd="med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297;p21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b="1" dirty="0"/>
              <a:t>Code General Info</a:t>
            </a:r>
          </a:p>
        </p:txBody>
      </p:sp>
      <p:sp>
        <p:nvSpPr>
          <p:cNvPr id="1048752" name="Google Shape;298;p21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3" name="Google Shape;299;p21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4" name="Google Shape;300;p21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7DB88-BEE3-476D-AB66-74A33045F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4027" y="1668309"/>
            <a:ext cx="10515600" cy="4351338"/>
          </a:xfrm>
        </p:spPr>
        <p:txBody>
          <a:bodyPr/>
          <a:lstStyle/>
          <a:p>
            <a:pPr lvl="1"/>
            <a:r>
              <a:rPr lang="en-IN" b="1" dirty="0"/>
              <a:t>For Training</a:t>
            </a:r>
          </a:p>
          <a:p>
            <a:pPr marL="571500" lvl="1" indent="0">
              <a:buNone/>
            </a:pPr>
            <a:r>
              <a:rPr lang="en-IN" dirty="0"/>
              <a:t>		2002 Image</a:t>
            </a:r>
          </a:p>
          <a:p>
            <a:pPr lvl="1"/>
            <a:r>
              <a:rPr lang="en-IN" b="1" dirty="0"/>
              <a:t>For Testing</a:t>
            </a:r>
          </a:p>
          <a:p>
            <a:pPr marL="1485900" lvl="3" indent="0">
              <a:buNone/>
            </a:pPr>
            <a:r>
              <a:rPr lang="en-IN" sz="2400" dirty="0"/>
              <a:t>	44 Images</a:t>
            </a:r>
          </a:p>
          <a:p>
            <a:pPr lvl="1"/>
            <a:r>
              <a:rPr lang="en-IN" b="1" dirty="0"/>
              <a:t>Batch Size</a:t>
            </a:r>
          </a:p>
          <a:p>
            <a:pPr marL="1485900" lvl="3" indent="0">
              <a:buNone/>
            </a:pPr>
            <a:r>
              <a:rPr lang="en-IN" sz="2400" dirty="0"/>
              <a:t>	10</a:t>
            </a:r>
          </a:p>
          <a:p>
            <a:pPr lvl="1"/>
            <a:r>
              <a:rPr lang="en-IN" b="1" dirty="0"/>
              <a:t>Epoch</a:t>
            </a:r>
          </a:p>
          <a:p>
            <a:pPr marL="1485900" lvl="3" indent="0">
              <a:buNone/>
            </a:pPr>
            <a:r>
              <a:rPr lang="en-IN" sz="2400" dirty="0"/>
              <a:t>	10</a:t>
            </a:r>
          </a:p>
          <a:p>
            <a:pPr marL="1485900" lvl="3" indent="0">
              <a:buNone/>
            </a:pPr>
            <a:endParaRPr lang="en-IN" sz="2400" dirty="0"/>
          </a:p>
          <a:p>
            <a:pPr marL="1485900" lvl="3" indent="0">
              <a:buNone/>
            </a:pPr>
            <a:endParaRPr lang="en-IN" sz="2400" dirty="0"/>
          </a:p>
          <a:p>
            <a:pPr marL="1485900" lvl="3" indent="0">
              <a:buNone/>
            </a:pPr>
            <a:endParaRPr lang="en-IN" sz="2400" dirty="0"/>
          </a:p>
          <a:p>
            <a:pPr marL="1485900" lvl="3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87841977"/>
      </p:ext>
    </p:extLst>
  </p:cSld>
  <p:clrMapOvr>
    <a:masterClrMapping/>
  </p:clrMapOvr>
  <p:transition spd="med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297;p21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b="1" dirty="0"/>
              <a:t>Trained Sign</a:t>
            </a:r>
          </a:p>
        </p:txBody>
      </p:sp>
      <p:sp>
        <p:nvSpPr>
          <p:cNvPr id="1048752" name="Google Shape;298;p21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3" name="Google Shape;299;p21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4" name="Google Shape;300;p21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E802F-B4AA-4135-9703-6AD5F0151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231703"/>
          </a:xfrm>
        </p:spPr>
        <p:txBody>
          <a:bodyPr numCol="2"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800" dirty="0"/>
              <a:t>I am good, how you?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Good! See you later.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Good! See you later.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I am fine, all okay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I am good, how you?  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Hello! How are you?  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I am good, how you? 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 I am fine, all okay  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I am fine, all okay  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Hello! How are you?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81F717-3A30-4D5D-9D2D-9498D055B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36" y="4224968"/>
            <a:ext cx="10515600" cy="357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09851"/>
      </p:ext>
    </p:extLst>
  </p:cSld>
  <p:clrMapOvr>
    <a:masterClrMapping/>
  </p:clrMapOvr>
  <p:transition spd="med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297;p21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b="1" dirty="0"/>
              <a:t>Code Output</a:t>
            </a:r>
          </a:p>
        </p:txBody>
      </p:sp>
      <p:sp>
        <p:nvSpPr>
          <p:cNvPr id="1048752" name="Google Shape;298;p21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3" name="Google Shape;299;p21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4" name="Google Shape;300;p21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E802F-B4AA-4135-9703-6AD5F0151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AB5310-1226-4ECD-89C2-E98162E5A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068" y="1992774"/>
            <a:ext cx="4634064" cy="30666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197D84-8ABD-463A-9610-E799E6AAD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84891"/>
            <a:ext cx="5088971" cy="306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09778"/>
      </p:ext>
    </p:extLst>
  </p:cSld>
  <p:clrMapOvr>
    <a:masterClrMapping/>
  </p:clrMapOvr>
  <p:transition spd="med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297;p21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b="1" dirty="0"/>
              <a:t>Code Output…</a:t>
            </a:r>
          </a:p>
        </p:txBody>
      </p:sp>
      <p:sp>
        <p:nvSpPr>
          <p:cNvPr id="1048752" name="Google Shape;298;p21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3" name="Google Shape;299;p21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4" name="Google Shape;300;p21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E802F-B4AA-4135-9703-6AD5F0151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AB5310-1226-4ECD-89C2-E98162E5A4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0068" y="2129837"/>
            <a:ext cx="4634064" cy="2792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197D84-8ABD-463A-9610-E799E6AADE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3004555"/>
            <a:ext cx="5010956" cy="306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00818"/>
      </p:ext>
    </p:extLst>
  </p:cSld>
  <p:clrMapOvr>
    <a:masterClrMapping/>
  </p:clrMapOvr>
  <p:transition spd="med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297;p21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b="1"/>
              <a:t>Minimum Hardware &amp; Software Requirement</a:t>
            </a:r>
          </a:p>
        </p:txBody>
      </p:sp>
      <p:sp>
        <p:nvSpPr>
          <p:cNvPr id="1048752" name="Google Shape;298;p21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3" name="Google Shape;299;p21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4" name="Google Shape;300;p21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5" name="Google Shape;301;p21"/>
          <p:cNvSpPr txBox="1">
            <a:spLocks noGrp="1"/>
          </p:cNvSpPr>
          <p:nvPr>
            <p:ph type="body" idx="1"/>
          </p:nvPr>
        </p:nvSpPr>
        <p:spPr>
          <a:xfrm>
            <a:off x="1309234" y="1317523"/>
            <a:ext cx="10636960" cy="532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Software Requirements:</a:t>
            </a:r>
            <a:endParaRPr sz="2400" b="1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Operating system 	:  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64 bit Windows 10</a:t>
            </a:r>
            <a:endParaRPr sz="2400" b="1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Coding Language	:  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 sz="2400" b="1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Design constraints	:  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Spyder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Hardware Requirements:</a:t>
            </a:r>
            <a:endParaRPr sz="2400" b="1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System Processors	: 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Intel i5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Speed		: 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2.4 GHz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Hard Disk        	: 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150 GB</a:t>
            </a:r>
            <a:endParaRPr sz="2400" b="1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RAM 		: 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8 GB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Graphic Card	: 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2 GB</a:t>
            </a:r>
            <a:endParaRPr sz="2400" b="1"/>
          </a:p>
          <a:p>
            <a:pPr marL="228600" lvl="0" indent="-1587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050"/>
          </a:p>
        </p:txBody>
      </p:sp>
    </p:spTree>
  </p:cSld>
  <p:clrMapOvr>
    <a:masterClrMapping/>
  </p:clrMapOvr>
  <p:transition spd="med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Google Shape;306;p22"/>
          <p:cNvSpPr txBox="1">
            <a:spLocks noGrp="1"/>
          </p:cNvSpPr>
          <p:nvPr>
            <p:ph type="title"/>
          </p:nvPr>
        </p:nvSpPr>
        <p:spPr>
          <a:xfrm>
            <a:off x="1764099" y="-3732"/>
            <a:ext cx="10318425" cy="1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Conclusion</a:t>
            </a:r>
          </a:p>
        </p:txBody>
      </p:sp>
      <p:sp>
        <p:nvSpPr>
          <p:cNvPr id="1048759" name="Google Shape;307;p22"/>
          <p:cNvSpPr/>
          <p:nvPr/>
        </p:nvSpPr>
        <p:spPr>
          <a:xfrm>
            <a:off x="1" y="0"/>
            <a:ext cx="1764099" cy="1022556"/>
          </a:xfrm>
          <a:custGeom>
            <a:avLst/>
            <a:gdLst/>
            <a:ahLst/>
            <a:cxnLst/>
            <a:rect l="l" t="t" r="r" b="b"/>
            <a:pathLst>
              <a:path w="1764099" h="1558212" extrusionOk="0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60" name="Google Shape;308;p22"/>
          <p:cNvSpPr/>
          <p:nvPr/>
        </p:nvSpPr>
        <p:spPr>
          <a:xfrm>
            <a:off x="1" y="1190196"/>
            <a:ext cx="12191999" cy="5667804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61" name="Google Shape;309;p22"/>
          <p:cNvSpPr/>
          <p:nvPr/>
        </p:nvSpPr>
        <p:spPr>
          <a:xfrm>
            <a:off x="0" y="1190196"/>
            <a:ext cx="971654" cy="2096979"/>
          </a:xfrm>
          <a:custGeom>
            <a:avLst/>
            <a:gdLst/>
            <a:ahLst/>
            <a:cxnLst/>
            <a:rect l="l" t="t" r="r" b="b"/>
            <a:pathLst>
              <a:path w="971654" h="2096979" extrusionOk="0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62" name="Google Shape;310;p22"/>
          <p:cNvSpPr txBox="1"/>
          <p:nvPr/>
        </p:nvSpPr>
        <p:spPr>
          <a:xfrm>
            <a:off x="1386348" y="1523999"/>
            <a:ext cx="10481187" cy="5132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neural network  based  method  for  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 recognizing  the  finger spelling  in  Indian  sign  language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 developed in this project. 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signs  are  identified  by  the  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 extracted  from  the  hand  shapes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method is implemented completely by 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utilizing digital image  processing techniques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user 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have to wear any  special hardware device or gloves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get the features of the hand shape. 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 proposed  method  has  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 computational  complexity  and  very  high  accuracy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 compared to the existing methods.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Google Shape;324;p24"/>
          <p:cNvSpPr/>
          <p:nvPr/>
        </p:nvSpPr>
        <p:spPr>
          <a:xfrm>
            <a:off x="-1327355" y="0"/>
            <a:ext cx="13519354" cy="6858000"/>
          </a:xfrm>
          <a:custGeom>
            <a:avLst/>
            <a:gdLst/>
            <a:ahLst/>
            <a:cxnLst/>
            <a:rect l="l" t="t" r="r" b="b"/>
            <a:pathLst>
              <a:path w="12191999" h="5166360" extrusionOk="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73" name="Google Shape;325;p24"/>
          <p:cNvSpPr txBox="1">
            <a:spLocks noGrp="1"/>
          </p:cNvSpPr>
          <p:nvPr>
            <p:ph type="title"/>
          </p:nvPr>
        </p:nvSpPr>
        <p:spPr>
          <a:xfrm>
            <a:off x="-1331088" y="34850"/>
            <a:ext cx="13600252" cy="6861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Thank You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</Words>
  <Application>Microsoft Office PowerPoint</Application>
  <PresentationFormat>Widescreen</PresentationFormat>
  <Paragraphs>116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G. H. Raisoni Institute of Engineering and Technology, Wagholi, Pune Department of Computer</vt:lpstr>
      <vt:lpstr>INTRODUCTION</vt:lpstr>
      <vt:lpstr>PROBLEM STATEMENT</vt:lpstr>
      <vt:lpstr>System Architecture</vt:lpstr>
      <vt:lpstr>Methodology</vt:lpstr>
      <vt:lpstr>… Methodology</vt:lpstr>
      <vt:lpstr>… Methodology</vt:lpstr>
      <vt:lpstr>Data Flow Diagram</vt:lpstr>
      <vt:lpstr>… Data Flow Diagram</vt:lpstr>
      <vt:lpstr>… Data Flow Diagram</vt:lpstr>
      <vt:lpstr>UML Diagram</vt:lpstr>
      <vt:lpstr>… UML Diagram</vt:lpstr>
      <vt:lpstr>… UML Diagram</vt:lpstr>
      <vt:lpstr>… UML Diagram</vt:lpstr>
      <vt:lpstr>Python Function Used</vt:lpstr>
      <vt:lpstr>Code General Info</vt:lpstr>
      <vt:lpstr>Trained Sign</vt:lpstr>
      <vt:lpstr>Code Output</vt:lpstr>
      <vt:lpstr>Code Output…</vt:lpstr>
      <vt:lpstr>Minimum Hardware &amp; Software Requirement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G. H. Raisoni Institute of Engineering and Technology, Wagholi, Pune Department of Computer</dc:title>
  <dc:creator>Redmi Note 4</dc:creator>
  <cp:lastModifiedBy>Sandeep Malviya</cp:lastModifiedBy>
  <cp:revision>16</cp:revision>
  <dcterms:created xsi:type="dcterms:W3CDTF">2022-01-04T21:58:40Z</dcterms:created>
  <dcterms:modified xsi:type="dcterms:W3CDTF">2022-05-16T06:53:53Z</dcterms:modified>
</cp:coreProperties>
</file>